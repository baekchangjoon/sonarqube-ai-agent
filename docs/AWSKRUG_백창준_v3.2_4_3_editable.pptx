
<file path=[Content_Types].xml><?xml version="1.0" encoding="utf-8"?>
<Types xmlns="http://schemas.openxmlformats.org/package/2006/content-types">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72" r:id="rId2"/>
    <p:sldId id="257" r:id="rId3"/>
    <p:sldId id="258" r:id="rId4"/>
    <p:sldId id="259" r:id="rId5"/>
    <p:sldId id="273" r:id="rId6"/>
    <p:sldId id="274" r:id="rId7"/>
    <p:sldId id="262" r:id="rId8"/>
    <p:sldId id="263" r:id="rId9"/>
    <p:sldId id="275" r:id="rId10"/>
    <p:sldId id="265" r:id="rId11"/>
    <p:sldId id="276" r:id="rId12"/>
    <p:sldId id="267" r:id="rId13"/>
    <p:sldId id="268" r:id="rId14"/>
    <p:sldId id="269" r:id="rId15"/>
    <p:sldId id="270" r:id="rId16"/>
    <p:sldId id="277" r:id="rId17"/>
  </p:sldIdLst>
  <p:sldSz cx="13716000" cy="10287000"/>
  <p:notesSz cx="10287000" cy="13716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592"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39224473"/>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LG유플러스 CTO 품질PMO팀에서 QE, 품질 엔지니어로 일하고 있는 백창준입니다. 오늘은 'AWS Bedrock을 테스트 루프에 끼워 넣은 경험'을 공유하려고 합니다.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방금 앞 발표에서 가드레일 이야기를 들으셨죠. AFT로 계정을 찍어내고, 가드레일로 막고. (잠깐) 가드레일이라는 게 결국 코드로, 결정적으로 막는 것의 완벽한 예입니다. 규칙을 정해두면 그대로 막히죠. 그런데 오늘 제 이야기는 그 반대쪽입니다. 가드레일로는 못 막는, 판단이 필요한 영역엔 뭘 넣어야 할까?</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질문 하나. (화면 가리키며) 이 화면, SonarQube가 경고를 쏟아낸 겁니다. 이 중에 진짜 고쳐야 할 결함은 몇 개일까요? (잠깐) 이거 분류하라고 하면 다 도망가겠죠? (가볍게) 오늘 이 문제를 어떻게 풀었는지가 핵심입니다. 그런데 그 전에, 제가 어떤 사람인지 30초만.</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저는 자동화의 '벽'을 뚫는 게 일이었습니다. 테스트 자동화하다 보면 별별 벽을 다 만나요. SMS 인증, OTP, 패스키 — 자동화 테스트를 딱 가로막죠. 저는 이걸 우회하거나 돌파했습니다. 자체 브라우저는 상용 자동화 툴이 너무 비싸서, 직접 자동화 도구를 만들어 부쉈고요. (빠르게, 자랑조 금지) 자세한 건 블로그에 정리해뒀습니다. 여기서 중요한 건 이겁니다. 이 벽들은 전부 '방법은 알았고, 구현이 어려웠을 뿐'입니다. 그래서 코드로 뚫렸어요.</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(톤 전환, 천천히) 그런데 (잠깐) 코드로 아무리 밀어도 방법을 적을 수가 없는 벽이 하나 있었습니다. '이 경고가 진짜 결함이냐, 헛것이냐.' 이건 코드로 규칙을 못 적습니다. 사람이 눈으로 봐야 했어요. 그래서 제 자동화는 딱 거기서 멈췄습니다.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그래서 제 머릿속 지도부터 보여드리겠습니다. 자동화의 벽은 두 종류, 그리고 경계가 하나 있습니다. 첫째, 구현의 벽. 방법은 아는데 구현이 막힌 것. 인증, 브라우저. 이건 엔지니어링, 코드로 뚫습니다. 결정적이죠. 둘째, 판단의 벽. 여기가 중요한데요. 이건 일이 불가능해서 멈춘 게 아닙니다. 사람 손이 모자라서 멈춘 겁니다. 오탐 판별, 누가 못 합니까? 사람은 할 수 있어요. 단지 수천 개를 다 보다 익사할 뿐이죠. 그러니 LLM이 마법을 부리는 게 아니라, 모자란 사람 손을 채워주는 겁니다. 사람을 풀어주면, 대부분 풀려요. 그리고 셋째, 경계. (천천히) 그래서 질문은 이겁니다. 이게 '사람 손이 모자란 벽'이냐, '사람도 불가능한 벽'이냐. 손이 모자란 거면 LLM이 풀고, 불가능이면 — 사람도 못 뚫는 벽은 LLM도 못 뚫습니다.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이걸 한 줄로 줄이면 — 정량적인 건 코드로, 정성적인 건 LLM으로. (매트릭스 가리키며, 빠르게) 결정적이어야 할 테스트와 비결정적 LLM은 분리하고, 판단·정성은 LLM, 고정 동작·정량은 코드. 쉬우면 코드, 난해하면 LLM. 그리고 — 사람 손이 모자랄 뿐인지, 사람도 불가능한지부터 분류하라. 오늘은 이 중 '판단의 벽'을 LLM이 실제로 어떻게 뚫는지, 딱 하나만 깊게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다시 그 경고 폭탄으로 돌아옵니다. 자, 누군가는 이렇게 말합니다. '그냥 룰로 거르면 되잖아?' 맞는 말 같죠. test 경로는 제외하고, 엔트로피 임계값 걸고, 키워드 매칭하고. 저도 그렇게 시작했습니다. 그런데 두 개의 사례에서 박살이 났어요.</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(핵심, 천천히) 같은 규칙입니다. 하드코딩 시크릿 탐지, S6418. 그런데 정답이 정반대예요. 왼쪽. (코드 가리키며) AKIAIOSFODNN7EXAMPLE. 이거 AWS가 공식 문서에 공개한 예제 키입니다. 진짜 시크릿이 아니에요. 그런데 (강조) 구조도, 엔트로피도 진짜 키와 완전히 똑같습니다. 어떤 룰로도 이걸 진짜 키와 구분 못 해요. 그래서 룰은 헛경보를 냅니다. 오른쪽. sk_live_로 시작하죠. 이건 운영 키입니다. 진짜 유출이에요. 그런데 이게 test 경로에 들어가 있습니다. 아까 'test 경로 제외' 룰 기억나시죠? 그 룰이 이 진짜 유출을 그냥 놓칩니다. (잠깐, 핵심) 왼쪽을 막으려고 룰을 비틀면 오른쪽이 깨지고, 오른쪽을 잡으려면 왼쪽이 터집니다. 같은 규칙이 양방향으로 틀려요. 이건 룰을 더 정교하게 만든다고 해결되는 문제가 아닙니다. 차원이 달라요. 둘을 가르는 건 오직 의도와 맥락 — 그건 판단의 영역입니다.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 사례까지 넣고 돌려봤습니다. NPE 경고인데, 바로 윗줄에 커스텀 검증기가 있어서 사실 안전한 케이스. 룰은 이것도 못 봅니다. (데모 실행 또는 결과 띄우며) 결과는 — 규칙 0개, LLM 3개. (잠깐) LLM은 사람 리뷰어처럼 맥락을 읽고 셋 다 맞혔습니다. 다시 말하면, 이 판단 — 사람은 합니다. 셋 다 사람이 보면 맞혀요. 문제는 사람이 수천 개를 다 못 본다는 거였죠. 사람만 하던 일을, 이제 LLM도 해냅니다. 그리고 — '3건이면 체리피킹 아니냐' 하실 수 있는데, 맞는 질문입니다. 이 3건은 대표 예시고요, 오탐 코퍼스 32건 전체로 돌리면 재현율 94%입니다. 뒤에 비용 슬라이드에서 표로 보여드릴게요.</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어떻게 만들었냐. SonarQube 결함이 나오면, 코드랑 주변 맥락을 프롬프트로 묶어서 Bedrock의 Claude를 Converse API로 호출합니다. 판정만 받아서 CI에 꽂고요. 설계 포인트는 fixer와 judge의 분리입니다. 수정은 파일을 직접 편집해야 하니까 Claude Code 같은 에이전트 CLI가 맡고, 판정은 편집 도구가 필요 없으니까 Bedrock Converse 위에서 별도 모델로 돌립니다. fixer는 Sonnet, judge는 Opus — 이런 식으로 역할별 모델 라우팅이 되는 거죠. 오케스트레이터 자체는 LLM-agnostic이라 claude, gemini, kiro CLI 어느 것이든 끼울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그리고 이건 단발이 아니라 루프입니다. 스캔하고, judge가 판정해서 오탐은 걸러내고, fixer가 진짜 결함만 고치고, 다시 스캔해서 이슈가 실제로 닫혔는지 확인합니다. 검증을 통과한 수정만 PR로 전달하고요. 이게 'test loop 안의 LLM'이죠. 여기서 누군가 물으실 겁니다. 'LLM이 오분류해서 진짜 결함을 놓치면?' (잠깐) 맞습니다. LLM도 사람처럼 틀려요. 그래서 저는 LLM을 판정 게이트로 두지 않습니다. 분류기로만 씁니다. 최종 판정은 결정적 코드가 하고, 응답이 애매하면 보수적으로 '실결함'으로 폴백합니다. 놓치는 것보다 헛경보가 안전하니까요. 한 가지 더 — 재스캔이 검증하는 건 fixer의 수정이지, judge의 '오탐' 판정 자체가 아닙니다. 그래서 judge는 사람이 라벨링한 기준셋과의 일치율로 따로 캘리브레이션합니다. 이 기준셋 벤치마크는 지금 구축 중이에요. — 아까 셋째 원칙, '사람도 못 뚫는 벽' 이야기가 여기 있습니다. (가볍게, 곁말) 아, 반대로 — LLM을 아예 넣으면 안 되는 데도 있어요. 명세에 '알아서 잘 동작하게'라고만 적힌 티켓, 받아보신 적 있죠? (웃음 유도) 그 '알아서 잘'의 통과 기준은 기획자도 못 정합니다. 정답을 사람도 못 하는 곳에 LLM을 넣으면, 판단하는 게 아니라 그럴듯하게 지어내요. 거긴 그냥 LLM 두지 마세요. (다시 본론으로)</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이게 진짜 'LLM in the loop'입니다. PR이 하나 올라오면, 먼저 두 분석 결과를 참고합니다 — 핫스팟 분석으로 어디가 위험한지, 테스트 임팩트 분석으로 그 변경을 건드리는 테스트가 무엇인지. 이걸 LLM이 받아서 돌릴 테스트 범위를 생성합니다. 고위험 변경을 덮는 최소한의 셋이죠. 그 범위만 실행하고, 결과는 pass냐 fail이냐로 결정적으로 처리합니다. fail이면 범위를 좁혀 다시 돌고, pass면 머지로 갑니다. 매 PR마다 도는 루프예요. 여기서도 원칙은 같습니다 — 범위를 정하는 판단은 LLM이, pass/fail 판정은 코드가. 예전엔 이 테스트 선택을 사람이 감으로 정했는데, 이제 매 PR마다 자동으로 돕니다.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 가지 더 — 지금 만들고 있는 다음 단계입니다. 테스트 케이스와 데이터 생성인데요. 생각해보면 재료는 전부 코드에 있습니다. API 스펙, 소스 경로, DB 스키마 — 도구가 그래프로 캐처합니다. LLM 없이요. 테스트 코드와 픽스처를 템플릿으로 합성하는 것도 코드가 합니다. 역시 LLM 없이, 결정적으로요. 그동안 사람이 했어야 하는 일은 딱 하나 — 이 사실들을 조합해서 '어떤 테스트를 만들지' 정하고, 나온 결과가 충분한지 평가하는 거였습니다. 그 조합과 평가를 LLM 오케스트레이터가 대신합니다. 그리고 그 테스트가 맞는 테스트인지는 LLM이 판단하지 않습니다 — 실제로 컴파일하고, 실행하고, JaCoCo 커버리지를 측정해서 결정적으로 판정합니다. 부족하면 LLM이 다시 조합하고요. 아까 그 원칙 그대로죠 — 판단은 LLM, 판정은 코드. Phase 0 사이클은 이미 통과했습니다.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그리고 비용. 이 청중 분들이 제일 궁금해하실 텐데요. CI 한 번 돌 때 비용이 이 정도고요. 재미있는 건 — 가장 싼 세트가 최선이 아니라는 겁니다. judge가 오탐을 놓치면 그 이슈는 수정 단계로 넘어가서, 멀쩡한 코드를 바꾸고 사람이 리뷰로 걸러야 합니다. 미스 1건의 진짜 비용은 토큰이 아니에요. 그래서 '더 똑똑한 judge가 오히려 전체 비용을 낮춘다'가 이 데이터의 핵심입니다. 전략 차원에서도 같은 결론인데요, judge가 먼저 판정하고, fixer가 진짜 결함만 고치고, judge가 다시 리뷰하는 3패스 triage_review 전략이 재현율·정밀도 모두 최고라서 운영 기본값으로 쓰고 있습니다. 비결정성을 통제하면, LLM은 비용 부담이 아니라 레버가 됩니다. 참고로 지금은 일부러 결함투성이 코퍼스를 만들어서 모델별로 어느 쪽이 오탐을 잘 거르는지 벤치마크를 짜고 있습니다. (한 줄로만)</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정리하겠습니다. (천천히) 결국 아까 그 한 줄이었습니다 — 정량적인 건 코드로, 정성적인 건 LLM으로. 그걸 벽으로 다시 보면, (슬라이드 그대로 읽기) 구현의 벽은 엔지니어링으로, 판단의 벽은 LLM으로. 그리고 사람조차 못 뚫는 벽은 그대로 남습니다. 오늘 딱 하나만 가져가신다면 이겁니다. 집에 가셔서 여러분 파이프라인을 한번 그려보세요. 어디가 판정이고 어디가 판단인지. 그리고 그 판단 영역에만, 시험적으로 LLM을 넣어보세요. 코드랑 자세한 우회 기법은 레포랑 블로그에 공개해뒀습니다. (담백하게) 감사합니다. 질문 받겠습니다.</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https://medium.com/@changjoon-baek"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hyperlink" Target="https://github.com/baekchangjoon"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alphaModFix amt="50000"/>
            <a:extLst>
              <a:ext uri="{96DAC541-7B7A-43D3-8B79-37D633B846F1}">
                <asvg:svgBlip xmlns:asvg="http://schemas.microsoft.com/office/drawing/2016/SVG/main" r:embed="rId3"/>
              </a:ext>
            </a:extLst>
          </a:blip>
          <a:stretch>
            <a:fillRect/>
          </a:stretch>
        </p:blipFill>
        <p:spPr>
          <a:xfrm>
            <a:off x="7524750" y="5715000"/>
            <a:ext cx="5334000" cy="4572000"/>
          </a:xfrm>
          <a:prstGeom prst="rect">
            <a:avLst/>
          </a:prstGeom>
        </p:spPr>
      </p:pic>
      <p:sp>
        <p:nvSpPr>
          <p:cNvPr id="3" name="Text 0"/>
          <p:cNvSpPr/>
          <p:nvPr/>
        </p:nvSpPr>
        <p:spPr>
          <a:xfrm>
            <a:off x="800100" y="2959447"/>
            <a:ext cx="9026530" cy="38100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00" b="1" kern="0" spc="144" dirty="0">
                <a:solidFill>
                  <a:srgbClr val="E07F00"/>
                </a:solidFill>
                <a:latin typeface="Georgia" pitchFamily="34" charset="0"/>
                <a:ea typeface="Georgia" pitchFamily="34" charset="-122"/>
                <a:cs typeface="Georgia" pitchFamily="34" charset="-120"/>
              </a:rPr>
              <a:t>AWSKRUG </a:t>
            </a:r>
            <a:r>
              <a:rPr lang="en-US" sz="1800" b="1" kern="0" spc="144" dirty="0">
                <a:solidFill>
                  <a:srgbClr val="76828F"/>
                </a:solidFill>
                <a:latin typeface="Georgia" pitchFamily="34" charset="0"/>
                <a:ea typeface="Georgia" pitchFamily="34" charset="-122"/>
                <a:cs typeface="Georgia" pitchFamily="34" charset="-120"/>
              </a:rPr>
              <a:t>· </a:t>
            </a:r>
            <a:r>
              <a:rPr lang="en-US" sz="1800" b="1" kern="0" spc="144" dirty="0">
                <a:solidFill>
                  <a:srgbClr val="E07F00"/>
                </a:solidFill>
                <a:latin typeface="Georgia" pitchFamily="34" charset="0"/>
                <a:ea typeface="Georgia" pitchFamily="34" charset="-122"/>
                <a:cs typeface="Georgia" pitchFamily="34" charset="-120"/>
              </a:rPr>
              <a:t>마곡 지역소모임</a:t>
            </a:r>
            <a:endParaRPr lang="en-US" sz="1800" dirty="0"/>
          </a:p>
        </p:txBody>
      </p:sp>
      <p:sp>
        <p:nvSpPr>
          <p:cNvPr id="4" name="Text 1"/>
          <p:cNvSpPr/>
          <p:nvPr/>
        </p:nvSpPr>
        <p:spPr>
          <a:xfrm>
            <a:off x="800100" y="3511897"/>
            <a:ext cx="8452114" cy="1805880"/>
          </a:xfrm>
          <a:prstGeom prst="rect">
            <a:avLst/>
          </a:prstGeom>
          <a:noFill/>
          <a:ln/>
        </p:spPr>
        <p:txBody>
          <a:bodyPr wrap="square" lIns="25400" tIns="25400" rIns="25400" bIns="25400" rtlCol="0" anchor="t">
            <a:normAutofit fontScale="92500" lnSpcReduction="20000"/>
          </a:bodyPr>
          <a:lstStyle/>
          <a:p>
            <a:pPr marL="0" indent="0" algn="l">
              <a:lnSpc>
                <a:spcPct val="116000"/>
              </a:lnSpc>
              <a:buNone/>
            </a:pPr>
            <a:r>
              <a:rPr lang="en-US" sz="6000" b="1" kern="0" spc="-120" dirty="0">
                <a:solidFill>
                  <a:srgbClr val="1A212B"/>
                </a:solidFill>
                <a:latin typeface="Arial" pitchFamily="34" charset="0"/>
                <a:ea typeface="Arial" pitchFamily="34" charset="-122"/>
                <a:cs typeface="Arial" pitchFamily="34" charset="-120"/>
              </a:rPr>
              <a:t>AWS Bedrock을 활용한</a:t>
            </a:r>
            <a:br>
              <a:rPr lang="en-US" sz="6000" b="1" kern="0" spc="-120" dirty="0"/>
            </a:br>
            <a:r>
              <a:rPr lang="en-US" sz="6000" b="1" kern="0" spc="-120" dirty="0">
                <a:solidFill>
                  <a:srgbClr val="E07F00"/>
                </a:solidFill>
                <a:latin typeface="Arial" pitchFamily="34" charset="0"/>
                <a:ea typeface="Arial" pitchFamily="34" charset="-122"/>
                <a:cs typeface="Arial" pitchFamily="34" charset="-120"/>
              </a:rPr>
              <a:t>LLM in the test loop</a:t>
            </a:r>
            <a:endParaRPr lang="en-US" sz="6000" dirty="0"/>
          </a:p>
        </p:txBody>
      </p:sp>
      <p:sp>
        <p:nvSpPr>
          <p:cNvPr id="5" name="Text 2"/>
          <p:cNvSpPr/>
          <p:nvPr/>
        </p:nvSpPr>
        <p:spPr>
          <a:xfrm>
            <a:off x="800100" y="5660678"/>
            <a:ext cx="9026530" cy="56673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2775" dirty="0">
                <a:solidFill>
                  <a:srgbClr val="51606D"/>
                </a:solidFill>
                <a:latin typeface="Arial" pitchFamily="34" charset="0"/>
                <a:ea typeface="Arial" pitchFamily="34" charset="-122"/>
                <a:cs typeface="Arial" pitchFamily="34" charset="-120"/>
              </a:rPr>
              <a:t>테스팅 루프에 LLM을 안전하게 끼우는 법 — 그리고 그 경계</a:t>
            </a:r>
            <a:endParaRPr lang="en-US" sz="2775" dirty="0"/>
          </a:p>
        </p:txBody>
      </p:sp>
      <p:sp>
        <p:nvSpPr>
          <p:cNvPr id="6" name="Shape 3"/>
          <p:cNvSpPr/>
          <p:nvPr/>
        </p:nvSpPr>
        <p:spPr>
          <a:xfrm>
            <a:off x="800100" y="6856065"/>
            <a:ext cx="1246063" cy="547688"/>
          </a:xfrm>
          <a:prstGeom prst="roundRect">
            <a:avLst>
              <a:gd name="adj" fmla="val 17391"/>
            </a:avLst>
          </a:prstGeom>
          <a:solidFill>
            <a:srgbClr val="F6F8FB"/>
          </a:solidFill>
          <a:ln w="9525">
            <a:solidFill>
              <a:srgbClr val="D2D9E1"/>
            </a:solidFill>
            <a:prstDash val="solid"/>
          </a:ln>
        </p:spPr>
        <p:txBody>
          <a:bodyPr/>
          <a:lstStyle/>
          <a:p>
            <a:endParaRPr lang="ko-KR" altLang="en-US"/>
          </a:p>
        </p:txBody>
      </p:sp>
      <p:sp>
        <p:nvSpPr>
          <p:cNvPr id="7" name="Shape 4"/>
          <p:cNvSpPr/>
          <p:nvPr/>
        </p:nvSpPr>
        <p:spPr>
          <a:xfrm>
            <a:off x="1000125" y="7072759"/>
            <a:ext cx="114300" cy="114300"/>
          </a:xfrm>
          <a:prstGeom prst="ellipse">
            <a:avLst/>
          </a:prstGeom>
          <a:solidFill>
            <a:srgbClr val="E07F00"/>
          </a:solidFill>
          <a:ln/>
        </p:spPr>
        <p:txBody>
          <a:bodyPr/>
          <a:lstStyle/>
          <a:p>
            <a:endParaRPr lang="ko-KR" altLang="en-US"/>
          </a:p>
        </p:txBody>
      </p:sp>
      <p:sp>
        <p:nvSpPr>
          <p:cNvPr id="8" name="Text 5"/>
          <p:cNvSpPr/>
          <p:nvPr/>
        </p:nvSpPr>
        <p:spPr>
          <a:xfrm>
            <a:off x="1228725" y="6951315"/>
            <a:ext cx="693613" cy="395288"/>
          </a:xfrm>
          <a:prstGeom prst="rect">
            <a:avLst/>
          </a:prstGeom>
          <a:noFill/>
          <a:ln/>
        </p:spPr>
        <p:txBody>
          <a:bodyPr wrap="square" lIns="25400" tIns="25400" rIns="25400" bIns="25400" rtlCol="0" anchor="t">
            <a:normAutofit fontScale="85000" lnSpcReduction="10000"/>
          </a:bodyPr>
          <a:lstStyle/>
          <a:p>
            <a:pPr marL="0" indent="0" algn="l">
              <a:lnSpc>
                <a:spcPct val="150000"/>
              </a:lnSpc>
              <a:buNone/>
            </a:pPr>
            <a:r>
              <a:rPr lang="en-US" sz="1875" dirty="0">
                <a:solidFill>
                  <a:srgbClr val="51606D"/>
                </a:solidFill>
                <a:latin typeface="Arial" pitchFamily="34" charset="0"/>
                <a:ea typeface="Arial" pitchFamily="34" charset="-122"/>
                <a:cs typeface="Arial" pitchFamily="34" charset="-120"/>
              </a:rPr>
              <a:t>백창준</a:t>
            </a:r>
            <a:endParaRPr lang="en-US" sz="1875" dirty="0"/>
          </a:p>
        </p:txBody>
      </p:sp>
      <p:sp>
        <p:nvSpPr>
          <p:cNvPr id="9" name="Shape 6"/>
          <p:cNvSpPr/>
          <p:nvPr/>
        </p:nvSpPr>
        <p:spPr>
          <a:xfrm>
            <a:off x="2179513" y="6856065"/>
            <a:ext cx="3186410" cy="547688"/>
          </a:xfrm>
          <a:prstGeom prst="roundRect">
            <a:avLst>
              <a:gd name="adj" fmla="val 17391"/>
            </a:avLst>
          </a:prstGeom>
          <a:solidFill>
            <a:srgbClr val="F6F8FB"/>
          </a:solidFill>
          <a:ln w="9525">
            <a:solidFill>
              <a:srgbClr val="D2D9E1"/>
            </a:solidFill>
            <a:prstDash val="solid"/>
          </a:ln>
        </p:spPr>
        <p:txBody>
          <a:bodyPr/>
          <a:lstStyle/>
          <a:p>
            <a:endParaRPr lang="ko-KR" altLang="en-US"/>
          </a:p>
        </p:txBody>
      </p:sp>
      <p:sp>
        <p:nvSpPr>
          <p:cNvPr id="10" name="Text 7"/>
          <p:cNvSpPr/>
          <p:nvPr/>
        </p:nvSpPr>
        <p:spPr>
          <a:xfrm>
            <a:off x="2379538" y="6951315"/>
            <a:ext cx="3064996" cy="39528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75" dirty="0">
                <a:solidFill>
                  <a:srgbClr val="51606D"/>
                </a:solidFill>
                <a:latin typeface="Arial" pitchFamily="34" charset="0"/>
                <a:ea typeface="Arial" pitchFamily="34" charset="-122"/>
                <a:cs typeface="Arial" pitchFamily="34" charset="-120"/>
              </a:rPr>
              <a:t>LG유플러스 CTO품질PMO팀</a:t>
            </a:r>
            <a:endParaRPr lang="en-US" sz="1875" dirty="0"/>
          </a:p>
        </p:txBody>
      </p:sp>
      <p:sp>
        <p:nvSpPr>
          <p:cNvPr id="11" name="Shape 8"/>
          <p:cNvSpPr/>
          <p:nvPr/>
        </p:nvSpPr>
        <p:spPr>
          <a:xfrm>
            <a:off x="5499274" y="6856065"/>
            <a:ext cx="1124471" cy="547688"/>
          </a:xfrm>
          <a:prstGeom prst="roundRect">
            <a:avLst>
              <a:gd name="adj" fmla="val 17391"/>
            </a:avLst>
          </a:prstGeom>
          <a:solidFill>
            <a:srgbClr val="F6F8FB"/>
          </a:solidFill>
          <a:ln w="9525">
            <a:solidFill>
              <a:srgbClr val="D2D9E1"/>
            </a:solidFill>
            <a:prstDash val="solid"/>
          </a:ln>
        </p:spPr>
        <p:txBody>
          <a:bodyPr/>
          <a:lstStyle/>
          <a:p>
            <a:endParaRPr lang="ko-KR" altLang="en-US"/>
          </a:p>
        </p:txBody>
      </p:sp>
      <p:sp>
        <p:nvSpPr>
          <p:cNvPr id="12" name="Text 9"/>
          <p:cNvSpPr/>
          <p:nvPr/>
        </p:nvSpPr>
        <p:spPr>
          <a:xfrm>
            <a:off x="5699299" y="6951315"/>
            <a:ext cx="800621" cy="39528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75" dirty="0">
                <a:solidFill>
                  <a:srgbClr val="51606D"/>
                </a:solidFill>
                <a:latin typeface="Arial" pitchFamily="34" charset="0"/>
                <a:ea typeface="Arial" pitchFamily="34" charset="-122"/>
                <a:cs typeface="Arial" pitchFamily="34" charset="-120"/>
              </a:rPr>
              <a:t>20 min</a:t>
            </a:r>
            <a:endParaRPr lang="en-US" sz="1875" dirty="0"/>
          </a:p>
        </p:txBody>
      </p:sp>
    </p:spTree>
    <p:extLst>
      <p:ext uri="{BB962C8B-B14F-4D97-AF65-F5344CB8AC3E}">
        <p14:creationId xmlns:p14="http://schemas.microsoft.com/office/powerpoint/2010/main" val="16785691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00100" y="762000"/>
            <a:ext cx="2782759" cy="381000"/>
          </a:xfrm>
          <a:prstGeom prst="rect">
            <a:avLst/>
          </a:prstGeom>
          <a:noFill/>
          <a:ln/>
        </p:spPr>
        <p:txBody>
          <a:bodyPr wrap="square" lIns="25400" tIns="25400" rIns="25400" bIns="25400" rtlCol="0" anchor="t">
            <a:normAutofit fontScale="85000" lnSpcReduction="10000"/>
          </a:bodyPr>
          <a:lstStyle/>
          <a:p>
            <a:pPr marL="0" indent="0" algn="l">
              <a:lnSpc>
                <a:spcPct val="150000"/>
              </a:lnSpc>
              <a:buNone/>
            </a:pPr>
            <a:r>
              <a:rPr lang="en-US" sz="1800" b="1" kern="0" spc="144" dirty="0">
                <a:solidFill>
                  <a:srgbClr val="E07F00"/>
                </a:solidFill>
                <a:latin typeface="Arial" pitchFamily="34" charset="0"/>
                <a:ea typeface="Arial" pitchFamily="34" charset="-122"/>
                <a:cs typeface="Arial" pitchFamily="34" charset="-120"/>
              </a:rPr>
              <a:t>도입 </a:t>
            </a:r>
            <a:r>
              <a:rPr lang="en-US" sz="1800" b="1" kern="0" spc="144" dirty="0">
                <a:solidFill>
                  <a:srgbClr val="76828F"/>
                </a:solidFill>
                <a:latin typeface="Arial" pitchFamily="34" charset="0"/>
                <a:ea typeface="Arial" pitchFamily="34" charset="-122"/>
                <a:cs typeface="Arial" pitchFamily="34" charset="-120"/>
              </a:rPr>
              <a:t>· 앞 발표에서 이어서</a:t>
            </a:r>
            <a:endParaRPr lang="en-US" sz="1800" dirty="0"/>
          </a:p>
        </p:txBody>
      </p:sp>
      <p:sp>
        <p:nvSpPr>
          <p:cNvPr id="3" name="Text 1"/>
          <p:cNvSpPr/>
          <p:nvPr/>
        </p:nvSpPr>
        <p:spPr>
          <a:xfrm>
            <a:off x="800100" y="1314450"/>
            <a:ext cx="6735232" cy="688777"/>
          </a:xfrm>
          <a:prstGeom prst="rect">
            <a:avLst/>
          </a:prstGeom>
          <a:noFill/>
          <a:ln/>
        </p:spPr>
        <p:txBody>
          <a:bodyPr wrap="square" lIns="25400" tIns="25400" rIns="25400" bIns="25400" rtlCol="0" anchor="t">
            <a:normAutofit fontScale="92500" lnSpcReduction="10000"/>
          </a:bodyPr>
          <a:lstStyle/>
          <a:p>
            <a:pPr marL="0" indent="0" algn="l">
              <a:lnSpc>
                <a:spcPct val="122000"/>
              </a:lnSpc>
              <a:buNone/>
            </a:pPr>
            <a:r>
              <a:rPr lang="en-US" sz="4200" b="1" kern="0" spc="-63" dirty="0">
                <a:solidFill>
                  <a:srgbClr val="1A212B"/>
                </a:solidFill>
                <a:latin typeface="Arial" pitchFamily="34" charset="0"/>
                <a:ea typeface="Arial" pitchFamily="34" charset="-122"/>
                <a:cs typeface="Arial" pitchFamily="34" charset="-120"/>
              </a:rPr>
              <a:t>가드레일이 </a:t>
            </a:r>
            <a:r>
              <a:rPr lang="en-US" sz="4200" b="1" kern="0" spc="-63" dirty="0">
                <a:solidFill>
                  <a:srgbClr val="2272C3"/>
                </a:solidFill>
                <a:latin typeface="Arial" pitchFamily="34" charset="0"/>
                <a:ea typeface="Arial" pitchFamily="34" charset="-122"/>
                <a:cs typeface="Arial" pitchFamily="34" charset="-120"/>
              </a:rPr>
              <a:t>막는 것</a:t>
            </a:r>
            <a:r>
              <a:rPr lang="en-US" sz="4200" b="1" kern="0" spc="-63" dirty="0">
                <a:solidFill>
                  <a:srgbClr val="1A212B"/>
                </a:solidFill>
                <a:latin typeface="Arial" pitchFamily="34" charset="0"/>
                <a:ea typeface="Arial" pitchFamily="34" charset="-122"/>
                <a:cs typeface="Arial" pitchFamily="34" charset="-120"/>
              </a:rPr>
              <a:t>, 못 막는 것</a:t>
            </a:r>
            <a:endParaRPr lang="en-US" sz="4200" dirty="0"/>
          </a:p>
        </p:txBody>
      </p:sp>
      <p:sp>
        <p:nvSpPr>
          <p:cNvPr id="4" name="Shape 2"/>
          <p:cNvSpPr/>
          <p:nvPr/>
        </p:nvSpPr>
        <p:spPr>
          <a:xfrm>
            <a:off x="800100" y="2384227"/>
            <a:ext cx="5848350" cy="5053831"/>
          </a:xfrm>
          <a:prstGeom prst="roundRect">
            <a:avLst>
              <a:gd name="adj" fmla="val 3016"/>
            </a:avLst>
          </a:prstGeom>
          <a:solidFill>
            <a:srgbClr val="F6F8FB"/>
          </a:solidFill>
          <a:ln w="9525">
            <a:solidFill>
              <a:srgbClr val="AAC8E4"/>
            </a:solidFill>
            <a:prstDash val="solid"/>
          </a:ln>
        </p:spPr>
        <p:txBody>
          <a:bodyPr/>
          <a:lstStyle/>
          <a:p>
            <a:endParaRPr lang="ko-KR" altLang="en-US"/>
          </a:p>
        </p:txBody>
      </p:sp>
      <p:sp>
        <p:nvSpPr>
          <p:cNvPr id="5" name="Shape 3"/>
          <p:cNvSpPr/>
          <p:nvPr/>
        </p:nvSpPr>
        <p:spPr>
          <a:xfrm>
            <a:off x="1171575" y="2717602"/>
            <a:ext cx="5105400" cy="1123950"/>
          </a:xfrm>
          <a:prstGeom prst="roundRect">
            <a:avLst>
              <a:gd name="adj" fmla="val 6780"/>
            </a:avLst>
          </a:prstGeom>
          <a:solidFill>
            <a:srgbClr val="E7EBF1"/>
          </a:solidFill>
          <a:ln w="9525">
            <a:solidFill>
              <a:srgbClr val="C2CCD6"/>
            </a:solidFill>
            <a:prstDash val="solid"/>
          </a:ln>
        </p:spPr>
        <p:txBody>
          <a:bodyPr/>
          <a:lstStyle/>
          <a:p>
            <a:endParaRPr lang="ko-KR" altLang="en-US"/>
          </a:p>
        </p:txBody>
      </p:sp>
      <p:sp>
        <p:nvSpPr>
          <p:cNvPr id="6" name="Text 4"/>
          <p:cNvSpPr/>
          <p:nvPr/>
        </p:nvSpPr>
        <p:spPr>
          <a:xfrm>
            <a:off x="1171575" y="4127302"/>
            <a:ext cx="5615940" cy="56673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2775" b="1" dirty="0">
                <a:solidFill>
                  <a:srgbClr val="2272C3"/>
                </a:solidFill>
                <a:latin typeface="Arial" pitchFamily="34" charset="0"/>
                <a:ea typeface="Arial" pitchFamily="34" charset="-122"/>
                <a:cs typeface="Arial" pitchFamily="34" charset="-120"/>
              </a:rPr>
              <a:t>가드레일</a:t>
            </a:r>
            <a:endParaRPr lang="en-US" sz="2775" dirty="0"/>
          </a:p>
        </p:txBody>
      </p:sp>
      <p:sp>
        <p:nvSpPr>
          <p:cNvPr id="7" name="Text 5"/>
          <p:cNvSpPr/>
          <p:nvPr/>
        </p:nvSpPr>
        <p:spPr>
          <a:xfrm>
            <a:off x="1171574" y="4770239"/>
            <a:ext cx="5476875" cy="95250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2400" dirty="0">
                <a:solidFill>
                  <a:srgbClr val="51606D"/>
                </a:solidFill>
                <a:latin typeface="Arial" pitchFamily="34" charset="0"/>
                <a:ea typeface="Arial" pitchFamily="34" charset="-122"/>
                <a:cs typeface="Arial" pitchFamily="34" charset="-120"/>
              </a:rPr>
              <a:t>코드로 규칙을 적으면, 결정적으로 막힙니다.</a:t>
            </a:r>
            <a:endParaRPr lang="en-US" sz="2400" dirty="0"/>
          </a:p>
        </p:txBody>
      </p:sp>
      <p:sp>
        <p:nvSpPr>
          <p:cNvPr id="8" name="Text 6"/>
          <p:cNvSpPr/>
          <p:nvPr/>
        </p:nvSpPr>
        <p:spPr>
          <a:xfrm>
            <a:off x="1171575" y="6747495"/>
            <a:ext cx="5615940" cy="39528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75" dirty="0">
                <a:solidFill>
                  <a:srgbClr val="76828F"/>
                </a:solidFill>
                <a:latin typeface="Arial" pitchFamily="34" charset="0"/>
                <a:ea typeface="Arial" pitchFamily="34" charset="-122"/>
                <a:cs typeface="Arial" pitchFamily="34" charset="-120"/>
              </a:rPr>
              <a:t>if (violation) → deny — 매번 같은 결과</a:t>
            </a:r>
            <a:endParaRPr lang="en-US" sz="1875" dirty="0"/>
          </a:p>
        </p:txBody>
      </p:sp>
      <p:sp>
        <p:nvSpPr>
          <p:cNvPr id="9" name="Shape 7"/>
          <p:cNvSpPr/>
          <p:nvPr/>
        </p:nvSpPr>
        <p:spPr>
          <a:xfrm>
            <a:off x="7067550" y="2384576"/>
            <a:ext cx="5848350" cy="5053831"/>
          </a:xfrm>
          <a:prstGeom prst="roundRect">
            <a:avLst>
              <a:gd name="adj" fmla="val 3392"/>
            </a:avLst>
          </a:prstGeom>
          <a:gradFill rotWithShape="1">
            <a:gsLst>
              <a:gs pos="0">
                <a:srgbClr val="FDF9F1">
                  <a:alpha val="100000"/>
                </a:srgbClr>
              </a:gs>
              <a:gs pos="100000">
                <a:srgbClr val="FAF3E6">
                  <a:alpha val="100000"/>
                </a:srgbClr>
              </a:gs>
            </a:gsLst>
            <a:lin ang="5400000" scaled="0"/>
          </a:gradFill>
          <a:ln w="9525">
            <a:solidFill>
              <a:srgbClr val="DCC695"/>
            </a:solidFill>
            <a:prstDash val="dash"/>
          </a:ln>
        </p:spPr>
        <p:txBody>
          <a:bodyPr/>
          <a:lstStyle/>
          <a:p>
            <a:endParaRPr lang="ko-KR" altLang="en-US"/>
          </a:p>
        </p:txBody>
      </p:sp>
      <p:sp>
        <p:nvSpPr>
          <p:cNvPr id="10" name="Text 8"/>
          <p:cNvSpPr/>
          <p:nvPr/>
        </p:nvSpPr>
        <p:spPr>
          <a:xfrm>
            <a:off x="9747349" y="2679851"/>
            <a:ext cx="564877" cy="135255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6900" b="1" dirty="0">
                <a:solidFill>
                  <a:srgbClr val="E07F00">
                    <a:alpha val="90000"/>
                  </a:srgbClr>
                </a:solidFill>
                <a:latin typeface="Arial" pitchFamily="34" charset="0"/>
                <a:ea typeface="Arial" pitchFamily="34" charset="-122"/>
                <a:cs typeface="Arial" pitchFamily="34" charset="-120"/>
              </a:rPr>
              <a:t>?</a:t>
            </a:r>
            <a:endParaRPr lang="en-US" sz="6900" dirty="0"/>
          </a:p>
        </p:txBody>
      </p:sp>
      <p:sp>
        <p:nvSpPr>
          <p:cNvPr id="11" name="Text 9"/>
          <p:cNvSpPr/>
          <p:nvPr/>
        </p:nvSpPr>
        <p:spPr>
          <a:xfrm>
            <a:off x="7496175" y="4184801"/>
            <a:ext cx="5490210" cy="56673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2775" b="1" dirty="0">
                <a:solidFill>
                  <a:srgbClr val="E07F00"/>
                </a:solidFill>
                <a:latin typeface="Arial" pitchFamily="34" charset="0"/>
                <a:ea typeface="Arial" pitchFamily="34" charset="-122"/>
                <a:cs typeface="Arial" pitchFamily="34" charset="-120"/>
              </a:rPr>
              <a:t>판단이 필요한 영역</a:t>
            </a:r>
            <a:endParaRPr lang="en-US" sz="2775" dirty="0"/>
          </a:p>
        </p:txBody>
      </p:sp>
      <p:sp>
        <p:nvSpPr>
          <p:cNvPr id="12" name="Text 10"/>
          <p:cNvSpPr/>
          <p:nvPr/>
        </p:nvSpPr>
        <p:spPr>
          <a:xfrm>
            <a:off x="7496175" y="4827739"/>
            <a:ext cx="4924425" cy="95250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2400" dirty="0">
                <a:solidFill>
                  <a:srgbClr val="51606D"/>
                </a:solidFill>
                <a:latin typeface="Arial" pitchFamily="34" charset="0"/>
                <a:ea typeface="Arial" pitchFamily="34" charset="-122"/>
                <a:cs typeface="Arial" pitchFamily="34" charset="-120"/>
              </a:rPr>
              <a:t>규칙으로 적을 수 없고, 맥락을 읽어야 갈립니다.</a:t>
            </a:r>
            <a:endParaRPr lang="en-US" sz="2400" dirty="0"/>
          </a:p>
        </p:txBody>
      </p:sp>
      <p:sp>
        <p:nvSpPr>
          <p:cNvPr id="13" name="Text 11"/>
          <p:cNvSpPr/>
          <p:nvPr/>
        </p:nvSpPr>
        <p:spPr>
          <a:xfrm>
            <a:off x="7496175" y="5989789"/>
            <a:ext cx="5140833" cy="378098"/>
          </a:xfrm>
          <a:prstGeom prst="rect">
            <a:avLst/>
          </a:prstGeom>
          <a:noFill/>
          <a:ln/>
        </p:spPr>
        <p:txBody>
          <a:bodyPr wrap="square" lIns="25400" tIns="25400" rIns="25400" bIns="25400" rtlCol="0" anchor="t">
            <a:normAutofit fontScale="92500" lnSpcReduction="10000"/>
          </a:bodyPr>
          <a:lstStyle/>
          <a:p>
            <a:pPr marL="0" indent="0" algn="l">
              <a:lnSpc>
                <a:spcPct val="170000"/>
              </a:lnSpc>
              <a:buNone/>
            </a:pPr>
            <a:r>
              <a:rPr lang="en-US" sz="1575" dirty="0">
                <a:solidFill>
                  <a:srgbClr val="2272C3"/>
                </a:solidFill>
                <a:latin typeface="Arial" pitchFamily="34" charset="0"/>
                <a:ea typeface="Arial" pitchFamily="34" charset="-122"/>
                <a:cs typeface="Arial" pitchFamily="34" charset="-120"/>
              </a:rPr>
              <a:t>A.java </a:t>
            </a:r>
            <a:r>
              <a:rPr lang="en-US" sz="1575" dirty="0">
                <a:solidFill>
                  <a:srgbClr val="51606D"/>
                </a:solidFill>
                <a:latin typeface="Arial" pitchFamily="34" charset="0"/>
                <a:ea typeface="Arial" pitchFamily="34" charset="-122"/>
                <a:cs typeface="Arial" pitchFamily="34" charset="-120"/>
              </a:rPr>
              <a:t>send(req.body.trim()) </a:t>
            </a:r>
            <a:r>
              <a:rPr lang="en-US" sz="1575" dirty="0">
                <a:solidFill>
                  <a:srgbClr val="D6403D"/>
                </a:solidFill>
                <a:latin typeface="Arial" pitchFamily="34" charset="0"/>
                <a:ea typeface="Arial" pitchFamily="34" charset="-122"/>
                <a:cs typeface="Arial" pitchFamily="34" charset="-120"/>
              </a:rPr>
              <a:t>// ⚠ NPE 경고</a:t>
            </a:r>
            <a:endParaRPr lang="en-US" sz="1575" dirty="0"/>
          </a:p>
        </p:txBody>
      </p:sp>
      <p:sp>
        <p:nvSpPr>
          <p:cNvPr id="14" name="Text 12"/>
          <p:cNvSpPr/>
          <p:nvPr/>
        </p:nvSpPr>
        <p:spPr>
          <a:xfrm>
            <a:off x="7496175" y="6329787"/>
            <a:ext cx="5140833" cy="378098"/>
          </a:xfrm>
          <a:prstGeom prst="rect">
            <a:avLst/>
          </a:prstGeom>
          <a:noFill/>
          <a:ln/>
        </p:spPr>
        <p:txBody>
          <a:bodyPr wrap="square" lIns="25400" tIns="25400" rIns="25400" bIns="25400" rtlCol="0" anchor="t">
            <a:normAutofit fontScale="92500" lnSpcReduction="10000"/>
          </a:bodyPr>
          <a:lstStyle/>
          <a:p>
            <a:pPr marL="0" indent="0" algn="l">
              <a:lnSpc>
                <a:spcPct val="170000"/>
              </a:lnSpc>
              <a:buNone/>
            </a:pPr>
            <a:r>
              <a:rPr lang="en-US" sz="1575" dirty="0">
                <a:solidFill>
                  <a:srgbClr val="2272C3"/>
                </a:solidFill>
                <a:latin typeface="Arial" pitchFamily="34" charset="0"/>
                <a:ea typeface="Arial" pitchFamily="34" charset="-122"/>
                <a:cs typeface="Arial" pitchFamily="34" charset="-120"/>
              </a:rPr>
              <a:t>B.java </a:t>
            </a:r>
            <a:r>
              <a:rPr lang="en-US" sz="1575" dirty="0">
                <a:solidFill>
                  <a:srgbClr val="51606D"/>
                </a:solidFill>
                <a:latin typeface="Arial" pitchFamily="34" charset="0"/>
                <a:ea typeface="Arial" pitchFamily="34" charset="-122"/>
                <a:cs typeface="Arial" pitchFamily="34" charset="-120"/>
              </a:rPr>
              <a:t>if (req.body == null) return; </a:t>
            </a:r>
            <a:r>
              <a:rPr lang="en-US" sz="1575" dirty="0">
                <a:solidFill>
                  <a:srgbClr val="1F9D57"/>
                </a:solidFill>
                <a:latin typeface="Arial" pitchFamily="34" charset="0"/>
                <a:ea typeface="Arial" pitchFamily="34" charset="-122"/>
                <a:cs typeface="Arial" pitchFamily="34" charset="-120"/>
              </a:rPr>
              <a:t>// 먼저 막음</a:t>
            </a:r>
            <a:endParaRPr lang="en-US" sz="1575" dirty="0"/>
          </a:p>
        </p:txBody>
      </p:sp>
      <p:sp>
        <p:nvSpPr>
          <p:cNvPr id="15" name="Text 13"/>
          <p:cNvSpPr/>
          <p:nvPr/>
        </p:nvSpPr>
        <p:spPr>
          <a:xfrm>
            <a:off x="7496175" y="6707885"/>
            <a:ext cx="5140833" cy="378098"/>
          </a:xfrm>
          <a:prstGeom prst="rect">
            <a:avLst/>
          </a:prstGeom>
          <a:noFill/>
          <a:ln/>
        </p:spPr>
        <p:txBody>
          <a:bodyPr wrap="square" lIns="25400" tIns="25400" rIns="25400" bIns="25400" rtlCol="0" anchor="t">
            <a:normAutofit fontScale="92500" lnSpcReduction="10000"/>
          </a:bodyPr>
          <a:lstStyle/>
          <a:p>
            <a:pPr marL="0" indent="0" algn="l">
              <a:lnSpc>
                <a:spcPct val="170000"/>
              </a:lnSpc>
              <a:buNone/>
            </a:pPr>
            <a:r>
              <a:rPr lang="en-US" sz="1575" dirty="0">
                <a:solidFill>
                  <a:srgbClr val="76828F"/>
                </a:solidFill>
                <a:latin typeface="Arial" pitchFamily="34" charset="0"/>
                <a:ea typeface="Arial" pitchFamily="34" charset="-122"/>
                <a:cs typeface="Arial" pitchFamily="34" charset="-120"/>
              </a:rPr>
              <a:t>→ 오탐 · 규칙은 한 파일만 본다</a:t>
            </a:r>
            <a:endParaRPr lang="en-US" sz="1575" dirty="0"/>
          </a:p>
        </p:txBody>
      </p:sp>
      <p:sp>
        <p:nvSpPr>
          <p:cNvPr id="16" name="Text 14"/>
          <p:cNvSpPr/>
          <p:nvPr/>
        </p:nvSpPr>
        <p:spPr>
          <a:xfrm>
            <a:off x="800100" y="9505950"/>
            <a:ext cx="3694547" cy="32385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500" kern="0" spc="60" dirty="0">
                <a:solidFill>
                  <a:srgbClr val="76828F"/>
                </a:solidFill>
                <a:latin typeface="Arial" pitchFamily="34" charset="0"/>
                <a:ea typeface="Arial" pitchFamily="34" charset="-122"/>
                <a:cs typeface="Arial" pitchFamily="34" charset="-120"/>
              </a:rPr>
              <a:t>AWSKRUG 마곡 · LLM in the test loop</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3716000" cy="10287000"/>
          </a:xfrm>
          <a:prstGeom prst="rect">
            <a:avLst/>
          </a:prstGeom>
          <a:solidFill>
            <a:srgbClr val="F4F6F9"/>
          </a:solidFill>
          <a:ln/>
        </p:spPr>
        <p:txBody>
          <a:bodyPr/>
          <a:lstStyle/>
          <a:p>
            <a:endParaRPr lang="ko-KR" altLang="en-US"/>
          </a:p>
        </p:txBody>
      </p:sp>
      <p:sp>
        <p:nvSpPr>
          <p:cNvPr id="3" name="Shape 1"/>
          <p:cNvSpPr/>
          <p:nvPr/>
        </p:nvSpPr>
        <p:spPr>
          <a:xfrm>
            <a:off x="800100" y="571500"/>
            <a:ext cx="12115800" cy="9715500"/>
          </a:xfrm>
          <a:prstGeom prst="roundRect">
            <a:avLst>
              <a:gd name="adj" fmla="val 1569"/>
            </a:avLst>
          </a:prstGeom>
          <a:solidFill>
            <a:srgbClr val="161D27"/>
          </a:solidFill>
          <a:ln w="9525">
            <a:solidFill>
              <a:srgbClr val="2A3340"/>
            </a:solidFill>
            <a:prstDash val="solid"/>
          </a:ln>
        </p:spPr>
        <p:txBody>
          <a:bodyPr/>
          <a:lstStyle/>
          <a:p>
            <a:endParaRPr lang="ko-KR" altLang="en-US"/>
          </a:p>
        </p:txBody>
      </p:sp>
      <p:sp>
        <p:nvSpPr>
          <p:cNvPr id="4" name="Shape 2"/>
          <p:cNvSpPr/>
          <p:nvPr/>
        </p:nvSpPr>
        <p:spPr>
          <a:xfrm>
            <a:off x="809625" y="581025"/>
            <a:ext cx="12096750" cy="862013"/>
          </a:xfrm>
          <a:prstGeom prst="rect">
            <a:avLst/>
          </a:prstGeom>
          <a:solidFill>
            <a:srgbClr val="1A222E"/>
          </a:solidFill>
          <a:ln/>
        </p:spPr>
        <p:txBody>
          <a:bodyPr/>
          <a:lstStyle/>
          <a:p>
            <a:endParaRPr lang="ko-KR" altLang="en-US"/>
          </a:p>
        </p:txBody>
      </p:sp>
      <p:sp>
        <p:nvSpPr>
          <p:cNvPr id="5" name="Shape 3"/>
          <p:cNvSpPr/>
          <p:nvPr/>
        </p:nvSpPr>
        <p:spPr>
          <a:xfrm>
            <a:off x="809625" y="1433513"/>
            <a:ext cx="12096750" cy="9525"/>
          </a:xfrm>
          <a:prstGeom prst="rect">
            <a:avLst/>
          </a:prstGeom>
          <a:solidFill>
            <a:srgbClr val="2A3340"/>
          </a:solidFill>
          <a:ln/>
        </p:spPr>
        <p:txBody>
          <a:bodyPr/>
          <a:lstStyle/>
          <a:p>
            <a:endParaRPr lang="ko-KR" altLang="en-US"/>
          </a:p>
        </p:txBody>
      </p:sp>
      <p:sp>
        <p:nvSpPr>
          <p:cNvPr id="6" name="Text 4"/>
          <p:cNvSpPr/>
          <p:nvPr/>
        </p:nvSpPr>
        <p:spPr>
          <a:xfrm>
            <a:off x="1190625" y="828675"/>
            <a:ext cx="1388514" cy="39528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75" b="1" dirty="0">
                <a:solidFill>
                  <a:srgbClr val="E8EDF4"/>
                </a:solidFill>
                <a:latin typeface="Arial" pitchFamily="34" charset="0"/>
                <a:ea typeface="Arial" pitchFamily="34" charset="-122"/>
                <a:cs typeface="Arial" pitchFamily="34" charset="-120"/>
              </a:rPr>
              <a:t>SonarQube</a:t>
            </a:r>
            <a:endParaRPr lang="en-US" sz="1875" dirty="0"/>
          </a:p>
        </p:txBody>
      </p:sp>
      <p:sp>
        <p:nvSpPr>
          <p:cNvPr id="7" name="Text 5"/>
          <p:cNvSpPr/>
          <p:nvPr/>
        </p:nvSpPr>
        <p:spPr>
          <a:xfrm>
            <a:off x="2719611" y="828675"/>
            <a:ext cx="2946469" cy="39528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75" dirty="0">
                <a:solidFill>
                  <a:srgbClr val="9AA7B6"/>
                </a:solidFill>
                <a:latin typeface="Arial" pitchFamily="34" charset="0"/>
                <a:ea typeface="Arial" pitchFamily="34" charset="-122"/>
                <a:cs typeface="Arial" pitchFamily="34" charset="-120"/>
              </a:rPr>
              <a:t>my-telco-service · Issues</a:t>
            </a:r>
            <a:endParaRPr lang="en-US" sz="1875" dirty="0"/>
          </a:p>
        </p:txBody>
      </p:sp>
      <p:sp>
        <p:nvSpPr>
          <p:cNvPr id="8" name="Text 6"/>
          <p:cNvSpPr/>
          <p:nvPr/>
        </p:nvSpPr>
        <p:spPr>
          <a:xfrm>
            <a:off x="11252299" y="828675"/>
            <a:ext cx="1400383" cy="39528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75" b="1" dirty="0">
                <a:solidFill>
                  <a:srgbClr val="FF7B78"/>
                </a:solidFill>
                <a:latin typeface="Arial" pitchFamily="34" charset="0"/>
                <a:ea typeface="Arial" pitchFamily="34" charset="-122"/>
                <a:cs typeface="Arial" pitchFamily="34" charset="-120"/>
              </a:rPr>
              <a:t>2,847 open</a:t>
            </a:r>
            <a:endParaRPr lang="en-US" sz="1875" dirty="0"/>
          </a:p>
        </p:txBody>
      </p:sp>
      <p:sp>
        <p:nvSpPr>
          <p:cNvPr id="9" name="Shape 7"/>
          <p:cNvSpPr/>
          <p:nvPr/>
        </p:nvSpPr>
        <p:spPr>
          <a:xfrm>
            <a:off x="809625" y="2224088"/>
            <a:ext cx="12096750" cy="9525"/>
          </a:xfrm>
          <a:prstGeom prst="rect">
            <a:avLst/>
          </a:prstGeom>
          <a:solidFill>
            <a:srgbClr val="222B38"/>
          </a:solidFill>
          <a:ln/>
        </p:spPr>
        <p:txBody>
          <a:bodyPr/>
          <a:lstStyle/>
          <a:p>
            <a:endParaRPr lang="ko-KR" altLang="en-US"/>
          </a:p>
        </p:txBody>
      </p:sp>
      <p:sp>
        <p:nvSpPr>
          <p:cNvPr id="10" name="Shape 8"/>
          <p:cNvSpPr/>
          <p:nvPr/>
        </p:nvSpPr>
        <p:spPr>
          <a:xfrm>
            <a:off x="1190625" y="1643063"/>
            <a:ext cx="1225674" cy="381000"/>
          </a:xfrm>
          <a:prstGeom prst="roundRect">
            <a:avLst>
              <a:gd name="adj" fmla="val 17500"/>
            </a:avLst>
          </a:prstGeom>
          <a:solidFill>
            <a:srgbClr val="F0524F">
              <a:alpha val="16000"/>
            </a:srgbClr>
          </a:solidFill>
          <a:ln w="9525">
            <a:solidFill>
              <a:srgbClr val="F0524F">
                <a:alpha val="45000"/>
              </a:srgbClr>
            </a:solidFill>
            <a:prstDash val="solid"/>
          </a:ln>
        </p:spPr>
        <p:txBody>
          <a:bodyPr/>
          <a:lstStyle/>
          <a:p>
            <a:endParaRPr lang="ko-KR" altLang="en-US"/>
          </a:p>
        </p:txBody>
      </p:sp>
      <p:sp>
        <p:nvSpPr>
          <p:cNvPr id="11" name="Text 9"/>
          <p:cNvSpPr/>
          <p:nvPr/>
        </p:nvSpPr>
        <p:spPr>
          <a:xfrm>
            <a:off x="1333500" y="1690688"/>
            <a:ext cx="1016124" cy="32385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500" b="1" kern="0" spc="90" dirty="0">
                <a:solidFill>
                  <a:srgbClr val="FF7B78"/>
                </a:solidFill>
                <a:latin typeface="Arial" pitchFamily="34" charset="0"/>
                <a:ea typeface="Arial" pitchFamily="34" charset="-122"/>
                <a:cs typeface="Arial" pitchFamily="34" charset="-120"/>
              </a:rPr>
              <a:t>BLOCKER</a:t>
            </a:r>
            <a:endParaRPr lang="en-US" sz="1500" dirty="0"/>
          </a:p>
        </p:txBody>
      </p:sp>
      <p:sp>
        <p:nvSpPr>
          <p:cNvPr id="12" name="Text 10"/>
          <p:cNvSpPr/>
          <p:nvPr/>
        </p:nvSpPr>
        <p:spPr>
          <a:xfrm>
            <a:off x="2663949" y="1676400"/>
            <a:ext cx="679698" cy="352425"/>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650" dirty="0">
                <a:solidFill>
                  <a:srgbClr val="76828F"/>
                </a:solidFill>
                <a:latin typeface="Arial" pitchFamily="34" charset="0"/>
                <a:ea typeface="Arial" pitchFamily="34" charset="-122"/>
                <a:cs typeface="Arial" pitchFamily="34" charset="-120"/>
              </a:rPr>
              <a:t>S6418</a:t>
            </a:r>
            <a:endParaRPr lang="en-US" sz="1650" dirty="0"/>
          </a:p>
        </p:txBody>
      </p:sp>
      <p:sp>
        <p:nvSpPr>
          <p:cNvPr id="13" name="Text 11"/>
          <p:cNvSpPr/>
          <p:nvPr/>
        </p:nvSpPr>
        <p:spPr>
          <a:xfrm>
            <a:off x="3515097" y="1654969"/>
            <a:ext cx="6510129" cy="39528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75" dirty="0">
                <a:solidFill>
                  <a:srgbClr val="C8D2DE"/>
                </a:solidFill>
                <a:latin typeface="Arial" pitchFamily="34" charset="0"/>
                <a:ea typeface="Arial" pitchFamily="34" charset="-122"/>
                <a:cs typeface="Arial" pitchFamily="34" charset="-120"/>
              </a:rPr>
              <a:t>Make sure this "aws_secret" is not a hard-coded secret.</a:t>
            </a:r>
            <a:endParaRPr lang="en-US" sz="1875" dirty="0"/>
          </a:p>
        </p:txBody>
      </p:sp>
      <p:sp>
        <p:nvSpPr>
          <p:cNvPr id="14" name="Text 12"/>
          <p:cNvSpPr/>
          <p:nvPr/>
        </p:nvSpPr>
        <p:spPr>
          <a:xfrm>
            <a:off x="10741447" y="1683544"/>
            <a:ext cx="1962321" cy="338138"/>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575" dirty="0">
                <a:solidFill>
                  <a:srgbClr val="76828F"/>
                </a:solidFill>
                <a:latin typeface="Arial" pitchFamily="34" charset="0"/>
                <a:ea typeface="Arial" pitchFamily="34" charset="-122"/>
                <a:cs typeface="Arial" pitchFamily="34" charset="-120"/>
              </a:rPr>
              <a:t>PaymentConfig.java</a:t>
            </a:r>
            <a:endParaRPr lang="en-US" sz="1575" dirty="0"/>
          </a:p>
        </p:txBody>
      </p:sp>
      <p:sp>
        <p:nvSpPr>
          <p:cNvPr id="15" name="Shape 13"/>
          <p:cNvSpPr/>
          <p:nvPr/>
        </p:nvSpPr>
        <p:spPr>
          <a:xfrm>
            <a:off x="809625" y="3014663"/>
            <a:ext cx="12096750" cy="9525"/>
          </a:xfrm>
          <a:prstGeom prst="rect">
            <a:avLst/>
          </a:prstGeom>
          <a:solidFill>
            <a:srgbClr val="222B38"/>
          </a:solidFill>
          <a:ln/>
        </p:spPr>
        <p:txBody>
          <a:bodyPr/>
          <a:lstStyle/>
          <a:p>
            <a:endParaRPr lang="ko-KR" altLang="en-US"/>
          </a:p>
        </p:txBody>
      </p:sp>
      <p:sp>
        <p:nvSpPr>
          <p:cNvPr id="16" name="Shape 14"/>
          <p:cNvSpPr/>
          <p:nvPr/>
        </p:nvSpPr>
        <p:spPr>
          <a:xfrm>
            <a:off x="1190625" y="2433638"/>
            <a:ext cx="1225674" cy="381000"/>
          </a:xfrm>
          <a:prstGeom prst="roundRect">
            <a:avLst>
              <a:gd name="adj" fmla="val 17500"/>
            </a:avLst>
          </a:prstGeom>
          <a:solidFill>
            <a:srgbClr val="F0524F">
              <a:alpha val="16000"/>
            </a:srgbClr>
          </a:solidFill>
          <a:ln w="9525">
            <a:solidFill>
              <a:srgbClr val="F0524F">
                <a:alpha val="45000"/>
              </a:srgbClr>
            </a:solidFill>
            <a:prstDash val="solid"/>
          </a:ln>
        </p:spPr>
        <p:txBody>
          <a:bodyPr/>
          <a:lstStyle/>
          <a:p>
            <a:endParaRPr lang="ko-KR" altLang="en-US"/>
          </a:p>
        </p:txBody>
      </p:sp>
      <p:sp>
        <p:nvSpPr>
          <p:cNvPr id="17" name="Text 15"/>
          <p:cNvSpPr/>
          <p:nvPr/>
        </p:nvSpPr>
        <p:spPr>
          <a:xfrm>
            <a:off x="1333500" y="2481263"/>
            <a:ext cx="1016124" cy="32385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500" b="1" kern="0" spc="90" dirty="0">
                <a:solidFill>
                  <a:srgbClr val="FF7B78"/>
                </a:solidFill>
                <a:latin typeface="Arial" pitchFamily="34" charset="0"/>
                <a:ea typeface="Arial" pitchFamily="34" charset="-122"/>
                <a:cs typeface="Arial" pitchFamily="34" charset="-120"/>
              </a:rPr>
              <a:t>BLOCKER</a:t>
            </a:r>
            <a:endParaRPr lang="en-US" sz="1500" dirty="0"/>
          </a:p>
        </p:txBody>
      </p:sp>
      <p:sp>
        <p:nvSpPr>
          <p:cNvPr id="18" name="Text 16"/>
          <p:cNvSpPr/>
          <p:nvPr/>
        </p:nvSpPr>
        <p:spPr>
          <a:xfrm>
            <a:off x="2663949" y="2466975"/>
            <a:ext cx="704850" cy="352425"/>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650" dirty="0">
                <a:solidFill>
                  <a:srgbClr val="76828F"/>
                </a:solidFill>
                <a:latin typeface="Arial" pitchFamily="34" charset="0"/>
                <a:ea typeface="Arial" pitchFamily="34" charset="-122"/>
                <a:cs typeface="Arial" pitchFamily="34" charset="-120"/>
              </a:rPr>
              <a:t>S2095</a:t>
            </a:r>
            <a:endParaRPr lang="en-US" sz="1650" dirty="0"/>
          </a:p>
        </p:txBody>
      </p:sp>
      <p:sp>
        <p:nvSpPr>
          <p:cNvPr id="19" name="Text 17"/>
          <p:cNvSpPr/>
          <p:nvPr/>
        </p:nvSpPr>
        <p:spPr>
          <a:xfrm>
            <a:off x="3540249" y="2445544"/>
            <a:ext cx="5869692" cy="39528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75" dirty="0">
                <a:solidFill>
                  <a:srgbClr val="C8D2DE"/>
                </a:solidFill>
                <a:latin typeface="Arial" pitchFamily="34" charset="0"/>
                <a:ea typeface="Arial" pitchFamily="34" charset="-122"/>
                <a:cs typeface="Arial" pitchFamily="34" charset="-120"/>
              </a:rPr>
              <a:t>Use try-with-resources or close this "Connection".</a:t>
            </a:r>
            <a:endParaRPr lang="en-US" sz="1875" dirty="0"/>
          </a:p>
        </p:txBody>
      </p:sp>
      <p:sp>
        <p:nvSpPr>
          <p:cNvPr id="20" name="Text 18"/>
          <p:cNvSpPr/>
          <p:nvPr/>
        </p:nvSpPr>
        <p:spPr>
          <a:xfrm>
            <a:off x="11025932" y="2474119"/>
            <a:ext cx="1649388" cy="338138"/>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575" dirty="0">
                <a:solidFill>
                  <a:srgbClr val="76828F"/>
                </a:solidFill>
                <a:latin typeface="Arial" pitchFamily="34" charset="0"/>
                <a:ea typeface="Arial" pitchFamily="34" charset="-122"/>
                <a:cs typeface="Arial" pitchFamily="34" charset="-120"/>
              </a:rPr>
              <a:t>UserService.java</a:t>
            </a:r>
            <a:endParaRPr lang="en-US" sz="1575" dirty="0"/>
          </a:p>
        </p:txBody>
      </p:sp>
      <p:sp>
        <p:nvSpPr>
          <p:cNvPr id="21" name="Shape 19"/>
          <p:cNvSpPr/>
          <p:nvPr/>
        </p:nvSpPr>
        <p:spPr>
          <a:xfrm>
            <a:off x="809625" y="3805237"/>
            <a:ext cx="12096750" cy="9525"/>
          </a:xfrm>
          <a:prstGeom prst="rect">
            <a:avLst/>
          </a:prstGeom>
          <a:solidFill>
            <a:srgbClr val="222B38"/>
          </a:solidFill>
          <a:ln/>
        </p:spPr>
        <p:txBody>
          <a:bodyPr/>
          <a:lstStyle/>
          <a:p>
            <a:endParaRPr lang="ko-KR" altLang="en-US"/>
          </a:p>
        </p:txBody>
      </p:sp>
      <p:sp>
        <p:nvSpPr>
          <p:cNvPr id="22" name="Shape 20"/>
          <p:cNvSpPr/>
          <p:nvPr/>
        </p:nvSpPr>
        <p:spPr>
          <a:xfrm>
            <a:off x="1190625" y="3224213"/>
            <a:ext cx="1015975" cy="381000"/>
          </a:xfrm>
          <a:prstGeom prst="roundRect">
            <a:avLst>
              <a:gd name="adj" fmla="val 17500"/>
            </a:avLst>
          </a:prstGeom>
          <a:solidFill>
            <a:srgbClr val="E8A317">
              <a:alpha val="12000"/>
            </a:srgbClr>
          </a:solidFill>
          <a:ln w="9525">
            <a:solidFill>
              <a:srgbClr val="E8A317">
                <a:alpha val="38000"/>
              </a:srgbClr>
            </a:solidFill>
            <a:prstDash val="solid"/>
          </a:ln>
        </p:spPr>
        <p:txBody>
          <a:bodyPr/>
          <a:lstStyle/>
          <a:p>
            <a:endParaRPr lang="ko-KR" altLang="en-US"/>
          </a:p>
        </p:txBody>
      </p:sp>
      <p:sp>
        <p:nvSpPr>
          <p:cNvPr id="23" name="Text 21"/>
          <p:cNvSpPr/>
          <p:nvPr/>
        </p:nvSpPr>
        <p:spPr>
          <a:xfrm>
            <a:off x="1333500" y="3271838"/>
            <a:ext cx="806425" cy="32385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500" b="1" kern="0" spc="90" dirty="0">
                <a:solidFill>
                  <a:srgbClr val="EEB143"/>
                </a:solidFill>
                <a:latin typeface="Arial" pitchFamily="34" charset="0"/>
                <a:ea typeface="Arial" pitchFamily="34" charset="-122"/>
                <a:cs typeface="Arial" pitchFamily="34" charset="-120"/>
              </a:rPr>
              <a:t>MAJOR</a:t>
            </a:r>
            <a:endParaRPr lang="en-US" sz="1500" dirty="0"/>
          </a:p>
        </p:txBody>
      </p:sp>
      <p:sp>
        <p:nvSpPr>
          <p:cNvPr id="24" name="Text 22"/>
          <p:cNvSpPr/>
          <p:nvPr/>
        </p:nvSpPr>
        <p:spPr>
          <a:xfrm>
            <a:off x="2454250" y="3257550"/>
            <a:ext cx="703064" cy="352425"/>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650" dirty="0">
                <a:solidFill>
                  <a:srgbClr val="76828F"/>
                </a:solidFill>
                <a:latin typeface="Arial" pitchFamily="34" charset="0"/>
                <a:ea typeface="Arial" pitchFamily="34" charset="-122"/>
                <a:cs typeface="Arial" pitchFamily="34" charset="-120"/>
              </a:rPr>
              <a:t>S2259</a:t>
            </a:r>
            <a:endParaRPr lang="en-US" sz="1650" dirty="0"/>
          </a:p>
        </p:txBody>
      </p:sp>
      <p:sp>
        <p:nvSpPr>
          <p:cNvPr id="25" name="Text 23"/>
          <p:cNvSpPr/>
          <p:nvPr/>
        </p:nvSpPr>
        <p:spPr>
          <a:xfrm>
            <a:off x="3328764" y="3236119"/>
            <a:ext cx="7368957" cy="39528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75" dirty="0">
                <a:solidFill>
                  <a:srgbClr val="C8D2DE"/>
                </a:solidFill>
                <a:latin typeface="Arial" pitchFamily="34" charset="0"/>
                <a:ea typeface="Arial" pitchFamily="34" charset="-122"/>
                <a:cs typeface="Arial" pitchFamily="34" charset="-120"/>
              </a:rPr>
              <a:t>A "NullPointerException" could be thrown; "payload" is nullable.</a:t>
            </a:r>
            <a:endParaRPr lang="en-US" sz="1875" dirty="0"/>
          </a:p>
        </p:txBody>
      </p:sp>
      <p:sp>
        <p:nvSpPr>
          <p:cNvPr id="26" name="Text 24"/>
          <p:cNvSpPr/>
          <p:nvPr/>
        </p:nvSpPr>
        <p:spPr>
          <a:xfrm>
            <a:off x="10918031" y="3264694"/>
            <a:ext cx="1768078" cy="338138"/>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575" dirty="0">
                <a:solidFill>
                  <a:srgbClr val="76828F"/>
                </a:solidFill>
                <a:latin typeface="Arial" pitchFamily="34" charset="0"/>
                <a:ea typeface="Arial" pitchFamily="34" charset="-122"/>
                <a:cs typeface="Arial" pitchFamily="34" charset="-120"/>
              </a:rPr>
              <a:t>OrderHandler.java</a:t>
            </a:r>
            <a:endParaRPr lang="en-US" sz="1575" dirty="0"/>
          </a:p>
        </p:txBody>
      </p:sp>
      <p:sp>
        <p:nvSpPr>
          <p:cNvPr id="27" name="Shape 25"/>
          <p:cNvSpPr/>
          <p:nvPr/>
        </p:nvSpPr>
        <p:spPr>
          <a:xfrm>
            <a:off x="809625" y="4929188"/>
            <a:ext cx="12096750" cy="9525"/>
          </a:xfrm>
          <a:prstGeom prst="rect">
            <a:avLst/>
          </a:prstGeom>
          <a:solidFill>
            <a:srgbClr val="222B38"/>
          </a:solidFill>
          <a:ln/>
        </p:spPr>
        <p:txBody>
          <a:bodyPr/>
          <a:lstStyle/>
          <a:p>
            <a:endParaRPr lang="ko-KR" altLang="en-US"/>
          </a:p>
        </p:txBody>
      </p:sp>
      <p:sp>
        <p:nvSpPr>
          <p:cNvPr id="28" name="Shape 26"/>
          <p:cNvSpPr/>
          <p:nvPr/>
        </p:nvSpPr>
        <p:spPr>
          <a:xfrm>
            <a:off x="1190625" y="4181475"/>
            <a:ext cx="1235571" cy="381000"/>
          </a:xfrm>
          <a:prstGeom prst="roundRect">
            <a:avLst>
              <a:gd name="adj" fmla="val 17500"/>
            </a:avLst>
          </a:prstGeom>
          <a:solidFill>
            <a:srgbClr val="F0524F">
              <a:alpha val="10000"/>
            </a:srgbClr>
          </a:solidFill>
          <a:ln w="9525">
            <a:solidFill>
              <a:srgbClr val="F0524F">
                <a:alpha val="32000"/>
              </a:srgbClr>
            </a:solidFill>
            <a:prstDash val="solid"/>
          </a:ln>
        </p:spPr>
        <p:txBody>
          <a:bodyPr/>
          <a:lstStyle/>
          <a:p>
            <a:endParaRPr lang="ko-KR" altLang="en-US"/>
          </a:p>
        </p:txBody>
      </p:sp>
      <p:sp>
        <p:nvSpPr>
          <p:cNvPr id="29" name="Text 27"/>
          <p:cNvSpPr/>
          <p:nvPr/>
        </p:nvSpPr>
        <p:spPr>
          <a:xfrm>
            <a:off x="1333500" y="4229100"/>
            <a:ext cx="1026021" cy="32385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500" b="1" kern="0" spc="90" dirty="0">
                <a:solidFill>
                  <a:srgbClr val="F0524F"/>
                </a:solidFill>
                <a:latin typeface="Arial" pitchFamily="34" charset="0"/>
                <a:ea typeface="Arial" pitchFamily="34" charset="-122"/>
                <a:cs typeface="Arial" pitchFamily="34" charset="-120"/>
              </a:rPr>
              <a:t>CRITICAL</a:t>
            </a:r>
            <a:endParaRPr lang="en-US" sz="1500" dirty="0"/>
          </a:p>
        </p:txBody>
      </p:sp>
      <p:sp>
        <p:nvSpPr>
          <p:cNvPr id="30" name="Text 28"/>
          <p:cNvSpPr/>
          <p:nvPr/>
        </p:nvSpPr>
        <p:spPr>
          <a:xfrm>
            <a:off x="2673846" y="4214813"/>
            <a:ext cx="693539" cy="352425"/>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650" dirty="0">
                <a:solidFill>
                  <a:srgbClr val="76828F"/>
                </a:solidFill>
                <a:latin typeface="Arial" pitchFamily="34" charset="0"/>
                <a:ea typeface="Arial" pitchFamily="34" charset="-122"/>
                <a:cs typeface="Arial" pitchFamily="34" charset="-120"/>
              </a:rPr>
              <a:t>S3776</a:t>
            </a:r>
            <a:endParaRPr lang="en-US" sz="1650" dirty="0"/>
          </a:p>
        </p:txBody>
      </p:sp>
      <p:sp>
        <p:nvSpPr>
          <p:cNvPr id="31" name="Text 29"/>
          <p:cNvSpPr/>
          <p:nvPr/>
        </p:nvSpPr>
        <p:spPr>
          <a:xfrm>
            <a:off x="3538835" y="4014788"/>
            <a:ext cx="7142149" cy="752475"/>
          </a:xfrm>
          <a:prstGeom prst="rect">
            <a:avLst/>
          </a:prstGeom>
          <a:noFill/>
          <a:ln/>
        </p:spPr>
        <p:txBody>
          <a:bodyPr wrap="square" lIns="25400" tIns="25400" rIns="25400" bIns="25400" rtlCol="0" anchor="t">
            <a:normAutofit fontScale="92500"/>
          </a:bodyPr>
          <a:lstStyle/>
          <a:p>
            <a:pPr marL="0" indent="0" algn="l">
              <a:lnSpc>
                <a:spcPct val="150000"/>
              </a:lnSpc>
              <a:buNone/>
            </a:pPr>
            <a:r>
              <a:rPr lang="en-US" sz="1875" dirty="0">
                <a:solidFill>
                  <a:srgbClr val="C8D2DE"/>
                </a:solidFill>
                <a:latin typeface="Arial" pitchFamily="34" charset="0"/>
                <a:ea typeface="Arial" pitchFamily="34" charset="-122"/>
                <a:cs typeface="Arial" pitchFamily="34" charset="-120"/>
              </a:rPr>
              <a:t>Refactor this method to reduce its Cognitive Complexity from 31 to 15.</a:t>
            </a:r>
            <a:endParaRPr lang="en-US" sz="1875" dirty="0"/>
          </a:p>
        </p:txBody>
      </p:sp>
      <p:sp>
        <p:nvSpPr>
          <p:cNvPr id="32" name="Text 30"/>
          <p:cNvSpPr/>
          <p:nvPr/>
        </p:nvSpPr>
        <p:spPr>
          <a:xfrm>
            <a:off x="10720611" y="4221956"/>
            <a:ext cx="1985241" cy="338138"/>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575" dirty="0">
                <a:solidFill>
                  <a:srgbClr val="76828F"/>
                </a:solidFill>
                <a:latin typeface="Arial" pitchFamily="34" charset="0"/>
                <a:ea typeface="Arial" pitchFamily="34" charset="-122"/>
                <a:cs typeface="Arial" pitchFamily="34" charset="-120"/>
              </a:rPr>
              <a:t>OrderProcessor.java</a:t>
            </a:r>
            <a:endParaRPr lang="en-US" sz="1575" dirty="0"/>
          </a:p>
        </p:txBody>
      </p:sp>
      <p:sp>
        <p:nvSpPr>
          <p:cNvPr id="33" name="Shape 31"/>
          <p:cNvSpPr/>
          <p:nvPr/>
        </p:nvSpPr>
        <p:spPr>
          <a:xfrm>
            <a:off x="809625" y="5719763"/>
            <a:ext cx="12096750" cy="9525"/>
          </a:xfrm>
          <a:prstGeom prst="rect">
            <a:avLst/>
          </a:prstGeom>
          <a:solidFill>
            <a:srgbClr val="222B38"/>
          </a:solidFill>
          <a:ln/>
        </p:spPr>
        <p:txBody>
          <a:bodyPr/>
          <a:lstStyle/>
          <a:p>
            <a:endParaRPr lang="ko-KR" altLang="en-US"/>
          </a:p>
        </p:txBody>
      </p:sp>
      <p:sp>
        <p:nvSpPr>
          <p:cNvPr id="34" name="Shape 32"/>
          <p:cNvSpPr/>
          <p:nvPr/>
        </p:nvSpPr>
        <p:spPr>
          <a:xfrm>
            <a:off x="1190625" y="5138738"/>
            <a:ext cx="1225674" cy="381000"/>
          </a:xfrm>
          <a:prstGeom prst="roundRect">
            <a:avLst>
              <a:gd name="adj" fmla="val 17500"/>
            </a:avLst>
          </a:prstGeom>
          <a:solidFill>
            <a:srgbClr val="F0524F">
              <a:alpha val="16000"/>
            </a:srgbClr>
          </a:solidFill>
          <a:ln w="9525">
            <a:solidFill>
              <a:srgbClr val="F0524F">
                <a:alpha val="45000"/>
              </a:srgbClr>
            </a:solidFill>
            <a:prstDash val="solid"/>
          </a:ln>
        </p:spPr>
        <p:txBody>
          <a:bodyPr/>
          <a:lstStyle/>
          <a:p>
            <a:endParaRPr lang="ko-KR" altLang="en-US"/>
          </a:p>
        </p:txBody>
      </p:sp>
      <p:sp>
        <p:nvSpPr>
          <p:cNvPr id="35" name="Text 33"/>
          <p:cNvSpPr/>
          <p:nvPr/>
        </p:nvSpPr>
        <p:spPr>
          <a:xfrm>
            <a:off x="1333500" y="5186363"/>
            <a:ext cx="1016124" cy="32385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500" b="1" kern="0" spc="90" dirty="0">
                <a:solidFill>
                  <a:srgbClr val="FF7B78"/>
                </a:solidFill>
                <a:latin typeface="Arial" pitchFamily="34" charset="0"/>
                <a:ea typeface="Arial" pitchFamily="34" charset="-122"/>
                <a:cs typeface="Arial" pitchFamily="34" charset="-120"/>
              </a:rPr>
              <a:t>BLOCKER</a:t>
            </a:r>
            <a:endParaRPr lang="en-US" sz="1500" dirty="0"/>
          </a:p>
        </p:txBody>
      </p:sp>
      <p:sp>
        <p:nvSpPr>
          <p:cNvPr id="36" name="Text 34"/>
          <p:cNvSpPr/>
          <p:nvPr/>
        </p:nvSpPr>
        <p:spPr>
          <a:xfrm>
            <a:off x="2663949" y="5172075"/>
            <a:ext cx="679698" cy="352425"/>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650" dirty="0">
                <a:solidFill>
                  <a:srgbClr val="76828F"/>
                </a:solidFill>
                <a:latin typeface="Arial" pitchFamily="34" charset="0"/>
                <a:ea typeface="Arial" pitchFamily="34" charset="-122"/>
                <a:cs typeface="Arial" pitchFamily="34" charset="-120"/>
              </a:rPr>
              <a:t>S6418</a:t>
            </a:r>
            <a:endParaRPr lang="en-US" sz="1650" dirty="0"/>
          </a:p>
        </p:txBody>
      </p:sp>
      <p:sp>
        <p:nvSpPr>
          <p:cNvPr id="37" name="Text 35"/>
          <p:cNvSpPr/>
          <p:nvPr/>
        </p:nvSpPr>
        <p:spPr>
          <a:xfrm>
            <a:off x="3515097" y="5150644"/>
            <a:ext cx="6700443" cy="39528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75" dirty="0">
                <a:solidFill>
                  <a:srgbClr val="C8D2DE"/>
                </a:solidFill>
                <a:latin typeface="Arial" pitchFamily="34" charset="0"/>
                <a:ea typeface="Arial" pitchFamily="34" charset="-122"/>
                <a:cs typeface="Arial" pitchFamily="34" charset="-120"/>
              </a:rPr>
              <a:t>Make sure this "stripe_secret" is not a hard-coded secret.</a:t>
            </a:r>
            <a:endParaRPr lang="en-US" sz="1875" dirty="0"/>
          </a:p>
        </p:txBody>
      </p:sp>
      <p:sp>
        <p:nvSpPr>
          <p:cNvPr id="38" name="Text 36"/>
          <p:cNvSpPr/>
          <p:nvPr/>
        </p:nvSpPr>
        <p:spPr>
          <a:xfrm>
            <a:off x="10376446" y="5179219"/>
            <a:ext cx="2363822" cy="338138"/>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575" dirty="0">
                <a:solidFill>
                  <a:srgbClr val="76828F"/>
                </a:solidFill>
                <a:latin typeface="Arial" pitchFamily="34" charset="0"/>
                <a:ea typeface="Arial" pitchFamily="34" charset="-122"/>
                <a:cs typeface="Arial" pitchFamily="34" charset="-120"/>
              </a:rPr>
              <a:t>PaymentGatewayIT.java</a:t>
            </a:r>
            <a:endParaRPr lang="en-US" sz="1575" dirty="0"/>
          </a:p>
        </p:txBody>
      </p:sp>
      <p:sp>
        <p:nvSpPr>
          <p:cNvPr id="39" name="Shape 37"/>
          <p:cNvSpPr/>
          <p:nvPr/>
        </p:nvSpPr>
        <p:spPr>
          <a:xfrm>
            <a:off x="809625" y="6510338"/>
            <a:ext cx="12096750" cy="9525"/>
          </a:xfrm>
          <a:prstGeom prst="rect">
            <a:avLst/>
          </a:prstGeom>
          <a:solidFill>
            <a:srgbClr val="222B38"/>
          </a:solidFill>
          <a:ln/>
        </p:spPr>
        <p:txBody>
          <a:bodyPr/>
          <a:lstStyle/>
          <a:p>
            <a:endParaRPr lang="ko-KR" altLang="en-US"/>
          </a:p>
        </p:txBody>
      </p:sp>
      <p:sp>
        <p:nvSpPr>
          <p:cNvPr id="40" name="Shape 38"/>
          <p:cNvSpPr/>
          <p:nvPr/>
        </p:nvSpPr>
        <p:spPr>
          <a:xfrm>
            <a:off x="1190625" y="5929313"/>
            <a:ext cx="1235571" cy="381000"/>
          </a:xfrm>
          <a:prstGeom prst="roundRect">
            <a:avLst>
              <a:gd name="adj" fmla="val 17500"/>
            </a:avLst>
          </a:prstGeom>
          <a:solidFill>
            <a:srgbClr val="F0524F">
              <a:alpha val="10000"/>
            </a:srgbClr>
          </a:solidFill>
          <a:ln w="9525">
            <a:solidFill>
              <a:srgbClr val="F0524F">
                <a:alpha val="32000"/>
              </a:srgbClr>
            </a:solidFill>
            <a:prstDash val="solid"/>
          </a:ln>
        </p:spPr>
        <p:txBody>
          <a:bodyPr/>
          <a:lstStyle/>
          <a:p>
            <a:endParaRPr lang="ko-KR" altLang="en-US"/>
          </a:p>
        </p:txBody>
      </p:sp>
      <p:sp>
        <p:nvSpPr>
          <p:cNvPr id="41" name="Text 39"/>
          <p:cNvSpPr/>
          <p:nvPr/>
        </p:nvSpPr>
        <p:spPr>
          <a:xfrm>
            <a:off x="1333500" y="5976938"/>
            <a:ext cx="1026021" cy="32385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500" b="1" kern="0" spc="90" dirty="0">
                <a:solidFill>
                  <a:srgbClr val="F0524F"/>
                </a:solidFill>
                <a:latin typeface="Arial" pitchFamily="34" charset="0"/>
                <a:ea typeface="Arial" pitchFamily="34" charset="-122"/>
                <a:cs typeface="Arial" pitchFamily="34" charset="-120"/>
              </a:rPr>
              <a:t>CRITICAL</a:t>
            </a:r>
            <a:endParaRPr lang="en-US" sz="1500" dirty="0"/>
          </a:p>
        </p:txBody>
      </p:sp>
      <p:sp>
        <p:nvSpPr>
          <p:cNvPr id="42" name="Text 40"/>
          <p:cNvSpPr/>
          <p:nvPr/>
        </p:nvSpPr>
        <p:spPr>
          <a:xfrm>
            <a:off x="2673846" y="5962650"/>
            <a:ext cx="700460" cy="352425"/>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650" dirty="0">
                <a:solidFill>
                  <a:srgbClr val="76828F"/>
                </a:solidFill>
                <a:latin typeface="Arial" pitchFamily="34" charset="0"/>
                <a:ea typeface="Arial" pitchFamily="34" charset="-122"/>
                <a:cs typeface="Arial" pitchFamily="34" charset="-120"/>
              </a:rPr>
              <a:t>S2447</a:t>
            </a:r>
            <a:endParaRPr lang="en-US" sz="1650" dirty="0"/>
          </a:p>
        </p:txBody>
      </p:sp>
      <p:sp>
        <p:nvSpPr>
          <p:cNvPr id="43" name="Text 41"/>
          <p:cNvSpPr/>
          <p:nvPr/>
        </p:nvSpPr>
        <p:spPr>
          <a:xfrm>
            <a:off x="3545756" y="5941219"/>
            <a:ext cx="5366445" cy="39528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75" dirty="0">
                <a:solidFill>
                  <a:srgbClr val="C8D2DE"/>
                </a:solidFill>
                <a:latin typeface="Arial" pitchFamily="34" charset="0"/>
                <a:ea typeface="Arial" pitchFamily="34" charset="-122"/>
                <a:cs typeface="Arial" pitchFamily="34" charset="-120"/>
              </a:rPr>
              <a:t>Do not return null from this "Boolean" method.</a:t>
            </a:r>
            <a:endParaRPr lang="en-US" sz="1875" dirty="0"/>
          </a:p>
        </p:txBody>
      </p:sp>
      <p:sp>
        <p:nvSpPr>
          <p:cNvPr id="44" name="Text 42"/>
          <p:cNvSpPr/>
          <p:nvPr/>
        </p:nvSpPr>
        <p:spPr>
          <a:xfrm>
            <a:off x="11025932" y="5969794"/>
            <a:ext cx="1649388" cy="338138"/>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575" dirty="0">
                <a:solidFill>
                  <a:srgbClr val="76828F"/>
                </a:solidFill>
                <a:latin typeface="Arial" pitchFamily="34" charset="0"/>
                <a:ea typeface="Arial" pitchFamily="34" charset="-122"/>
                <a:cs typeface="Arial" pitchFamily="34" charset="-120"/>
              </a:rPr>
              <a:t>UserService.java</a:t>
            </a:r>
            <a:endParaRPr lang="en-US" sz="1575" dirty="0"/>
          </a:p>
        </p:txBody>
      </p:sp>
      <p:sp>
        <p:nvSpPr>
          <p:cNvPr id="45" name="Shape 43"/>
          <p:cNvSpPr/>
          <p:nvPr/>
        </p:nvSpPr>
        <p:spPr>
          <a:xfrm>
            <a:off x="809625" y="7300913"/>
            <a:ext cx="12096750" cy="9525"/>
          </a:xfrm>
          <a:prstGeom prst="rect">
            <a:avLst/>
          </a:prstGeom>
          <a:solidFill>
            <a:srgbClr val="222B38"/>
          </a:solidFill>
          <a:ln/>
        </p:spPr>
        <p:txBody>
          <a:bodyPr/>
          <a:lstStyle/>
          <a:p>
            <a:endParaRPr lang="ko-KR" altLang="en-US"/>
          </a:p>
        </p:txBody>
      </p:sp>
      <p:sp>
        <p:nvSpPr>
          <p:cNvPr id="46" name="Shape 44"/>
          <p:cNvSpPr/>
          <p:nvPr/>
        </p:nvSpPr>
        <p:spPr>
          <a:xfrm>
            <a:off x="1190625" y="6719888"/>
            <a:ext cx="1015975" cy="381000"/>
          </a:xfrm>
          <a:prstGeom prst="roundRect">
            <a:avLst>
              <a:gd name="adj" fmla="val 17500"/>
            </a:avLst>
          </a:prstGeom>
          <a:solidFill>
            <a:srgbClr val="E8A317">
              <a:alpha val="12000"/>
            </a:srgbClr>
          </a:solidFill>
          <a:ln w="9525">
            <a:solidFill>
              <a:srgbClr val="E8A317">
                <a:alpha val="38000"/>
              </a:srgbClr>
            </a:solidFill>
            <a:prstDash val="solid"/>
          </a:ln>
        </p:spPr>
        <p:txBody>
          <a:bodyPr/>
          <a:lstStyle/>
          <a:p>
            <a:endParaRPr lang="ko-KR" altLang="en-US"/>
          </a:p>
        </p:txBody>
      </p:sp>
      <p:sp>
        <p:nvSpPr>
          <p:cNvPr id="47" name="Text 45"/>
          <p:cNvSpPr/>
          <p:nvPr/>
        </p:nvSpPr>
        <p:spPr>
          <a:xfrm>
            <a:off x="1333500" y="6767512"/>
            <a:ext cx="806425" cy="32385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500" b="1" kern="0" spc="90" dirty="0">
                <a:solidFill>
                  <a:srgbClr val="EEB143"/>
                </a:solidFill>
                <a:latin typeface="Arial" pitchFamily="34" charset="0"/>
                <a:ea typeface="Arial" pitchFamily="34" charset="-122"/>
                <a:cs typeface="Arial" pitchFamily="34" charset="-120"/>
              </a:rPr>
              <a:t>MAJOR</a:t>
            </a:r>
            <a:endParaRPr lang="en-US" sz="1500" dirty="0"/>
          </a:p>
        </p:txBody>
      </p:sp>
      <p:sp>
        <p:nvSpPr>
          <p:cNvPr id="48" name="Text 46"/>
          <p:cNvSpPr/>
          <p:nvPr/>
        </p:nvSpPr>
        <p:spPr>
          <a:xfrm>
            <a:off x="2454250" y="6753225"/>
            <a:ext cx="638770" cy="352425"/>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650" dirty="0">
                <a:solidFill>
                  <a:srgbClr val="76828F"/>
                </a:solidFill>
                <a:latin typeface="Arial" pitchFamily="34" charset="0"/>
                <a:ea typeface="Arial" pitchFamily="34" charset="-122"/>
                <a:cs typeface="Arial" pitchFamily="34" charset="-120"/>
              </a:rPr>
              <a:t>S1192</a:t>
            </a:r>
            <a:endParaRPr lang="en-US" sz="1650" dirty="0"/>
          </a:p>
        </p:txBody>
      </p:sp>
      <p:sp>
        <p:nvSpPr>
          <p:cNvPr id="49" name="Text 47"/>
          <p:cNvSpPr/>
          <p:nvPr/>
        </p:nvSpPr>
        <p:spPr>
          <a:xfrm>
            <a:off x="3264471" y="6731794"/>
            <a:ext cx="6815532" cy="39528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75" dirty="0">
                <a:solidFill>
                  <a:srgbClr val="C8D2DE"/>
                </a:solidFill>
                <a:latin typeface="Arial" pitchFamily="34" charset="0"/>
                <a:ea typeface="Arial" pitchFamily="34" charset="-122"/>
                <a:cs typeface="Arial" pitchFamily="34" charset="-120"/>
              </a:rPr>
              <a:t>Define a constant instead of duplicating this literal 7 times.</a:t>
            </a:r>
            <a:endParaRPr lang="en-US" sz="1875" dirty="0"/>
          </a:p>
        </p:txBody>
      </p:sp>
      <p:sp>
        <p:nvSpPr>
          <p:cNvPr id="50" name="Text 48"/>
          <p:cNvSpPr/>
          <p:nvPr/>
        </p:nvSpPr>
        <p:spPr>
          <a:xfrm>
            <a:off x="11025932" y="6760369"/>
            <a:ext cx="1649388" cy="338138"/>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575" dirty="0">
                <a:solidFill>
                  <a:srgbClr val="76828F"/>
                </a:solidFill>
                <a:latin typeface="Arial" pitchFamily="34" charset="0"/>
                <a:ea typeface="Arial" pitchFamily="34" charset="-122"/>
                <a:cs typeface="Arial" pitchFamily="34" charset="-120"/>
              </a:rPr>
              <a:t>UserService.java</a:t>
            </a:r>
            <a:endParaRPr lang="en-US" sz="1575" dirty="0"/>
          </a:p>
        </p:txBody>
      </p:sp>
      <p:sp>
        <p:nvSpPr>
          <p:cNvPr id="51" name="Shape 49"/>
          <p:cNvSpPr/>
          <p:nvPr/>
        </p:nvSpPr>
        <p:spPr>
          <a:xfrm>
            <a:off x="809625" y="8091488"/>
            <a:ext cx="12096750" cy="9525"/>
          </a:xfrm>
          <a:prstGeom prst="rect">
            <a:avLst/>
          </a:prstGeom>
          <a:solidFill>
            <a:srgbClr val="222B38"/>
          </a:solidFill>
          <a:ln/>
        </p:spPr>
        <p:txBody>
          <a:bodyPr/>
          <a:lstStyle/>
          <a:p>
            <a:endParaRPr lang="ko-KR" altLang="en-US"/>
          </a:p>
        </p:txBody>
      </p:sp>
      <p:sp>
        <p:nvSpPr>
          <p:cNvPr id="52" name="Shape 50"/>
          <p:cNvSpPr/>
          <p:nvPr/>
        </p:nvSpPr>
        <p:spPr>
          <a:xfrm>
            <a:off x="1190625" y="7510462"/>
            <a:ext cx="1015975" cy="381000"/>
          </a:xfrm>
          <a:prstGeom prst="roundRect">
            <a:avLst>
              <a:gd name="adj" fmla="val 17500"/>
            </a:avLst>
          </a:prstGeom>
          <a:solidFill>
            <a:srgbClr val="E8A317">
              <a:alpha val="12000"/>
            </a:srgbClr>
          </a:solidFill>
          <a:ln w="9525">
            <a:solidFill>
              <a:srgbClr val="E8A317">
                <a:alpha val="38000"/>
              </a:srgbClr>
            </a:solidFill>
            <a:prstDash val="solid"/>
          </a:ln>
        </p:spPr>
        <p:txBody>
          <a:bodyPr/>
          <a:lstStyle/>
          <a:p>
            <a:endParaRPr lang="ko-KR" altLang="en-US"/>
          </a:p>
        </p:txBody>
      </p:sp>
      <p:sp>
        <p:nvSpPr>
          <p:cNvPr id="53" name="Text 51"/>
          <p:cNvSpPr/>
          <p:nvPr/>
        </p:nvSpPr>
        <p:spPr>
          <a:xfrm>
            <a:off x="1333500" y="7558088"/>
            <a:ext cx="806425" cy="32385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500" b="1" kern="0" spc="90" dirty="0">
                <a:solidFill>
                  <a:srgbClr val="EEB143"/>
                </a:solidFill>
                <a:latin typeface="Arial" pitchFamily="34" charset="0"/>
                <a:ea typeface="Arial" pitchFamily="34" charset="-122"/>
                <a:cs typeface="Arial" pitchFamily="34" charset="-120"/>
              </a:rPr>
              <a:t>MAJOR</a:t>
            </a:r>
            <a:endParaRPr lang="en-US" sz="1500" dirty="0"/>
          </a:p>
        </p:txBody>
      </p:sp>
      <p:sp>
        <p:nvSpPr>
          <p:cNvPr id="54" name="Text 52"/>
          <p:cNvSpPr/>
          <p:nvPr/>
        </p:nvSpPr>
        <p:spPr>
          <a:xfrm>
            <a:off x="2454250" y="7543800"/>
            <a:ext cx="548729" cy="352425"/>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650" dirty="0">
                <a:solidFill>
                  <a:srgbClr val="76828F"/>
                </a:solidFill>
                <a:latin typeface="Arial" pitchFamily="34" charset="0"/>
                <a:ea typeface="Arial" pitchFamily="34" charset="-122"/>
                <a:cs typeface="Arial" pitchFamily="34" charset="-120"/>
              </a:rPr>
              <a:t>S106</a:t>
            </a:r>
            <a:endParaRPr lang="en-US" sz="1650" dirty="0"/>
          </a:p>
        </p:txBody>
      </p:sp>
      <p:sp>
        <p:nvSpPr>
          <p:cNvPr id="55" name="Text 53"/>
          <p:cNvSpPr/>
          <p:nvPr/>
        </p:nvSpPr>
        <p:spPr>
          <a:xfrm>
            <a:off x="3174429" y="7522369"/>
            <a:ext cx="5029937" cy="39528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75" dirty="0">
                <a:solidFill>
                  <a:srgbClr val="C8D2DE"/>
                </a:solidFill>
                <a:latin typeface="Arial" pitchFamily="34" charset="0"/>
                <a:ea typeface="Arial" pitchFamily="34" charset="-122"/>
                <a:cs typeface="Arial" pitchFamily="34" charset="-120"/>
              </a:rPr>
              <a:t>Replace this use of System.out by a logger.</a:t>
            </a:r>
            <a:endParaRPr lang="en-US" sz="1875" dirty="0"/>
          </a:p>
        </p:txBody>
      </p:sp>
      <p:sp>
        <p:nvSpPr>
          <p:cNvPr id="56" name="Text 54"/>
          <p:cNvSpPr/>
          <p:nvPr/>
        </p:nvSpPr>
        <p:spPr>
          <a:xfrm>
            <a:off x="10720611" y="7550944"/>
            <a:ext cx="1985241" cy="338138"/>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575" dirty="0">
                <a:solidFill>
                  <a:srgbClr val="76828F"/>
                </a:solidFill>
                <a:latin typeface="Arial" pitchFamily="34" charset="0"/>
                <a:ea typeface="Arial" pitchFamily="34" charset="-122"/>
                <a:cs typeface="Arial" pitchFamily="34" charset="-120"/>
              </a:rPr>
              <a:t>OrderProcessor.java</a:t>
            </a:r>
            <a:endParaRPr lang="en-US" sz="1575" dirty="0"/>
          </a:p>
        </p:txBody>
      </p:sp>
      <p:sp>
        <p:nvSpPr>
          <p:cNvPr id="57" name="Shape 55"/>
          <p:cNvSpPr/>
          <p:nvPr/>
        </p:nvSpPr>
        <p:spPr>
          <a:xfrm>
            <a:off x="809625" y="8882063"/>
            <a:ext cx="12096750" cy="9525"/>
          </a:xfrm>
          <a:prstGeom prst="rect">
            <a:avLst/>
          </a:prstGeom>
          <a:solidFill>
            <a:srgbClr val="222B38"/>
          </a:solidFill>
          <a:ln/>
        </p:spPr>
        <p:txBody>
          <a:bodyPr/>
          <a:lstStyle/>
          <a:p>
            <a:endParaRPr lang="ko-KR" altLang="en-US"/>
          </a:p>
        </p:txBody>
      </p:sp>
      <p:sp>
        <p:nvSpPr>
          <p:cNvPr id="58" name="Shape 56"/>
          <p:cNvSpPr/>
          <p:nvPr/>
        </p:nvSpPr>
        <p:spPr>
          <a:xfrm>
            <a:off x="1190625" y="8301038"/>
            <a:ext cx="960760" cy="381000"/>
          </a:xfrm>
          <a:prstGeom prst="roundRect">
            <a:avLst>
              <a:gd name="adj" fmla="val 17500"/>
            </a:avLst>
          </a:prstGeom>
          <a:solidFill>
            <a:srgbClr val="9AA7B6">
              <a:alpha val="12000"/>
            </a:srgbClr>
          </a:solidFill>
          <a:ln w="9525">
            <a:solidFill>
              <a:srgbClr val="9AA7B6">
                <a:alpha val="30000"/>
              </a:srgbClr>
            </a:solidFill>
            <a:prstDash val="solid"/>
          </a:ln>
        </p:spPr>
        <p:txBody>
          <a:bodyPr/>
          <a:lstStyle/>
          <a:p>
            <a:endParaRPr lang="ko-KR" altLang="en-US"/>
          </a:p>
        </p:txBody>
      </p:sp>
      <p:sp>
        <p:nvSpPr>
          <p:cNvPr id="59" name="Text 57"/>
          <p:cNvSpPr/>
          <p:nvPr/>
        </p:nvSpPr>
        <p:spPr>
          <a:xfrm>
            <a:off x="1333500" y="8348663"/>
            <a:ext cx="751210" cy="32385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500" b="1" kern="0" spc="90" dirty="0">
                <a:solidFill>
                  <a:srgbClr val="9AA7B6"/>
                </a:solidFill>
                <a:latin typeface="Arial" pitchFamily="34" charset="0"/>
                <a:ea typeface="Arial" pitchFamily="34" charset="-122"/>
                <a:cs typeface="Arial" pitchFamily="34" charset="-120"/>
              </a:rPr>
              <a:t>MINOR</a:t>
            </a:r>
            <a:endParaRPr lang="en-US" sz="1500" dirty="0"/>
          </a:p>
        </p:txBody>
      </p:sp>
      <p:sp>
        <p:nvSpPr>
          <p:cNvPr id="60" name="Text 58"/>
          <p:cNvSpPr/>
          <p:nvPr/>
        </p:nvSpPr>
        <p:spPr>
          <a:xfrm>
            <a:off x="2399035" y="8334375"/>
            <a:ext cx="645096" cy="352425"/>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650" dirty="0">
                <a:solidFill>
                  <a:srgbClr val="76828F"/>
                </a:solidFill>
                <a:latin typeface="Arial" pitchFamily="34" charset="0"/>
                <a:ea typeface="Arial" pitchFamily="34" charset="-122"/>
                <a:cs typeface="Arial" pitchFamily="34" charset="-120"/>
              </a:rPr>
              <a:t>S1481</a:t>
            </a:r>
            <a:endParaRPr lang="en-US" sz="1650" dirty="0"/>
          </a:p>
        </p:txBody>
      </p:sp>
      <p:sp>
        <p:nvSpPr>
          <p:cNvPr id="61" name="Text 59"/>
          <p:cNvSpPr/>
          <p:nvPr/>
        </p:nvSpPr>
        <p:spPr>
          <a:xfrm>
            <a:off x="3215580" y="8312944"/>
            <a:ext cx="4748436" cy="39528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75" dirty="0">
                <a:solidFill>
                  <a:srgbClr val="C8D2DE"/>
                </a:solidFill>
                <a:latin typeface="Arial" pitchFamily="34" charset="0"/>
                <a:ea typeface="Arial" pitchFamily="34" charset="-122"/>
                <a:cs typeface="Arial" pitchFamily="34" charset="-120"/>
              </a:rPr>
              <a:t>Remove this unused "tmp" local variable.</a:t>
            </a:r>
            <a:endParaRPr lang="en-US" sz="1875" dirty="0"/>
          </a:p>
        </p:txBody>
      </p:sp>
      <p:sp>
        <p:nvSpPr>
          <p:cNvPr id="62" name="Text 60"/>
          <p:cNvSpPr/>
          <p:nvPr/>
        </p:nvSpPr>
        <p:spPr>
          <a:xfrm>
            <a:off x="10622161" y="8341519"/>
            <a:ext cx="2093535" cy="338138"/>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575" dirty="0">
                <a:solidFill>
                  <a:srgbClr val="76828F"/>
                </a:solidFill>
                <a:latin typeface="Arial" pitchFamily="34" charset="0"/>
                <a:ea typeface="Arial" pitchFamily="34" charset="-122"/>
                <a:cs typeface="Arial" pitchFamily="34" charset="-120"/>
              </a:rPr>
              <a:t>ReportScheduler.java</a:t>
            </a:r>
            <a:endParaRPr lang="en-US" sz="1575" dirty="0"/>
          </a:p>
        </p:txBody>
      </p:sp>
      <p:sp>
        <p:nvSpPr>
          <p:cNvPr id="63" name="Shape 61"/>
          <p:cNvSpPr/>
          <p:nvPr/>
        </p:nvSpPr>
        <p:spPr>
          <a:xfrm>
            <a:off x="1190625" y="9091613"/>
            <a:ext cx="1015975" cy="381000"/>
          </a:xfrm>
          <a:prstGeom prst="roundRect">
            <a:avLst>
              <a:gd name="adj" fmla="val 17500"/>
            </a:avLst>
          </a:prstGeom>
          <a:solidFill>
            <a:srgbClr val="E8A317">
              <a:alpha val="12000"/>
            </a:srgbClr>
          </a:solidFill>
          <a:ln w="9525">
            <a:solidFill>
              <a:srgbClr val="E8A317">
                <a:alpha val="38000"/>
              </a:srgbClr>
            </a:solidFill>
            <a:prstDash val="solid"/>
          </a:ln>
        </p:spPr>
        <p:txBody>
          <a:bodyPr/>
          <a:lstStyle/>
          <a:p>
            <a:endParaRPr lang="ko-KR" altLang="en-US"/>
          </a:p>
        </p:txBody>
      </p:sp>
      <p:sp>
        <p:nvSpPr>
          <p:cNvPr id="64" name="Text 62"/>
          <p:cNvSpPr/>
          <p:nvPr/>
        </p:nvSpPr>
        <p:spPr>
          <a:xfrm>
            <a:off x="1333500" y="9139238"/>
            <a:ext cx="806425" cy="32385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500" b="1" kern="0" spc="90" dirty="0">
                <a:solidFill>
                  <a:srgbClr val="EEB143"/>
                </a:solidFill>
                <a:latin typeface="Arial" pitchFamily="34" charset="0"/>
                <a:ea typeface="Arial" pitchFamily="34" charset="-122"/>
                <a:cs typeface="Arial" pitchFamily="34" charset="-120"/>
              </a:rPr>
              <a:t>MAJOR</a:t>
            </a:r>
            <a:endParaRPr lang="en-US" sz="1500" dirty="0"/>
          </a:p>
        </p:txBody>
      </p:sp>
      <p:sp>
        <p:nvSpPr>
          <p:cNvPr id="65" name="Text 63"/>
          <p:cNvSpPr/>
          <p:nvPr/>
        </p:nvSpPr>
        <p:spPr>
          <a:xfrm>
            <a:off x="2454250" y="9124950"/>
            <a:ext cx="675829" cy="352425"/>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650" dirty="0">
                <a:solidFill>
                  <a:srgbClr val="76828F"/>
                </a:solidFill>
                <a:latin typeface="Arial" pitchFamily="34" charset="0"/>
                <a:ea typeface="Arial" pitchFamily="34" charset="-122"/>
                <a:cs typeface="Arial" pitchFamily="34" charset="-120"/>
              </a:rPr>
              <a:t>S1068</a:t>
            </a:r>
            <a:endParaRPr lang="en-US" sz="1650" dirty="0"/>
          </a:p>
        </p:txBody>
      </p:sp>
      <p:sp>
        <p:nvSpPr>
          <p:cNvPr id="66" name="Text 64"/>
          <p:cNvSpPr/>
          <p:nvPr/>
        </p:nvSpPr>
        <p:spPr>
          <a:xfrm>
            <a:off x="3301529" y="9103519"/>
            <a:ext cx="5583198" cy="39528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75" dirty="0">
                <a:solidFill>
                  <a:srgbClr val="C8D2DE"/>
                </a:solidFill>
                <a:latin typeface="Arial" pitchFamily="34" charset="0"/>
                <a:ea typeface="Arial" pitchFamily="34" charset="-122"/>
                <a:cs typeface="Arial" pitchFamily="34" charset="-120"/>
              </a:rPr>
              <a:t>Remove this unused "legacyClient" private field.</a:t>
            </a:r>
            <a:endParaRPr lang="en-US" sz="1875" dirty="0"/>
          </a:p>
        </p:txBody>
      </p:sp>
      <p:sp>
        <p:nvSpPr>
          <p:cNvPr id="67" name="Text 65"/>
          <p:cNvSpPr/>
          <p:nvPr/>
        </p:nvSpPr>
        <p:spPr>
          <a:xfrm>
            <a:off x="11262122" y="9132094"/>
            <a:ext cx="1389578" cy="338138"/>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575" dirty="0">
                <a:solidFill>
                  <a:srgbClr val="76828F"/>
                </a:solidFill>
                <a:latin typeface="Arial" pitchFamily="34" charset="0"/>
                <a:ea typeface="Arial" pitchFamily="34" charset="-122"/>
                <a:cs typeface="Arial" pitchFamily="34" charset="-120"/>
              </a:rPr>
              <a:t>AuthFilter.java</a:t>
            </a:r>
            <a:endParaRPr lang="en-US" sz="1575" dirty="0"/>
          </a:p>
        </p:txBody>
      </p:sp>
      <p:sp>
        <p:nvSpPr>
          <p:cNvPr id="68" name="Shape 66"/>
          <p:cNvSpPr/>
          <p:nvPr/>
        </p:nvSpPr>
        <p:spPr>
          <a:xfrm>
            <a:off x="0" y="0"/>
            <a:ext cx="13716000" cy="10287000"/>
          </a:xfrm>
          <a:prstGeom prst="rect">
            <a:avLst/>
          </a:prstGeom>
          <a:gradFill rotWithShape="1">
            <a:gsLst>
              <a:gs pos="0">
                <a:srgbClr val="FFFFFF">
                  <a:alpha val="10000"/>
                </a:srgbClr>
              </a:gs>
              <a:gs pos="55000">
                <a:srgbClr val="FFFFFF">
                  <a:alpha val="55000"/>
                </a:srgbClr>
              </a:gs>
              <a:gs pos="100000">
                <a:srgbClr val="FFFFFF">
                  <a:alpha val="96000"/>
                </a:srgbClr>
              </a:gs>
            </a:gsLst>
            <a:lin ang="5400000" scaled="0"/>
          </a:gradFill>
          <a:ln/>
        </p:spPr>
        <p:txBody>
          <a:bodyPr/>
          <a:lstStyle/>
          <a:p>
            <a:endParaRPr lang="ko-KR" altLang="en-US"/>
          </a:p>
        </p:txBody>
      </p:sp>
      <p:sp>
        <p:nvSpPr>
          <p:cNvPr id="69" name="Text 67"/>
          <p:cNvSpPr/>
          <p:nvPr/>
        </p:nvSpPr>
        <p:spPr>
          <a:xfrm>
            <a:off x="800100" y="8130555"/>
            <a:ext cx="13327380" cy="38100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00" b="1" kern="0" spc="144" dirty="0">
                <a:solidFill>
                  <a:srgbClr val="E07F00"/>
                </a:solidFill>
                <a:latin typeface="Arial" pitchFamily="34" charset="0"/>
                <a:ea typeface="Arial" pitchFamily="34" charset="-122"/>
                <a:cs typeface="Arial" pitchFamily="34" charset="-120"/>
              </a:rPr>
              <a:t>도입 </a:t>
            </a:r>
            <a:r>
              <a:rPr lang="en-US" sz="1800" b="1" kern="0" spc="144" dirty="0">
                <a:solidFill>
                  <a:srgbClr val="76828F"/>
                </a:solidFill>
                <a:latin typeface="Arial" pitchFamily="34" charset="0"/>
                <a:ea typeface="Arial" pitchFamily="34" charset="-122"/>
                <a:cs typeface="Arial" pitchFamily="34" charset="-120"/>
              </a:rPr>
              <a:t>· 질문 하나</a:t>
            </a:r>
            <a:endParaRPr lang="en-US" sz="1800" dirty="0"/>
          </a:p>
        </p:txBody>
      </p:sp>
      <p:sp>
        <p:nvSpPr>
          <p:cNvPr id="70" name="Text 68"/>
          <p:cNvSpPr/>
          <p:nvPr/>
        </p:nvSpPr>
        <p:spPr>
          <a:xfrm>
            <a:off x="800100" y="8663955"/>
            <a:ext cx="13327380" cy="861045"/>
          </a:xfrm>
          <a:prstGeom prst="rect">
            <a:avLst/>
          </a:prstGeom>
          <a:noFill/>
          <a:ln/>
        </p:spPr>
        <p:txBody>
          <a:bodyPr wrap="square" lIns="25400" tIns="25400" rIns="25400" bIns="25400" rtlCol="0" anchor="t">
            <a:normAutofit fontScale="92500" lnSpcReduction="10000"/>
          </a:bodyPr>
          <a:lstStyle/>
          <a:p>
            <a:pPr marL="0" indent="0" algn="l">
              <a:lnSpc>
                <a:spcPct val="120000"/>
              </a:lnSpc>
              <a:buNone/>
            </a:pPr>
            <a:r>
              <a:rPr lang="en-US" sz="5400" b="1" kern="0" spc="-81" dirty="0">
                <a:solidFill>
                  <a:srgbClr val="1A212B"/>
                </a:solidFill>
                <a:latin typeface="Arial" pitchFamily="34" charset="0"/>
                <a:ea typeface="Arial" pitchFamily="34" charset="-122"/>
                <a:cs typeface="Arial" pitchFamily="34" charset="-120"/>
              </a:rPr>
              <a:t>이 중 진짜 결함은 몇 개일까요?</a:t>
            </a:r>
            <a:endParaRPr lang="en-US" sz="5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00100" y="762000"/>
            <a:ext cx="1651189" cy="381000"/>
          </a:xfrm>
          <a:prstGeom prst="rect">
            <a:avLst/>
          </a:prstGeom>
          <a:noFill/>
          <a:ln/>
        </p:spPr>
        <p:txBody>
          <a:bodyPr wrap="square" lIns="25400" tIns="25400" rIns="25400" bIns="25400" rtlCol="0" anchor="t">
            <a:normAutofit fontScale="85000" lnSpcReduction="10000"/>
          </a:bodyPr>
          <a:lstStyle/>
          <a:p>
            <a:pPr marL="0" indent="0" algn="l">
              <a:lnSpc>
                <a:spcPct val="150000"/>
              </a:lnSpc>
              <a:buNone/>
            </a:pPr>
            <a:r>
              <a:rPr lang="en-US" sz="1800" b="1" kern="0" spc="144" dirty="0">
                <a:solidFill>
                  <a:srgbClr val="E07F00"/>
                </a:solidFill>
                <a:latin typeface="Arial" pitchFamily="34" charset="0"/>
                <a:ea typeface="Arial" pitchFamily="34" charset="-122"/>
                <a:cs typeface="Arial" pitchFamily="34" charset="-120"/>
              </a:rPr>
              <a:t>1막 </a:t>
            </a:r>
            <a:r>
              <a:rPr lang="en-US" sz="1800" b="1" kern="0" spc="144" dirty="0">
                <a:solidFill>
                  <a:srgbClr val="76828F"/>
                </a:solidFill>
                <a:latin typeface="Arial" pitchFamily="34" charset="0"/>
                <a:ea typeface="Arial" pitchFamily="34" charset="-122"/>
                <a:cs typeface="Arial" pitchFamily="34" charset="-120"/>
              </a:rPr>
              <a:t>· 구현의 벽</a:t>
            </a:r>
            <a:endParaRPr lang="en-US" sz="1800" dirty="0"/>
          </a:p>
        </p:txBody>
      </p:sp>
      <p:sp>
        <p:nvSpPr>
          <p:cNvPr id="3" name="Text 1"/>
          <p:cNvSpPr/>
          <p:nvPr/>
        </p:nvSpPr>
        <p:spPr>
          <a:xfrm>
            <a:off x="800100" y="1314450"/>
            <a:ext cx="8341727" cy="688777"/>
          </a:xfrm>
          <a:prstGeom prst="rect">
            <a:avLst/>
          </a:prstGeom>
          <a:noFill/>
          <a:ln/>
        </p:spPr>
        <p:txBody>
          <a:bodyPr wrap="square" lIns="25400" tIns="25400" rIns="25400" bIns="25400" rtlCol="0" anchor="t">
            <a:normAutofit fontScale="92500" lnSpcReduction="10000"/>
          </a:bodyPr>
          <a:lstStyle/>
          <a:p>
            <a:pPr marL="0" indent="0" algn="l">
              <a:lnSpc>
                <a:spcPct val="122000"/>
              </a:lnSpc>
              <a:buNone/>
            </a:pPr>
            <a:r>
              <a:rPr lang="en-US" sz="4200" b="1" kern="0" spc="-63" dirty="0">
                <a:solidFill>
                  <a:srgbClr val="1A212B"/>
                </a:solidFill>
                <a:latin typeface="Arial" pitchFamily="34" charset="0"/>
                <a:ea typeface="Arial" pitchFamily="34" charset="-122"/>
                <a:cs typeface="Arial" pitchFamily="34" charset="-120"/>
              </a:rPr>
              <a:t>자동화의 벽을 코드로 해결해왔습니다</a:t>
            </a:r>
            <a:endParaRPr lang="en-US" sz="4200" dirty="0"/>
          </a:p>
        </p:txBody>
      </p:sp>
      <p:sp>
        <p:nvSpPr>
          <p:cNvPr id="4" name="Shape 2"/>
          <p:cNvSpPr/>
          <p:nvPr/>
        </p:nvSpPr>
        <p:spPr>
          <a:xfrm>
            <a:off x="800100" y="2384227"/>
            <a:ext cx="5848350" cy="4514850"/>
          </a:xfrm>
          <a:prstGeom prst="roundRect">
            <a:avLst>
              <a:gd name="adj" fmla="val 3376"/>
            </a:avLst>
          </a:prstGeom>
          <a:solidFill>
            <a:srgbClr val="F6F8FB"/>
          </a:solidFill>
          <a:ln w="9525">
            <a:solidFill>
              <a:srgbClr val="D2D9E1"/>
            </a:solidFill>
            <a:prstDash val="solid"/>
          </a:ln>
        </p:spPr>
        <p:txBody>
          <a:bodyPr/>
          <a:lstStyle/>
          <a:p>
            <a:endParaRPr lang="ko-KR" altLang="en-US"/>
          </a:p>
        </p:txBody>
      </p:sp>
      <p:sp>
        <p:nvSpPr>
          <p:cNvPr id="5" name="Shape 3"/>
          <p:cNvSpPr/>
          <p:nvPr/>
        </p:nvSpPr>
        <p:spPr>
          <a:xfrm>
            <a:off x="1171575" y="2717602"/>
            <a:ext cx="5105400" cy="914400"/>
          </a:xfrm>
          <a:prstGeom prst="roundRect">
            <a:avLst>
              <a:gd name="adj" fmla="val 8333"/>
            </a:avLst>
          </a:prstGeom>
          <a:solidFill>
            <a:srgbClr val="E7EBF1"/>
          </a:solidFill>
          <a:ln w="9525">
            <a:solidFill>
              <a:srgbClr val="C2CCD6"/>
            </a:solidFill>
            <a:prstDash val="solid"/>
          </a:ln>
        </p:spPr>
        <p:txBody>
          <a:bodyPr/>
          <a:lstStyle/>
          <a:p>
            <a:endParaRPr lang="ko-KR" altLang="en-US"/>
          </a:p>
        </p:txBody>
      </p:sp>
      <p:sp>
        <p:nvSpPr>
          <p:cNvPr id="6" name="Shape 4"/>
          <p:cNvSpPr/>
          <p:nvPr/>
        </p:nvSpPr>
        <p:spPr>
          <a:xfrm>
            <a:off x="3326681" y="2936677"/>
            <a:ext cx="795189" cy="476250"/>
          </a:xfrm>
          <a:prstGeom prst="roundRect">
            <a:avLst>
              <a:gd name="adj" fmla="val 16000"/>
            </a:avLst>
          </a:prstGeom>
          <a:solidFill>
            <a:srgbClr val="FFFFFF"/>
          </a:solidFill>
          <a:ln w="9525">
            <a:solidFill>
              <a:srgbClr val="AAC8E4"/>
            </a:solidFill>
            <a:prstDash val="solid"/>
          </a:ln>
        </p:spPr>
        <p:txBody>
          <a:bodyPr/>
          <a:lstStyle/>
          <a:p>
            <a:endParaRPr lang="ko-KR" altLang="en-US"/>
          </a:p>
        </p:txBody>
      </p:sp>
      <p:sp>
        <p:nvSpPr>
          <p:cNvPr id="7" name="Text 5"/>
          <p:cNvSpPr/>
          <p:nvPr/>
        </p:nvSpPr>
        <p:spPr>
          <a:xfrm>
            <a:off x="3526706" y="3003352"/>
            <a:ext cx="471339" cy="381000"/>
          </a:xfrm>
          <a:prstGeom prst="rect">
            <a:avLst/>
          </a:prstGeom>
          <a:noFill/>
          <a:ln/>
        </p:spPr>
        <p:txBody>
          <a:bodyPr wrap="square" lIns="25400" tIns="25400" rIns="25400" bIns="25400" rtlCol="0" anchor="t">
            <a:normAutofit fontScale="85000" lnSpcReduction="10000"/>
          </a:bodyPr>
          <a:lstStyle/>
          <a:p>
            <a:pPr marL="0" indent="0" algn="l">
              <a:lnSpc>
                <a:spcPct val="150000"/>
              </a:lnSpc>
              <a:buNone/>
            </a:pPr>
            <a:r>
              <a:rPr lang="en-US" sz="1800" b="1" dirty="0">
                <a:solidFill>
                  <a:srgbClr val="2272C3"/>
                </a:solidFill>
                <a:latin typeface="Arial" pitchFamily="34" charset="0"/>
                <a:ea typeface="Arial" pitchFamily="34" charset="-122"/>
                <a:cs typeface="Arial" pitchFamily="34" charset="-120"/>
              </a:rPr>
              <a:t>우회</a:t>
            </a:r>
            <a:endParaRPr lang="en-US" sz="1800" dirty="0"/>
          </a:p>
        </p:txBody>
      </p:sp>
      <p:sp>
        <p:nvSpPr>
          <p:cNvPr id="8" name="Text 6"/>
          <p:cNvSpPr/>
          <p:nvPr/>
        </p:nvSpPr>
        <p:spPr>
          <a:xfrm>
            <a:off x="1171575" y="3936802"/>
            <a:ext cx="5615940" cy="56673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2775" b="1" dirty="0">
                <a:solidFill>
                  <a:srgbClr val="1A212B"/>
                </a:solidFill>
                <a:latin typeface="Arial" pitchFamily="34" charset="0"/>
                <a:ea typeface="Arial" pitchFamily="34" charset="-122"/>
                <a:cs typeface="Arial" pitchFamily="34" charset="-120"/>
              </a:rPr>
              <a:t>인증의 벽 — SMS · OTP · 패스키</a:t>
            </a:r>
            <a:endParaRPr lang="en-US" sz="2775" dirty="0"/>
          </a:p>
        </p:txBody>
      </p:sp>
      <p:sp>
        <p:nvSpPr>
          <p:cNvPr id="9" name="Text 7"/>
          <p:cNvSpPr/>
          <p:nvPr/>
        </p:nvSpPr>
        <p:spPr>
          <a:xfrm>
            <a:off x="1171574" y="4579739"/>
            <a:ext cx="5615939" cy="140970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2400" dirty="0">
                <a:solidFill>
                  <a:srgbClr val="51606D"/>
                </a:solidFill>
                <a:latin typeface="Arial" pitchFamily="34" charset="0"/>
                <a:ea typeface="Arial" pitchFamily="34" charset="-122"/>
                <a:cs typeface="Arial" pitchFamily="34" charset="-120"/>
              </a:rPr>
              <a:t>자동화를 가로막는 인증 단계를 우회·돌파. OTP 메일을 테스트가 직접 읽어 진행하도록 합니다.</a:t>
            </a:r>
            <a:endParaRPr lang="en-US" sz="2400" dirty="0"/>
          </a:p>
        </p:txBody>
      </p:sp>
      <p:sp>
        <p:nvSpPr>
          <p:cNvPr id="10" name="Text 8"/>
          <p:cNvSpPr/>
          <p:nvPr/>
        </p:nvSpPr>
        <p:spPr>
          <a:xfrm>
            <a:off x="1171575" y="6237089"/>
            <a:ext cx="5615940" cy="366713"/>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725" dirty="0">
                <a:solidFill>
                  <a:srgbClr val="76828F"/>
                </a:solidFill>
                <a:latin typeface="Arial" pitchFamily="34" charset="0"/>
                <a:ea typeface="Arial" pitchFamily="34" charset="-122"/>
                <a:cs typeface="Arial" pitchFamily="34" charset="-120"/>
              </a:rPr>
              <a:t>github.com/baekchangjoon/MailosaurDemo</a:t>
            </a:r>
            <a:endParaRPr lang="en-US" sz="1725" dirty="0"/>
          </a:p>
        </p:txBody>
      </p:sp>
      <p:sp>
        <p:nvSpPr>
          <p:cNvPr id="11" name="Shape 9"/>
          <p:cNvSpPr/>
          <p:nvPr/>
        </p:nvSpPr>
        <p:spPr>
          <a:xfrm>
            <a:off x="7067550" y="2384551"/>
            <a:ext cx="5848350" cy="4514850"/>
          </a:xfrm>
          <a:prstGeom prst="roundRect">
            <a:avLst>
              <a:gd name="adj" fmla="val 3376"/>
            </a:avLst>
          </a:prstGeom>
          <a:solidFill>
            <a:srgbClr val="F6F8FB"/>
          </a:solidFill>
          <a:ln w="9525">
            <a:solidFill>
              <a:srgbClr val="D2D9E1"/>
            </a:solidFill>
            <a:prstDash val="solid"/>
          </a:ln>
        </p:spPr>
        <p:txBody>
          <a:bodyPr/>
          <a:lstStyle/>
          <a:p>
            <a:endParaRPr lang="ko-KR" altLang="en-US"/>
          </a:p>
        </p:txBody>
      </p:sp>
      <p:sp>
        <p:nvSpPr>
          <p:cNvPr id="12" name="Shape 10"/>
          <p:cNvSpPr/>
          <p:nvPr/>
        </p:nvSpPr>
        <p:spPr>
          <a:xfrm>
            <a:off x="7439025" y="2717926"/>
            <a:ext cx="5105400" cy="914400"/>
          </a:xfrm>
          <a:prstGeom prst="roundRect">
            <a:avLst>
              <a:gd name="adj" fmla="val 8333"/>
            </a:avLst>
          </a:prstGeom>
          <a:solidFill>
            <a:srgbClr val="E7EBF1"/>
          </a:solidFill>
          <a:ln w="9525">
            <a:solidFill>
              <a:srgbClr val="C2CCD6"/>
            </a:solidFill>
            <a:prstDash val="solid"/>
          </a:ln>
        </p:spPr>
        <p:txBody>
          <a:bodyPr/>
          <a:lstStyle/>
          <a:p>
            <a:endParaRPr lang="ko-KR" altLang="en-US"/>
          </a:p>
        </p:txBody>
      </p:sp>
      <p:sp>
        <p:nvSpPr>
          <p:cNvPr id="13" name="Shape 11"/>
          <p:cNvSpPr/>
          <p:nvPr/>
        </p:nvSpPr>
        <p:spPr>
          <a:xfrm>
            <a:off x="9370144" y="2937001"/>
            <a:ext cx="1243161" cy="476250"/>
          </a:xfrm>
          <a:prstGeom prst="roundRect">
            <a:avLst>
              <a:gd name="adj" fmla="val 16000"/>
            </a:avLst>
          </a:prstGeom>
          <a:solidFill>
            <a:srgbClr val="FFFFFF"/>
          </a:solidFill>
          <a:ln w="9525">
            <a:solidFill>
              <a:srgbClr val="AAC8E4"/>
            </a:solidFill>
            <a:prstDash val="solid"/>
          </a:ln>
        </p:spPr>
        <p:txBody>
          <a:bodyPr/>
          <a:lstStyle/>
          <a:p>
            <a:endParaRPr lang="ko-KR" altLang="en-US"/>
          </a:p>
        </p:txBody>
      </p:sp>
      <p:sp>
        <p:nvSpPr>
          <p:cNvPr id="14" name="Text 12"/>
          <p:cNvSpPr/>
          <p:nvPr/>
        </p:nvSpPr>
        <p:spPr>
          <a:xfrm>
            <a:off x="9570169" y="3003676"/>
            <a:ext cx="919311" cy="381000"/>
          </a:xfrm>
          <a:prstGeom prst="rect">
            <a:avLst/>
          </a:prstGeom>
          <a:noFill/>
          <a:ln/>
        </p:spPr>
        <p:txBody>
          <a:bodyPr wrap="square" lIns="25400" tIns="25400" rIns="25400" bIns="25400" rtlCol="0" anchor="t">
            <a:normAutofit fontScale="85000" lnSpcReduction="10000"/>
          </a:bodyPr>
          <a:lstStyle/>
          <a:p>
            <a:pPr marL="0" indent="0" algn="l">
              <a:lnSpc>
                <a:spcPct val="150000"/>
              </a:lnSpc>
              <a:buNone/>
            </a:pPr>
            <a:r>
              <a:rPr lang="en-US" sz="1800" b="1" dirty="0">
                <a:solidFill>
                  <a:srgbClr val="2272C3"/>
                </a:solidFill>
                <a:latin typeface="Arial" pitchFamily="34" charset="0"/>
                <a:ea typeface="Arial" pitchFamily="34" charset="-122"/>
                <a:cs typeface="Arial" pitchFamily="34" charset="-120"/>
              </a:rPr>
              <a:t>직접 제작</a:t>
            </a:r>
            <a:endParaRPr lang="en-US" sz="1800" dirty="0"/>
          </a:p>
        </p:txBody>
      </p:sp>
      <p:sp>
        <p:nvSpPr>
          <p:cNvPr id="15" name="Text 13"/>
          <p:cNvSpPr/>
          <p:nvPr/>
        </p:nvSpPr>
        <p:spPr>
          <a:xfrm>
            <a:off x="7439025" y="3937126"/>
            <a:ext cx="5615940" cy="56673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2775" b="1" dirty="0">
                <a:solidFill>
                  <a:srgbClr val="1A212B"/>
                </a:solidFill>
                <a:latin typeface="Arial" pitchFamily="34" charset="0"/>
                <a:ea typeface="Arial" pitchFamily="34" charset="-122"/>
                <a:cs typeface="Arial" pitchFamily="34" charset="-120"/>
              </a:rPr>
              <a:t>도구의 벽 — 커스텀 브라우저</a:t>
            </a:r>
            <a:endParaRPr lang="en-US" sz="2775" dirty="0"/>
          </a:p>
        </p:txBody>
      </p:sp>
      <p:sp>
        <p:nvSpPr>
          <p:cNvPr id="16" name="Text 14"/>
          <p:cNvSpPr/>
          <p:nvPr/>
        </p:nvSpPr>
        <p:spPr>
          <a:xfrm>
            <a:off x="7439025" y="4580064"/>
            <a:ext cx="5258562" cy="95250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2400" dirty="0">
                <a:solidFill>
                  <a:srgbClr val="51606D"/>
                </a:solidFill>
                <a:latin typeface="Arial" pitchFamily="34" charset="0"/>
                <a:ea typeface="Arial" pitchFamily="34" charset="-122"/>
                <a:cs typeface="Arial" pitchFamily="34" charset="-120"/>
              </a:rPr>
              <a:t>상용 자동화 툴이 너무 비싸서, CDP 기반 자동화 도구를 직접 만들어 돌파.</a:t>
            </a:r>
            <a:endParaRPr lang="en-US" sz="2400" dirty="0"/>
          </a:p>
        </p:txBody>
      </p:sp>
      <p:sp>
        <p:nvSpPr>
          <p:cNvPr id="17" name="Text 15"/>
          <p:cNvSpPr/>
          <p:nvPr/>
        </p:nvSpPr>
        <p:spPr>
          <a:xfrm>
            <a:off x="7439025" y="5780213"/>
            <a:ext cx="5258562" cy="695325"/>
          </a:xfrm>
          <a:prstGeom prst="rect">
            <a:avLst/>
          </a:prstGeom>
          <a:noFill/>
          <a:ln/>
        </p:spPr>
        <p:txBody>
          <a:bodyPr wrap="square" lIns="25400" tIns="25400" rIns="25400" bIns="25400" rtlCol="0" anchor="t">
            <a:normAutofit fontScale="92500"/>
          </a:bodyPr>
          <a:lstStyle/>
          <a:p>
            <a:pPr marL="0" indent="0" algn="l">
              <a:lnSpc>
                <a:spcPct val="150000"/>
              </a:lnSpc>
              <a:buNone/>
            </a:pPr>
            <a:r>
              <a:rPr lang="en-US" sz="1725" dirty="0">
                <a:solidFill>
                  <a:srgbClr val="76828F"/>
                </a:solidFill>
                <a:latin typeface="Arial" pitchFamily="34" charset="0"/>
                <a:ea typeface="Arial" pitchFamily="34" charset="-122"/>
                <a:cs typeface="Arial" pitchFamily="34" charset="-120"/>
              </a:rPr>
              <a:t>github.com/baekchangjoon/CEF-Browser · -Playwright</a:t>
            </a:r>
            <a:endParaRPr lang="en-US" sz="1725" dirty="0"/>
          </a:p>
        </p:txBody>
      </p:sp>
      <p:sp>
        <p:nvSpPr>
          <p:cNvPr id="18" name="Text 16"/>
          <p:cNvSpPr/>
          <p:nvPr/>
        </p:nvSpPr>
        <p:spPr>
          <a:xfrm>
            <a:off x="800100" y="7360729"/>
            <a:ext cx="7184373" cy="566738"/>
          </a:xfrm>
          <a:prstGeom prst="rect">
            <a:avLst/>
          </a:prstGeom>
          <a:noFill/>
          <a:ln/>
        </p:spPr>
        <p:txBody>
          <a:bodyPr wrap="square" lIns="25400" tIns="25400" rIns="25400" bIns="25400" rtlCol="0" anchor="t">
            <a:normAutofit fontScale="85000" lnSpcReduction="10000"/>
          </a:bodyPr>
          <a:lstStyle/>
          <a:p>
            <a:pPr marL="0" indent="0" algn="l">
              <a:lnSpc>
                <a:spcPct val="150000"/>
              </a:lnSpc>
              <a:buNone/>
            </a:pPr>
            <a:r>
              <a:rPr lang="en-US" sz="2775" b="1" dirty="0">
                <a:solidFill>
                  <a:srgbClr val="1A212B"/>
                </a:solidFill>
                <a:latin typeface="Arial" pitchFamily="34" charset="0"/>
                <a:ea typeface="Arial" pitchFamily="34" charset="-122"/>
                <a:cs typeface="Arial" pitchFamily="34" charset="-120"/>
              </a:rPr>
              <a:t>"방법은 알았습니다. 구현이 어려웠을 뿐입니다."</a:t>
            </a:r>
            <a:endParaRPr lang="en-US" sz="2775" dirty="0"/>
          </a:p>
        </p:txBody>
      </p:sp>
      <p:sp>
        <p:nvSpPr>
          <p:cNvPr id="19" name="Text 17"/>
          <p:cNvSpPr/>
          <p:nvPr/>
        </p:nvSpPr>
        <p:spPr>
          <a:xfrm>
            <a:off x="7559948" y="7360729"/>
            <a:ext cx="2211489" cy="566738"/>
          </a:xfrm>
          <a:prstGeom prst="rect">
            <a:avLst/>
          </a:prstGeom>
          <a:noFill/>
          <a:ln/>
        </p:spPr>
        <p:txBody>
          <a:bodyPr wrap="square" lIns="25400" tIns="25400" rIns="25400" bIns="25400" rtlCol="0" anchor="t">
            <a:normAutofit fontScale="85000" lnSpcReduction="10000"/>
          </a:bodyPr>
          <a:lstStyle/>
          <a:p>
            <a:pPr marL="0" indent="0" algn="l">
              <a:lnSpc>
                <a:spcPct val="150000"/>
              </a:lnSpc>
              <a:buNone/>
            </a:pPr>
            <a:r>
              <a:rPr lang="en-US" sz="2775" b="1" dirty="0">
                <a:solidFill>
                  <a:srgbClr val="2272C3"/>
                </a:solidFill>
                <a:latin typeface="Arial" pitchFamily="34" charset="0"/>
                <a:ea typeface="Arial" pitchFamily="34" charset="-122"/>
                <a:cs typeface="Arial" pitchFamily="34" charset="-120"/>
              </a:rPr>
              <a:t>→ 코드로 해결</a:t>
            </a:r>
            <a:endParaRPr lang="en-US" sz="2775" dirty="0"/>
          </a:p>
        </p:txBody>
      </p:sp>
      <p:sp>
        <p:nvSpPr>
          <p:cNvPr id="20" name="Text 18"/>
          <p:cNvSpPr/>
          <p:nvPr/>
        </p:nvSpPr>
        <p:spPr>
          <a:xfrm>
            <a:off x="800100" y="9505950"/>
            <a:ext cx="3694547" cy="32385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500" kern="0" spc="60" dirty="0">
                <a:solidFill>
                  <a:srgbClr val="76828F"/>
                </a:solidFill>
                <a:latin typeface="Arial" pitchFamily="34" charset="0"/>
                <a:ea typeface="Arial" pitchFamily="34" charset="-122"/>
                <a:cs typeface="Arial" pitchFamily="34" charset="-120"/>
              </a:rPr>
              <a:t>AWSKRUG 마곡 · LLM in the test loop</a:t>
            </a:r>
            <a:endParaRPr lang="en-US" sz="1500" dirty="0"/>
          </a:p>
        </p:txBody>
      </p:sp>
      <p:sp>
        <p:nvSpPr>
          <p:cNvPr id="21" name="Text 19"/>
          <p:cNvSpPr/>
          <p:nvPr/>
        </p:nvSpPr>
        <p:spPr>
          <a:xfrm>
            <a:off x="6463903" y="9505950"/>
            <a:ext cx="7097197" cy="32385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500" kern="0" spc="60" dirty="0">
                <a:solidFill>
                  <a:srgbClr val="76828F"/>
                </a:solidFill>
                <a:latin typeface="Arial" pitchFamily="34" charset="0"/>
                <a:ea typeface="Arial" pitchFamily="34" charset="-122"/>
                <a:cs typeface="Arial" pitchFamily="34" charset="-120"/>
              </a:rPr>
              <a:t>기법 정리: </a:t>
            </a:r>
            <a:r>
              <a:rPr lang="en-US" sz="1500" u="sng" kern="0" spc="60" dirty="0">
                <a:solidFill>
                  <a:srgbClr val="76828F"/>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medium.com/@changjoon-baek </a:t>
            </a:r>
            <a:r>
              <a:rPr lang="en-US" sz="1500" kern="0" spc="60" dirty="0">
                <a:solidFill>
                  <a:srgbClr val="76828F"/>
                </a:solidFill>
                <a:latin typeface="Arial" pitchFamily="34" charset="0"/>
                <a:ea typeface="Arial" pitchFamily="34" charset="-122"/>
                <a:cs typeface="Arial" pitchFamily="34" charset="-120"/>
              </a:rPr>
              <a:t>· </a:t>
            </a:r>
            <a:r>
              <a:rPr lang="en-US" sz="1500" u="sng" kern="0" spc="60" dirty="0">
                <a:solidFill>
                  <a:srgbClr val="76828F"/>
                </a:solidFill>
                <a:latin typeface="Arial" pitchFamily="34" charset="0"/>
                <a:ea typeface="Arial" pitchFamily="34" charset="-122"/>
                <a:cs typeface="Arial" pitchFamily="34" charset="-120"/>
                <a:hlinkClick r:id="rId4">
                  <a:extLst>
                    <a:ext uri="{A12FA001-AC4F-418D-AE19-62706E023703}">
                      <ahyp:hlinkClr xmlns:ahyp="http://schemas.microsoft.com/office/drawing/2018/hyperlinkcolor" val="tx"/>
                    </a:ext>
                  </a:extLst>
                </a:hlinkClick>
              </a:rPr>
              <a:t>github.com/baekchangjoon</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a:alphaModFix amt="45000"/>
            <a:extLst>
              <a:ext uri="{96DAC541-7B7A-43D3-8B79-37D633B846F1}">
                <asvg:svgBlip xmlns:asvg="http://schemas.microsoft.com/office/drawing/2016/SVG/main" r:embed="rId3"/>
              </a:ext>
            </a:extLst>
          </a:blip>
          <a:stretch>
            <a:fillRect/>
          </a:stretch>
        </p:blipFill>
        <p:spPr>
          <a:xfrm>
            <a:off x="7715250" y="4381500"/>
            <a:ext cx="4953000" cy="5905500"/>
          </a:xfrm>
          <a:prstGeom prst="rect">
            <a:avLst/>
          </a:prstGeom>
        </p:spPr>
      </p:pic>
      <p:sp>
        <p:nvSpPr>
          <p:cNvPr id="3" name="Text 0"/>
          <p:cNvSpPr/>
          <p:nvPr/>
        </p:nvSpPr>
        <p:spPr>
          <a:xfrm>
            <a:off x="800100" y="3597101"/>
            <a:ext cx="11114417" cy="38100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00" b="1" kern="0" spc="144" dirty="0">
                <a:solidFill>
                  <a:srgbClr val="E07F00"/>
                </a:solidFill>
                <a:latin typeface="Arial" pitchFamily="34" charset="0"/>
                <a:ea typeface="Arial" pitchFamily="34" charset="-122"/>
                <a:cs typeface="Arial" pitchFamily="34" charset="-120"/>
              </a:rPr>
              <a:t>전환</a:t>
            </a:r>
            <a:endParaRPr lang="en-US" sz="1800" dirty="0"/>
          </a:p>
        </p:txBody>
      </p:sp>
      <p:sp>
        <p:nvSpPr>
          <p:cNvPr id="4" name="Text 1"/>
          <p:cNvSpPr/>
          <p:nvPr/>
        </p:nvSpPr>
        <p:spPr>
          <a:xfrm>
            <a:off x="800100" y="4149551"/>
            <a:ext cx="11114417" cy="830535"/>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4800" b="1" kern="0" spc="-72" dirty="0">
                <a:solidFill>
                  <a:srgbClr val="1A212B"/>
                </a:solidFill>
                <a:latin typeface="Arial" pitchFamily="34" charset="0"/>
                <a:ea typeface="Arial" pitchFamily="34" charset="-122"/>
                <a:cs typeface="Arial" pitchFamily="34" charset="-120"/>
              </a:rPr>
              <a:t>그런데, 코드로 </a:t>
            </a:r>
            <a:r>
              <a:rPr lang="en-US" sz="4800" b="1" kern="0" spc="-72" dirty="0">
                <a:solidFill>
                  <a:srgbClr val="E07F00"/>
                </a:solidFill>
                <a:latin typeface="Arial" pitchFamily="34" charset="0"/>
                <a:ea typeface="Arial" pitchFamily="34" charset="-122"/>
                <a:cs typeface="Arial" pitchFamily="34" charset="-120"/>
              </a:rPr>
              <a:t>해결 못하는</a:t>
            </a:r>
            <a:r>
              <a:rPr lang="en-US" sz="4800" b="1" kern="0" spc="-72" dirty="0">
                <a:solidFill>
                  <a:srgbClr val="1A212B"/>
                </a:solidFill>
                <a:latin typeface="Arial" pitchFamily="34" charset="0"/>
                <a:ea typeface="Arial" pitchFamily="34" charset="-122"/>
                <a:cs typeface="Arial" pitchFamily="34" charset="-120"/>
              </a:rPr>
              <a:t> 벽이 있었습니다</a:t>
            </a:r>
            <a:endParaRPr lang="en-US" sz="4800" dirty="0"/>
          </a:p>
        </p:txBody>
      </p:sp>
      <p:sp>
        <p:nvSpPr>
          <p:cNvPr id="5" name="Shape 2"/>
          <p:cNvSpPr/>
          <p:nvPr/>
        </p:nvSpPr>
        <p:spPr>
          <a:xfrm>
            <a:off x="800100" y="5475736"/>
            <a:ext cx="38100" cy="1290638"/>
          </a:xfrm>
          <a:prstGeom prst="rect">
            <a:avLst/>
          </a:prstGeom>
          <a:solidFill>
            <a:srgbClr val="E07F00"/>
          </a:solidFill>
          <a:ln/>
        </p:spPr>
        <p:txBody>
          <a:bodyPr/>
          <a:lstStyle/>
          <a:p>
            <a:endParaRPr lang="ko-KR" altLang="en-US"/>
          </a:p>
        </p:txBody>
      </p:sp>
      <p:sp>
        <p:nvSpPr>
          <p:cNvPr id="6" name="Text 3"/>
          <p:cNvSpPr/>
          <p:nvPr/>
        </p:nvSpPr>
        <p:spPr>
          <a:xfrm>
            <a:off x="1219200" y="5551936"/>
            <a:ext cx="10653407" cy="56673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2775" b="1" dirty="0">
                <a:solidFill>
                  <a:srgbClr val="1A212B"/>
                </a:solidFill>
                <a:latin typeface="Arial" pitchFamily="34" charset="0"/>
                <a:ea typeface="Arial" pitchFamily="34" charset="-122"/>
                <a:cs typeface="Arial" pitchFamily="34" charset="-120"/>
              </a:rPr>
              <a:t>"이 경고가 진짜인가, 헛것인가" 하는 판단.</a:t>
            </a:r>
            <a:endParaRPr lang="en-US" sz="2775" dirty="0"/>
          </a:p>
        </p:txBody>
      </p:sp>
      <p:sp>
        <p:nvSpPr>
          <p:cNvPr id="7" name="Text 4"/>
          <p:cNvSpPr/>
          <p:nvPr/>
        </p:nvSpPr>
        <p:spPr>
          <a:xfrm>
            <a:off x="1219200" y="6232973"/>
            <a:ext cx="10653407" cy="49530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2400" dirty="0">
                <a:solidFill>
                  <a:srgbClr val="51606D"/>
                </a:solidFill>
                <a:latin typeface="Arial" pitchFamily="34" charset="0"/>
                <a:ea typeface="Arial" pitchFamily="34" charset="-122"/>
                <a:cs typeface="Arial" pitchFamily="34" charset="-120"/>
              </a:rPr>
              <a:t>사람이 봐야 했고, 자동화 파이프라인은 더 이상 흐를 수 없었습니다.</a:t>
            </a:r>
            <a:endParaRPr lang="en-US" sz="2400" dirty="0"/>
          </a:p>
        </p:txBody>
      </p:sp>
    </p:spTree>
    <p:extLst>
      <p:ext uri="{BB962C8B-B14F-4D97-AF65-F5344CB8AC3E}">
        <p14:creationId xmlns:p14="http://schemas.microsoft.com/office/powerpoint/2010/main" val="2762354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00100" y="762000"/>
            <a:ext cx="939701" cy="381000"/>
          </a:xfrm>
          <a:prstGeom prst="rect">
            <a:avLst/>
          </a:prstGeom>
          <a:noFill/>
          <a:ln/>
        </p:spPr>
        <p:txBody>
          <a:bodyPr wrap="square" lIns="25400" tIns="25400" rIns="25400" bIns="25400" rtlCol="0" anchor="t">
            <a:normAutofit fontScale="85000" lnSpcReduction="10000"/>
          </a:bodyPr>
          <a:lstStyle/>
          <a:p>
            <a:pPr marL="0" indent="0" algn="l">
              <a:lnSpc>
                <a:spcPct val="150000"/>
              </a:lnSpc>
              <a:buNone/>
            </a:pPr>
            <a:r>
              <a:rPr lang="en-US" sz="1800" b="1" kern="0" spc="144" dirty="0">
                <a:solidFill>
                  <a:srgbClr val="E07F00"/>
                </a:solidFill>
                <a:latin typeface="Arial" pitchFamily="34" charset="0"/>
                <a:ea typeface="Arial" pitchFamily="34" charset="-122"/>
                <a:cs typeface="Arial" pitchFamily="34" charset="-120"/>
              </a:rPr>
              <a:t>멘탈모델</a:t>
            </a:r>
            <a:endParaRPr lang="en-US" sz="1800" dirty="0"/>
          </a:p>
        </p:txBody>
      </p:sp>
      <p:sp>
        <p:nvSpPr>
          <p:cNvPr id="3" name="Text 1"/>
          <p:cNvSpPr/>
          <p:nvPr/>
        </p:nvSpPr>
        <p:spPr>
          <a:xfrm>
            <a:off x="800100" y="1314450"/>
            <a:ext cx="5615694" cy="688777"/>
          </a:xfrm>
          <a:prstGeom prst="rect">
            <a:avLst/>
          </a:prstGeom>
          <a:noFill/>
          <a:ln/>
        </p:spPr>
        <p:txBody>
          <a:bodyPr wrap="square" lIns="25400" tIns="25400" rIns="25400" bIns="25400" rtlCol="0" anchor="t">
            <a:normAutofit fontScale="92500" lnSpcReduction="10000"/>
          </a:bodyPr>
          <a:lstStyle/>
          <a:p>
            <a:pPr marL="0" indent="0" algn="l">
              <a:lnSpc>
                <a:spcPct val="122000"/>
              </a:lnSpc>
              <a:buNone/>
            </a:pPr>
            <a:r>
              <a:rPr lang="en-US" sz="4200" b="1" kern="0" spc="-63" dirty="0">
                <a:solidFill>
                  <a:srgbClr val="1A212B"/>
                </a:solidFill>
                <a:latin typeface="Arial" pitchFamily="34" charset="0"/>
                <a:ea typeface="Arial" pitchFamily="34" charset="-122"/>
                <a:cs typeface="Arial" pitchFamily="34" charset="-120"/>
              </a:rPr>
              <a:t>벽은 두 종류, 그리고 경계</a:t>
            </a:r>
            <a:endParaRPr lang="en-US" sz="4200" dirty="0"/>
          </a:p>
        </p:txBody>
      </p:sp>
      <p:sp>
        <p:nvSpPr>
          <p:cNvPr id="4" name="Shape 2"/>
          <p:cNvSpPr/>
          <p:nvPr/>
        </p:nvSpPr>
        <p:spPr>
          <a:xfrm>
            <a:off x="800100" y="3812977"/>
            <a:ext cx="3762598" cy="1428750"/>
          </a:xfrm>
          <a:prstGeom prst="roundRect">
            <a:avLst>
              <a:gd name="adj" fmla="val 5333"/>
            </a:avLst>
          </a:prstGeom>
          <a:solidFill>
            <a:srgbClr val="E7EBF1"/>
          </a:solidFill>
          <a:ln w="9525">
            <a:solidFill>
              <a:srgbClr val="C2CCD6"/>
            </a:solidFill>
            <a:prstDash val="solid"/>
          </a:ln>
        </p:spPr>
        <p:txBody>
          <a:bodyPr/>
          <a:lstStyle/>
          <a:p>
            <a:endParaRPr lang="ko-KR" altLang="en-US"/>
          </a:p>
        </p:txBody>
      </p:sp>
      <p:sp>
        <p:nvSpPr>
          <p:cNvPr id="5" name="Text 3"/>
          <p:cNvSpPr/>
          <p:nvPr/>
        </p:nvSpPr>
        <p:spPr>
          <a:xfrm>
            <a:off x="800100" y="5527477"/>
            <a:ext cx="4138858" cy="56673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2775" b="1" dirty="0">
                <a:solidFill>
                  <a:srgbClr val="1A212B"/>
                </a:solidFill>
                <a:latin typeface="Arial" pitchFamily="34" charset="0"/>
                <a:ea typeface="Arial" pitchFamily="34" charset="-122"/>
                <a:cs typeface="Arial" pitchFamily="34" charset="-120"/>
              </a:rPr>
              <a:t>① 구현의 벽</a:t>
            </a:r>
            <a:endParaRPr lang="en-US" sz="2775" dirty="0"/>
          </a:p>
        </p:txBody>
      </p:sp>
      <p:sp>
        <p:nvSpPr>
          <p:cNvPr id="6" name="Text 4"/>
          <p:cNvSpPr/>
          <p:nvPr/>
        </p:nvSpPr>
        <p:spPr>
          <a:xfrm>
            <a:off x="800100" y="6170414"/>
            <a:ext cx="3875476" cy="776287"/>
          </a:xfrm>
          <a:prstGeom prst="rect">
            <a:avLst/>
          </a:prstGeom>
          <a:noFill/>
          <a:ln/>
        </p:spPr>
        <p:txBody>
          <a:bodyPr wrap="square" lIns="25400" tIns="25400" rIns="25400" bIns="25400" rtlCol="0" anchor="t">
            <a:normAutofit fontScale="92500"/>
          </a:bodyPr>
          <a:lstStyle/>
          <a:p>
            <a:pPr marL="0" indent="0" algn="l">
              <a:lnSpc>
                <a:spcPct val="155000"/>
              </a:lnSpc>
              <a:buNone/>
            </a:pPr>
            <a:r>
              <a:rPr lang="en-US" sz="1875" dirty="0">
                <a:solidFill>
                  <a:srgbClr val="51606D"/>
                </a:solidFill>
                <a:latin typeface="Arial" pitchFamily="34" charset="0"/>
                <a:ea typeface="Arial" pitchFamily="34" charset="-122"/>
                <a:cs typeface="Arial" pitchFamily="34" charset="-120"/>
              </a:rPr>
              <a:t>방법은 압니다, 구현이 어려울 뿐입니다.</a:t>
            </a:r>
            <a:endParaRPr lang="en-US" sz="1875" dirty="0"/>
          </a:p>
        </p:txBody>
      </p:sp>
      <p:sp>
        <p:nvSpPr>
          <p:cNvPr id="7" name="Shape 5"/>
          <p:cNvSpPr/>
          <p:nvPr/>
        </p:nvSpPr>
        <p:spPr>
          <a:xfrm>
            <a:off x="800100" y="7696200"/>
            <a:ext cx="1835869" cy="514350"/>
          </a:xfrm>
          <a:prstGeom prst="roundRect">
            <a:avLst>
              <a:gd name="adj" fmla="val 16667"/>
            </a:avLst>
          </a:prstGeom>
          <a:solidFill>
            <a:srgbClr val="5AA7E8">
              <a:alpha val="10000"/>
            </a:srgbClr>
          </a:solidFill>
          <a:ln w="9525">
            <a:solidFill>
              <a:srgbClr val="5AA7E8">
                <a:alpha val="35000"/>
              </a:srgbClr>
            </a:solidFill>
            <a:prstDash val="solid"/>
          </a:ln>
        </p:spPr>
        <p:txBody>
          <a:bodyPr/>
          <a:lstStyle/>
          <a:p>
            <a:endParaRPr lang="ko-KR" altLang="en-US"/>
          </a:p>
        </p:txBody>
      </p:sp>
      <p:sp>
        <p:nvSpPr>
          <p:cNvPr id="8" name="Text 6"/>
          <p:cNvSpPr/>
          <p:nvPr/>
        </p:nvSpPr>
        <p:spPr>
          <a:xfrm>
            <a:off x="1000125" y="7781925"/>
            <a:ext cx="1512019" cy="381000"/>
          </a:xfrm>
          <a:prstGeom prst="rect">
            <a:avLst/>
          </a:prstGeom>
          <a:noFill/>
          <a:ln/>
        </p:spPr>
        <p:txBody>
          <a:bodyPr wrap="square" lIns="25400" tIns="25400" rIns="25400" bIns="25400" rtlCol="0" anchor="t">
            <a:normAutofit fontScale="85000" lnSpcReduction="10000"/>
          </a:bodyPr>
          <a:lstStyle/>
          <a:p>
            <a:pPr marL="0" indent="0" algn="l">
              <a:lnSpc>
                <a:spcPct val="150000"/>
              </a:lnSpc>
              <a:buNone/>
            </a:pPr>
            <a:r>
              <a:rPr lang="en-US" sz="1800" b="1" dirty="0">
                <a:solidFill>
                  <a:srgbClr val="2272C3"/>
                </a:solidFill>
                <a:latin typeface="Arial" pitchFamily="34" charset="0"/>
                <a:ea typeface="Arial" pitchFamily="34" charset="-122"/>
                <a:cs typeface="Arial" pitchFamily="34" charset="-120"/>
              </a:rPr>
              <a:t>코드로 해결한다</a:t>
            </a:r>
            <a:endParaRPr lang="en-US" sz="1800" dirty="0"/>
          </a:p>
        </p:txBody>
      </p:sp>
      <p:sp>
        <p:nvSpPr>
          <p:cNvPr id="9" name="Shape 7"/>
          <p:cNvSpPr/>
          <p:nvPr/>
        </p:nvSpPr>
        <p:spPr>
          <a:xfrm>
            <a:off x="4943698" y="3051304"/>
            <a:ext cx="3762598" cy="2190750"/>
          </a:xfrm>
          <a:prstGeom prst="roundRect">
            <a:avLst>
              <a:gd name="adj" fmla="val 3478"/>
            </a:avLst>
          </a:prstGeom>
          <a:solidFill>
            <a:srgbClr val="E7EBF1"/>
          </a:solidFill>
          <a:ln w="9525">
            <a:solidFill>
              <a:srgbClr val="C2CCD6"/>
            </a:solidFill>
            <a:prstDash val="solid"/>
          </a:ln>
        </p:spPr>
        <p:txBody>
          <a:bodyPr/>
          <a:lstStyle/>
          <a:p>
            <a:endParaRPr lang="ko-KR" altLang="en-US"/>
          </a:p>
        </p:txBody>
      </p:sp>
      <p:sp>
        <p:nvSpPr>
          <p:cNvPr id="10" name="Text 8"/>
          <p:cNvSpPr/>
          <p:nvPr/>
        </p:nvSpPr>
        <p:spPr>
          <a:xfrm>
            <a:off x="4943698" y="5527803"/>
            <a:ext cx="4138858" cy="56673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2775" b="1" dirty="0">
                <a:solidFill>
                  <a:srgbClr val="1A212B"/>
                </a:solidFill>
                <a:latin typeface="Arial" pitchFamily="34" charset="0"/>
                <a:ea typeface="Arial" pitchFamily="34" charset="-122"/>
                <a:cs typeface="Arial" pitchFamily="34" charset="-120"/>
              </a:rPr>
              <a:t>② 판단의 벽</a:t>
            </a:r>
            <a:endParaRPr lang="en-US" sz="2775" dirty="0"/>
          </a:p>
        </p:txBody>
      </p:sp>
      <p:sp>
        <p:nvSpPr>
          <p:cNvPr id="11" name="Text 9"/>
          <p:cNvSpPr/>
          <p:nvPr/>
        </p:nvSpPr>
        <p:spPr>
          <a:xfrm>
            <a:off x="4943698" y="6170741"/>
            <a:ext cx="3875476" cy="776287"/>
          </a:xfrm>
          <a:prstGeom prst="rect">
            <a:avLst/>
          </a:prstGeom>
          <a:noFill/>
          <a:ln/>
        </p:spPr>
        <p:txBody>
          <a:bodyPr wrap="square" lIns="25400" tIns="25400" rIns="25400" bIns="25400" rtlCol="0" anchor="t">
            <a:normAutofit fontScale="92500" lnSpcReduction="10000"/>
          </a:bodyPr>
          <a:lstStyle/>
          <a:p>
            <a:pPr marL="0" indent="0" algn="l">
              <a:lnSpc>
                <a:spcPct val="155000"/>
              </a:lnSpc>
              <a:buNone/>
            </a:pPr>
            <a:r>
              <a:rPr lang="en-US" sz="1875" dirty="0">
                <a:solidFill>
                  <a:srgbClr val="51606D"/>
                </a:solidFill>
                <a:latin typeface="Arial" pitchFamily="34" charset="0"/>
                <a:ea typeface="Arial" pitchFamily="34" charset="-122"/>
                <a:cs typeface="Arial" pitchFamily="34" charset="-120"/>
              </a:rPr>
              <a:t>혼자서는 못합니다 — </a:t>
            </a:r>
            <a:r>
              <a:rPr lang="en-US" sz="1875" b="1" dirty="0">
                <a:solidFill>
                  <a:srgbClr val="1A212B"/>
                </a:solidFill>
                <a:latin typeface="Arial" pitchFamily="34" charset="0"/>
                <a:ea typeface="Arial" pitchFamily="34" charset="-122"/>
                <a:cs typeface="Arial" pitchFamily="34" charset="-120"/>
              </a:rPr>
              <a:t>사람이 많이 </a:t>
            </a:r>
            <a:r>
              <a:rPr lang="en-US" sz="1875" dirty="0">
                <a:solidFill>
                  <a:srgbClr val="51606D"/>
                </a:solidFill>
                <a:latin typeface="Arial" pitchFamily="34" charset="0"/>
                <a:ea typeface="Arial" pitchFamily="34" charset="-122"/>
                <a:cs typeface="Arial" pitchFamily="34" charset="-120"/>
              </a:rPr>
              <a:t>필요합니다.</a:t>
            </a:r>
            <a:endParaRPr lang="en-US" sz="1875" dirty="0"/>
          </a:p>
        </p:txBody>
      </p:sp>
      <p:sp>
        <p:nvSpPr>
          <p:cNvPr id="12" name="Shape 10"/>
          <p:cNvSpPr/>
          <p:nvPr/>
        </p:nvSpPr>
        <p:spPr>
          <a:xfrm>
            <a:off x="4943698" y="7696527"/>
            <a:ext cx="2899172" cy="514350"/>
          </a:xfrm>
          <a:prstGeom prst="roundRect">
            <a:avLst>
              <a:gd name="adj" fmla="val 16667"/>
            </a:avLst>
          </a:prstGeom>
          <a:solidFill>
            <a:srgbClr val="FF9900">
              <a:alpha val="10000"/>
            </a:srgbClr>
          </a:solidFill>
          <a:ln w="9525">
            <a:solidFill>
              <a:srgbClr val="FF9900">
                <a:alpha val="35000"/>
              </a:srgbClr>
            </a:solidFill>
            <a:prstDash val="solid"/>
          </a:ln>
        </p:spPr>
        <p:txBody>
          <a:bodyPr/>
          <a:lstStyle/>
          <a:p>
            <a:endParaRPr lang="ko-KR" altLang="en-US"/>
          </a:p>
        </p:txBody>
      </p:sp>
      <p:sp>
        <p:nvSpPr>
          <p:cNvPr id="13" name="Text 11"/>
          <p:cNvSpPr/>
          <p:nvPr/>
        </p:nvSpPr>
        <p:spPr>
          <a:xfrm>
            <a:off x="5143723" y="7782252"/>
            <a:ext cx="2586097" cy="381000"/>
          </a:xfrm>
          <a:prstGeom prst="rect">
            <a:avLst/>
          </a:prstGeom>
          <a:noFill/>
          <a:ln/>
        </p:spPr>
        <p:txBody>
          <a:bodyPr wrap="square" lIns="25400" tIns="25400" rIns="25400" bIns="25400" rtlCol="0" anchor="t">
            <a:normAutofit fontScale="85000" lnSpcReduction="10000"/>
          </a:bodyPr>
          <a:lstStyle/>
          <a:p>
            <a:pPr marL="0" indent="0" algn="l">
              <a:lnSpc>
                <a:spcPct val="150000"/>
              </a:lnSpc>
              <a:buNone/>
            </a:pPr>
            <a:r>
              <a:rPr lang="en-US" sz="1800" b="1" dirty="0">
                <a:solidFill>
                  <a:srgbClr val="E07F00"/>
                </a:solidFill>
                <a:latin typeface="Arial" pitchFamily="34" charset="0"/>
                <a:ea typeface="Arial" pitchFamily="34" charset="-122"/>
                <a:cs typeface="Arial" pitchFamily="34" charset="-120"/>
              </a:rPr>
              <a:t>LLM 먼저 판단, 사람이 리뷰</a:t>
            </a:r>
            <a:endParaRPr lang="en-US" sz="1800" dirty="0"/>
          </a:p>
        </p:txBody>
      </p:sp>
      <p:sp>
        <p:nvSpPr>
          <p:cNvPr id="14" name="Shape 12"/>
          <p:cNvSpPr/>
          <p:nvPr/>
        </p:nvSpPr>
        <p:spPr>
          <a:xfrm>
            <a:off x="9087296" y="2388690"/>
            <a:ext cx="3828604" cy="2857500"/>
          </a:xfrm>
          <a:prstGeom prst="roundRect">
            <a:avLst>
              <a:gd name="adj" fmla="val 2667"/>
            </a:avLst>
          </a:prstGeom>
          <a:solidFill>
            <a:srgbClr val="E7EBF1"/>
          </a:solidFill>
          <a:ln/>
        </p:spPr>
        <p:txBody>
          <a:bodyPr/>
          <a:lstStyle/>
          <a:p>
            <a:endParaRPr lang="ko-KR" altLang="en-US"/>
          </a:p>
        </p:txBody>
      </p:sp>
      <p:sp>
        <p:nvSpPr>
          <p:cNvPr id="15" name="Shape 13"/>
          <p:cNvSpPr/>
          <p:nvPr/>
        </p:nvSpPr>
        <p:spPr>
          <a:xfrm>
            <a:off x="9087296" y="5236665"/>
            <a:ext cx="3828604" cy="9525"/>
          </a:xfrm>
          <a:prstGeom prst="rect">
            <a:avLst/>
          </a:prstGeom>
          <a:solidFill>
            <a:srgbClr val="C2CCD6"/>
          </a:solidFill>
          <a:ln/>
        </p:spPr>
        <p:txBody>
          <a:bodyPr/>
          <a:lstStyle/>
          <a:p>
            <a:endParaRPr lang="ko-KR" altLang="en-US"/>
          </a:p>
        </p:txBody>
      </p:sp>
      <p:sp>
        <p:nvSpPr>
          <p:cNvPr id="16" name="Shape 14"/>
          <p:cNvSpPr/>
          <p:nvPr/>
        </p:nvSpPr>
        <p:spPr>
          <a:xfrm>
            <a:off x="9087296" y="2388690"/>
            <a:ext cx="3828604" cy="9525"/>
          </a:xfrm>
          <a:prstGeom prst="rect">
            <a:avLst/>
          </a:prstGeom>
          <a:solidFill>
            <a:srgbClr val="AAB6C4"/>
          </a:solidFill>
          <a:ln/>
        </p:spPr>
        <p:txBody>
          <a:bodyPr/>
          <a:lstStyle/>
          <a:p>
            <a:endParaRPr lang="ko-KR" altLang="en-US"/>
          </a:p>
        </p:txBody>
      </p:sp>
      <p:sp>
        <p:nvSpPr>
          <p:cNvPr id="17" name="Shape 15"/>
          <p:cNvSpPr/>
          <p:nvPr/>
        </p:nvSpPr>
        <p:spPr>
          <a:xfrm>
            <a:off x="9087296" y="2388690"/>
            <a:ext cx="9525" cy="2857500"/>
          </a:xfrm>
          <a:prstGeom prst="rect">
            <a:avLst/>
          </a:prstGeom>
          <a:solidFill>
            <a:srgbClr val="C2CCD6"/>
          </a:solidFill>
          <a:ln/>
        </p:spPr>
        <p:txBody>
          <a:bodyPr/>
          <a:lstStyle/>
          <a:p>
            <a:endParaRPr lang="ko-KR" altLang="en-US"/>
          </a:p>
        </p:txBody>
      </p:sp>
      <p:sp>
        <p:nvSpPr>
          <p:cNvPr id="18" name="Shape 16"/>
          <p:cNvSpPr/>
          <p:nvPr/>
        </p:nvSpPr>
        <p:spPr>
          <a:xfrm>
            <a:off x="12906375" y="2388690"/>
            <a:ext cx="9525" cy="2857500"/>
          </a:xfrm>
          <a:prstGeom prst="rect">
            <a:avLst/>
          </a:prstGeom>
          <a:solidFill>
            <a:srgbClr val="C2CCD6"/>
          </a:solidFill>
          <a:ln/>
        </p:spPr>
        <p:txBody>
          <a:bodyPr/>
          <a:lstStyle/>
          <a:p>
            <a:endParaRPr lang="ko-KR" altLang="en-US"/>
          </a:p>
        </p:txBody>
      </p:sp>
      <p:sp>
        <p:nvSpPr>
          <p:cNvPr id="19" name="Text 17"/>
          <p:cNvSpPr/>
          <p:nvPr/>
        </p:nvSpPr>
        <p:spPr>
          <a:xfrm>
            <a:off x="9087296" y="5531940"/>
            <a:ext cx="4211464" cy="56673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2775" b="1" dirty="0">
                <a:solidFill>
                  <a:srgbClr val="1A212B"/>
                </a:solidFill>
                <a:latin typeface="Arial" pitchFamily="34" charset="0"/>
                <a:ea typeface="Arial" pitchFamily="34" charset="-122"/>
                <a:cs typeface="Arial" pitchFamily="34" charset="-120"/>
              </a:rPr>
              <a:t>③ 불가능의 벽</a:t>
            </a:r>
            <a:endParaRPr lang="en-US" sz="2775" dirty="0"/>
          </a:p>
        </p:txBody>
      </p:sp>
      <p:sp>
        <p:nvSpPr>
          <p:cNvPr id="20" name="Text 18"/>
          <p:cNvSpPr/>
          <p:nvPr/>
        </p:nvSpPr>
        <p:spPr>
          <a:xfrm>
            <a:off x="9087296" y="6174877"/>
            <a:ext cx="4211464" cy="407194"/>
          </a:xfrm>
          <a:prstGeom prst="rect">
            <a:avLst/>
          </a:prstGeom>
          <a:noFill/>
          <a:ln/>
        </p:spPr>
        <p:txBody>
          <a:bodyPr wrap="square" lIns="25400" tIns="25400" rIns="25400" bIns="25400" rtlCol="0" anchor="t">
            <a:normAutofit fontScale="92500"/>
          </a:bodyPr>
          <a:lstStyle/>
          <a:p>
            <a:pPr marL="0" indent="0" algn="l">
              <a:lnSpc>
                <a:spcPct val="155000"/>
              </a:lnSpc>
              <a:buNone/>
            </a:pPr>
            <a:r>
              <a:rPr lang="en-US" sz="1875" dirty="0">
                <a:solidFill>
                  <a:srgbClr val="51606D"/>
                </a:solidFill>
                <a:latin typeface="Arial" pitchFamily="34" charset="0"/>
                <a:ea typeface="Arial" pitchFamily="34" charset="-122"/>
                <a:cs typeface="Arial" pitchFamily="34" charset="-120"/>
              </a:rPr>
              <a:t>정답을 </a:t>
            </a:r>
            <a:r>
              <a:rPr lang="en-US" sz="1875" b="1" dirty="0">
                <a:solidFill>
                  <a:srgbClr val="1A212B"/>
                </a:solidFill>
                <a:latin typeface="Arial" pitchFamily="34" charset="0"/>
                <a:ea typeface="Arial" pitchFamily="34" charset="-122"/>
                <a:cs typeface="Arial" pitchFamily="34" charset="-120"/>
              </a:rPr>
              <a:t>사람도 못 하는 </a:t>
            </a:r>
            <a:r>
              <a:rPr lang="en-US" sz="1875" dirty="0">
                <a:solidFill>
                  <a:srgbClr val="51606D"/>
                </a:solidFill>
                <a:latin typeface="Arial" pitchFamily="34" charset="0"/>
                <a:ea typeface="Arial" pitchFamily="34" charset="-122"/>
                <a:cs typeface="Arial" pitchFamily="34" charset="-120"/>
              </a:rPr>
              <a:t>곳.</a:t>
            </a:r>
            <a:endParaRPr lang="en-US" sz="1875" dirty="0"/>
          </a:p>
        </p:txBody>
      </p:sp>
      <p:sp>
        <p:nvSpPr>
          <p:cNvPr id="21" name="Text 19"/>
          <p:cNvSpPr/>
          <p:nvPr/>
        </p:nvSpPr>
        <p:spPr>
          <a:xfrm>
            <a:off x="9087296" y="6658271"/>
            <a:ext cx="4211464" cy="366713"/>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725" dirty="0">
                <a:solidFill>
                  <a:srgbClr val="76828F"/>
                </a:solidFill>
                <a:latin typeface="Arial" pitchFamily="34" charset="0"/>
                <a:ea typeface="Arial" pitchFamily="34" charset="-122"/>
                <a:cs typeface="Arial" pitchFamily="34" charset="-120"/>
              </a:rPr>
              <a:t>예: "알아서 잘 동작하게"</a:t>
            </a:r>
            <a:endParaRPr lang="en-US" sz="1725" dirty="0"/>
          </a:p>
        </p:txBody>
      </p:sp>
      <p:sp>
        <p:nvSpPr>
          <p:cNvPr id="22" name="Shape 20"/>
          <p:cNvSpPr/>
          <p:nvPr/>
        </p:nvSpPr>
        <p:spPr>
          <a:xfrm>
            <a:off x="9087296" y="7700663"/>
            <a:ext cx="3828604" cy="514350"/>
          </a:xfrm>
          <a:prstGeom prst="roundRect">
            <a:avLst>
              <a:gd name="adj" fmla="val 16667"/>
            </a:avLst>
          </a:prstGeom>
          <a:solidFill>
            <a:srgbClr val="F0524F">
              <a:alpha val="10000"/>
            </a:srgbClr>
          </a:solidFill>
          <a:ln w="9525">
            <a:solidFill>
              <a:srgbClr val="F0524F">
                <a:alpha val="35000"/>
              </a:srgbClr>
            </a:solidFill>
            <a:prstDash val="solid"/>
          </a:ln>
        </p:spPr>
        <p:txBody>
          <a:bodyPr/>
          <a:lstStyle/>
          <a:p>
            <a:endParaRPr lang="ko-KR" altLang="en-US"/>
          </a:p>
        </p:txBody>
      </p:sp>
      <p:sp>
        <p:nvSpPr>
          <p:cNvPr id="23" name="Text 21"/>
          <p:cNvSpPr/>
          <p:nvPr/>
        </p:nvSpPr>
        <p:spPr>
          <a:xfrm>
            <a:off x="9287321" y="7786388"/>
            <a:ext cx="3543412" cy="381000"/>
          </a:xfrm>
          <a:prstGeom prst="rect">
            <a:avLst/>
          </a:prstGeom>
          <a:noFill/>
          <a:ln/>
        </p:spPr>
        <p:txBody>
          <a:bodyPr wrap="none" lIns="25400" tIns="25400" rIns="25400" bIns="25400" rtlCol="0" anchor="t">
            <a:normAutofit fontScale="92500" lnSpcReduction="10000"/>
          </a:bodyPr>
          <a:lstStyle/>
          <a:p>
            <a:pPr marL="0" indent="0" algn="l">
              <a:lnSpc>
                <a:spcPct val="150000"/>
              </a:lnSpc>
              <a:buNone/>
            </a:pPr>
            <a:r>
              <a:rPr lang="en-US" sz="1800" b="1" dirty="0">
                <a:solidFill>
                  <a:srgbClr val="D6403D"/>
                </a:solidFill>
                <a:latin typeface="Arial" pitchFamily="34" charset="0"/>
                <a:ea typeface="Arial" pitchFamily="34" charset="-122"/>
                <a:cs typeface="Arial" pitchFamily="34" charset="-120"/>
              </a:rPr>
              <a:t>코드도 사람도 LLM 할아버지도 못한다</a:t>
            </a:r>
            <a:endParaRPr lang="en-US" sz="1800" dirty="0"/>
          </a:p>
        </p:txBody>
      </p:sp>
      <p:sp>
        <p:nvSpPr>
          <p:cNvPr id="24" name="Shape 22"/>
          <p:cNvSpPr/>
          <p:nvPr/>
        </p:nvSpPr>
        <p:spPr>
          <a:xfrm>
            <a:off x="800100" y="8629650"/>
            <a:ext cx="12115800" cy="971550"/>
          </a:xfrm>
          <a:prstGeom prst="roundRect">
            <a:avLst>
              <a:gd name="adj" fmla="val 13725"/>
            </a:avLst>
          </a:prstGeom>
          <a:solidFill>
            <a:srgbClr val="F6F8FB"/>
          </a:solidFill>
          <a:ln w="9525">
            <a:solidFill>
              <a:srgbClr val="D2D9E1"/>
            </a:solidFill>
            <a:prstDash val="solid"/>
          </a:ln>
        </p:spPr>
        <p:txBody>
          <a:bodyPr/>
          <a:lstStyle/>
          <a:p>
            <a:endParaRPr lang="ko-KR" altLang="en-US"/>
          </a:p>
        </p:txBody>
      </p:sp>
      <p:sp>
        <p:nvSpPr>
          <p:cNvPr id="25" name="Text 23"/>
          <p:cNvSpPr/>
          <p:nvPr/>
        </p:nvSpPr>
        <p:spPr>
          <a:xfrm>
            <a:off x="1190625" y="8951119"/>
            <a:ext cx="949896" cy="366713"/>
          </a:xfrm>
          <a:prstGeom prst="rect">
            <a:avLst/>
          </a:prstGeom>
          <a:noFill/>
          <a:ln/>
        </p:spPr>
        <p:txBody>
          <a:bodyPr wrap="square" lIns="25400" tIns="25400" rIns="25400" bIns="25400" rtlCol="0" anchor="t">
            <a:normAutofit fontScale="85000" lnSpcReduction="10000"/>
          </a:bodyPr>
          <a:lstStyle/>
          <a:p>
            <a:pPr marL="0" indent="0" algn="l">
              <a:lnSpc>
                <a:spcPct val="150000"/>
              </a:lnSpc>
              <a:buNone/>
            </a:pPr>
            <a:r>
              <a:rPr lang="en-US" sz="1725" b="1" kern="0" spc="103" dirty="0">
                <a:solidFill>
                  <a:srgbClr val="E07F00"/>
                </a:solidFill>
                <a:latin typeface="Arial" pitchFamily="34" charset="0"/>
                <a:ea typeface="Arial" pitchFamily="34" charset="-122"/>
                <a:cs typeface="Arial" pitchFamily="34" charset="-120"/>
              </a:rPr>
              <a:t>핵심 질문</a:t>
            </a:r>
            <a:endParaRPr lang="en-US" sz="1725" dirty="0"/>
          </a:p>
        </p:txBody>
      </p:sp>
      <p:sp>
        <p:nvSpPr>
          <p:cNvPr id="26" name="Text 24"/>
          <p:cNvSpPr/>
          <p:nvPr/>
        </p:nvSpPr>
        <p:spPr>
          <a:xfrm>
            <a:off x="2311971" y="8886825"/>
            <a:ext cx="9819136" cy="49530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2400" b="1" dirty="0">
                <a:solidFill>
                  <a:srgbClr val="1A212B"/>
                </a:solidFill>
                <a:latin typeface="Arial" pitchFamily="34" charset="0"/>
                <a:ea typeface="Arial" pitchFamily="34" charset="-122"/>
                <a:cs typeface="Arial" pitchFamily="34" charset="-120"/>
              </a:rPr>
              <a:t>사람이 </a:t>
            </a:r>
            <a:r>
              <a:rPr lang="en-US" sz="2400" b="1" dirty="0">
                <a:solidFill>
                  <a:srgbClr val="E07F00"/>
                </a:solidFill>
                <a:latin typeface="Arial" pitchFamily="34" charset="0"/>
                <a:ea typeface="Arial" pitchFamily="34" charset="-122"/>
                <a:cs typeface="Arial" pitchFamily="34" charset="-120"/>
              </a:rPr>
              <a:t>혼자선 벅찬</a:t>
            </a:r>
            <a:r>
              <a:rPr lang="en-US" sz="2400" b="1" dirty="0">
                <a:solidFill>
                  <a:srgbClr val="1A212B"/>
                </a:solidFill>
                <a:latin typeface="Arial" pitchFamily="34" charset="0"/>
                <a:ea typeface="Arial" pitchFamily="34" charset="-122"/>
                <a:cs typeface="Arial" pitchFamily="34" charset="-120"/>
              </a:rPr>
              <a:t> 일인가, 사람도 </a:t>
            </a:r>
            <a:r>
              <a:rPr lang="en-US" sz="2400" b="1" dirty="0">
                <a:solidFill>
                  <a:srgbClr val="D6403D"/>
                </a:solidFill>
                <a:latin typeface="Arial" pitchFamily="34" charset="0"/>
                <a:ea typeface="Arial" pitchFamily="34" charset="-122"/>
                <a:cs typeface="Arial" pitchFamily="34" charset="-120"/>
              </a:rPr>
              <a:t>불가능</a:t>
            </a:r>
            <a:r>
              <a:rPr lang="en-US" sz="2400" b="1" dirty="0">
                <a:solidFill>
                  <a:srgbClr val="1A212B"/>
                </a:solidFill>
                <a:latin typeface="Arial" pitchFamily="34" charset="0"/>
                <a:ea typeface="Arial" pitchFamily="34" charset="-122"/>
                <a:cs typeface="Arial" pitchFamily="34" charset="-120"/>
              </a:rPr>
              <a:t>한 일인가 — 그것부터 구분하세요</a:t>
            </a:r>
            <a:endParaRPr lang="en-US" sz="2400" dirty="0"/>
          </a:p>
        </p:txBody>
      </p:sp>
    </p:spTree>
    <p:extLst>
      <p:ext uri="{BB962C8B-B14F-4D97-AF65-F5344CB8AC3E}">
        <p14:creationId xmlns:p14="http://schemas.microsoft.com/office/powerpoint/2010/main" val="15379593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00100" y="762000"/>
            <a:ext cx="2307915" cy="381000"/>
          </a:xfrm>
          <a:prstGeom prst="rect">
            <a:avLst/>
          </a:prstGeom>
          <a:noFill/>
          <a:ln/>
        </p:spPr>
        <p:txBody>
          <a:bodyPr wrap="square" lIns="25400" tIns="25400" rIns="25400" bIns="25400" rtlCol="0" anchor="t">
            <a:normAutofit fontScale="85000" lnSpcReduction="10000"/>
          </a:bodyPr>
          <a:lstStyle/>
          <a:p>
            <a:pPr marL="0" indent="0" algn="l">
              <a:lnSpc>
                <a:spcPct val="150000"/>
              </a:lnSpc>
              <a:buNone/>
            </a:pPr>
            <a:r>
              <a:rPr lang="en-US" sz="1800" b="1" kern="0" spc="144" dirty="0">
                <a:solidFill>
                  <a:srgbClr val="E07F00"/>
                </a:solidFill>
                <a:latin typeface="Arial" pitchFamily="34" charset="0"/>
                <a:ea typeface="Arial" pitchFamily="34" charset="-122"/>
                <a:cs typeface="Arial" pitchFamily="34" charset="-120"/>
              </a:rPr>
              <a:t>멘탈모델 </a:t>
            </a:r>
            <a:r>
              <a:rPr lang="en-US" sz="1800" b="1" kern="0" spc="144" dirty="0">
                <a:solidFill>
                  <a:srgbClr val="76828F"/>
                </a:solidFill>
                <a:latin typeface="Arial" pitchFamily="34" charset="0"/>
                <a:ea typeface="Arial" pitchFamily="34" charset="-122"/>
                <a:cs typeface="Arial" pitchFamily="34" charset="-120"/>
              </a:rPr>
              <a:t>· 한 줄 요약</a:t>
            </a:r>
            <a:endParaRPr lang="en-US" sz="1800" dirty="0"/>
          </a:p>
        </p:txBody>
      </p:sp>
      <p:sp>
        <p:nvSpPr>
          <p:cNvPr id="3" name="Text 1"/>
          <p:cNvSpPr/>
          <p:nvPr/>
        </p:nvSpPr>
        <p:spPr>
          <a:xfrm>
            <a:off x="800100" y="1314450"/>
            <a:ext cx="7134359" cy="688777"/>
          </a:xfrm>
          <a:prstGeom prst="rect">
            <a:avLst/>
          </a:prstGeom>
          <a:noFill/>
          <a:ln/>
        </p:spPr>
        <p:txBody>
          <a:bodyPr wrap="square" lIns="25400" tIns="25400" rIns="25400" bIns="25400" rtlCol="0" anchor="t">
            <a:normAutofit fontScale="92500" lnSpcReduction="10000"/>
          </a:bodyPr>
          <a:lstStyle/>
          <a:p>
            <a:pPr marL="0" indent="0" algn="l">
              <a:lnSpc>
                <a:spcPct val="122000"/>
              </a:lnSpc>
              <a:buNone/>
            </a:pPr>
            <a:r>
              <a:rPr lang="en-US" sz="4200" b="1" kern="0" spc="-63" dirty="0">
                <a:solidFill>
                  <a:srgbClr val="1A212B"/>
                </a:solidFill>
                <a:latin typeface="Arial" pitchFamily="34" charset="0"/>
                <a:ea typeface="Arial" pitchFamily="34" charset="-122"/>
                <a:cs typeface="Arial" pitchFamily="34" charset="-120"/>
              </a:rPr>
              <a:t>정량은 </a:t>
            </a:r>
            <a:r>
              <a:rPr lang="en-US" sz="4200" b="1" kern="0" spc="-63" dirty="0">
                <a:solidFill>
                  <a:srgbClr val="2272C3"/>
                </a:solidFill>
                <a:latin typeface="Arial" pitchFamily="34" charset="0"/>
                <a:ea typeface="Arial" pitchFamily="34" charset="-122"/>
                <a:cs typeface="Arial" pitchFamily="34" charset="-120"/>
              </a:rPr>
              <a:t>코드</a:t>
            </a:r>
            <a:r>
              <a:rPr lang="en-US" sz="4200" b="1" kern="0" spc="-63" dirty="0">
                <a:solidFill>
                  <a:srgbClr val="1A212B"/>
                </a:solidFill>
                <a:latin typeface="Arial" pitchFamily="34" charset="0"/>
                <a:ea typeface="Arial" pitchFamily="34" charset="-122"/>
                <a:cs typeface="Arial" pitchFamily="34" charset="-120"/>
              </a:rPr>
              <a:t>로, 정성은 </a:t>
            </a:r>
            <a:r>
              <a:rPr lang="en-US" sz="4200" b="1" kern="0" spc="-63" dirty="0">
                <a:solidFill>
                  <a:srgbClr val="E07F00"/>
                </a:solidFill>
                <a:latin typeface="Arial" pitchFamily="34" charset="0"/>
                <a:ea typeface="Arial" pitchFamily="34" charset="-122"/>
                <a:cs typeface="Arial" pitchFamily="34" charset="-120"/>
              </a:rPr>
              <a:t>LLM</a:t>
            </a:r>
            <a:r>
              <a:rPr lang="en-US" sz="4200" b="1" kern="0" spc="-63" dirty="0">
                <a:solidFill>
                  <a:srgbClr val="1A212B"/>
                </a:solidFill>
                <a:latin typeface="Arial" pitchFamily="34" charset="0"/>
                <a:ea typeface="Arial" pitchFamily="34" charset="-122"/>
                <a:cs typeface="Arial" pitchFamily="34" charset="-120"/>
              </a:rPr>
              <a:t>으로</a:t>
            </a:r>
            <a:endParaRPr lang="en-US" sz="4200" dirty="0"/>
          </a:p>
        </p:txBody>
      </p:sp>
      <p:sp>
        <p:nvSpPr>
          <p:cNvPr id="4" name="Shape 2"/>
          <p:cNvSpPr/>
          <p:nvPr/>
        </p:nvSpPr>
        <p:spPr>
          <a:xfrm>
            <a:off x="800100" y="2384227"/>
            <a:ext cx="5867400" cy="3124200"/>
          </a:xfrm>
          <a:prstGeom prst="roundRect">
            <a:avLst>
              <a:gd name="adj" fmla="val 4878"/>
            </a:avLst>
          </a:prstGeom>
          <a:solidFill>
            <a:srgbClr val="F6F8FB"/>
          </a:solidFill>
          <a:ln w="9525">
            <a:solidFill>
              <a:srgbClr val="AAC8E4"/>
            </a:solidFill>
            <a:prstDash val="solid"/>
          </a:ln>
        </p:spPr>
        <p:txBody>
          <a:bodyPr/>
          <a:lstStyle/>
          <a:p>
            <a:endParaRPr lang="ko-KR" altLang="en-US"/>
          </a:p>
        </p:txBody>
      </p:sp>
      <p:sp>
        <p:nvSpPr>
          <p:cNvPr id="5" name="Text 3"/>
          <p:cNvSpPr/>
          <p:nvPr/>
        </p:nvSpPr>
        <p:spPr>
          <a:xfrm>
            <a:off x="1228725" y="2736652"/>
            <a:ext cx="5511165" cy="38100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00" b="1" kern="0" spc="144" dirty="0">
                <a:solidFill>
                  <a:srgbClr val="2272C3"/>
                </a:solidFill>
                <a:latin typeface="Arial" pitchFamily="34" charset="0"/>
                <a:ea typeface="Arial" pitchFamily="34" charset="-122"/>
                <a:cs typeface="Arial" pitchFamily="34" charset="-120"/>
              </a:rPr>
              <a:t>코드로</a:t>
            </a:r>
            <a:endParaRPr lang="en-US" sz="1800" dirty="0"/>
          </a:p>
        </p:txBody>
      </p:sp>
      <p:sp>
        <p:nvSpPr>
          <p:cNvPr id="6" name="Text 4"/>
          <p:cNvSpPr/>
          <p:nvPr/>
        </p:nvSpPr>
        <p:spPr>
          <a:xfrm>
            <a:off x="1015365" y="3327202"/>
            <a:ext cx="5299710" cy="1866900"/>
          </a:xfrm>
          <a:prstGeom prst="rect">
            <a:avLst/>
          </a:prstGeom>
          <a:noFill/>
          <a:ln/>
        </p:spPr>
        <p:txBody>
          <a:bodyPr wrap="square" lIns="25400" tIns="25400" rIns="25400" bIns="25400" rtlCol="0" anchor="t">
            <a:normAutofit/>
          </a:bodyPr>
          <a:lstStyle/>
          <a:p>
            <a:pPr marL="0" indent="0" algn="l">
              <a:lnSpc>
                <a:spcPct val="150000"/>
              </a:lnSpc>
              <a:buNone/>
            </a:pPr>
            <a:r>
              <a:rPr lang="en-US" sz="2400" dirty="0">
                <a:solidFill>
                  <a:srgbClr val="1A212B"/>
                </a:solidFill>
                <a:latin typeface="Arial" pitchFamily="34" charset="0"/>
                <a:ea typeface="Arial" pitchFamily="34" charset="-122"/>
                <a:cs typeface="Arial" pitchFamily="34" charset="-120"/>
              </a:rPr>
              <a:t>결정적이어야 할 테스트</a:t>
            </a:r>
            <a:endParaRPr lang="en-US" sz="2400" dirty="0"/>
          </a:p>
          <a:p>
            <a:pPr marL="0" indent="0" algn="l">
              <a:lnSpc>
                <a:spcPct val="150000"/>
              </a:lnSpc>
              <a:buNone/>
            </a:pPr>
            <a:r>
              <a:rPr lang="en-US" sz="2400" dirty="0">
                <a:solidFill>
                  <a:srgbClr val="1A212B"/>
                </a:solidFill>
                <a:latin typeface="Arial" pitchFamily="34" charset="0"/>
                <a:ea typeface="Arial" pitchFamily="34" charset="-122"/>
                <a:cs typeface="Arial" pitchFamily="34" charset="-120"/>
              </a:rPr>
              <a:t>고정 동작 · 정량 검증</a:t>
            </a:r>
            <a:endParaRPr lang="en-US" sz="2400" dirty="0"/>
          </a:p>
          <a:p>
            <a:pPr marL="0" indent="0" algn="l">
              <a:lnSpc>
                <a:spcPct val="150000"/>
              </a:lnSpc>
              <a:buNone/>
            </a:pPr>
            <a:r>
              <a:rPr lang="en-US" sz="2400" dirty="0">
                <a:solidFill>
                  <a:srgbClr val="1A212B"/>
                </a:solidFill>
                <a:latin typeface="Arial" pitchFamily="34" charset="0"/>
                <a:ea typeface="Arial" pitchFamily="34" charset="-122"/>
                <a:cs typeface="Arial" pitchFamily="34" charset="-120"/>
              </a:rPr>
              <a:t>방법을 적을 수 있는, 쉬운 문제</a:t>
            </a:r>
            <a:endParaRPr lang="en-US" sz="2400" dirty="0"/>
          </a:p>
        </p:txBody>
      </p:sp>
      <p:sp>
        <p:nvSpPr>
          <p:cNvPr id="7" name="Shape 5"/>
          <p:cNvSpPr/>
          <p:nvPr/>
        </p:nvSpPr>
        <p:spPr>
          <a:xfrm>
            <a:off x="7048500" y="2384554"/>
            <a:ext cx="5867400" cy="3124200"/>
          </a:xfrm>
          <a:prstGeom prst="roundRect">
            <a:avLst>
              <a:gd name="adj" fmla="val 4878"/>
            </a:avLst>
          </a:prstGeom>
          <a:solidFill>
            <a:srgbClr val="F6F8FB"/>
          </a:solidFill>
          <a:ln w="9525">
            <a:solidFill>
              <a:srgbClr val="E6C890"/>
            </a:solidFill>
            <a:prstDash val="solid"/>
          </a:ln>
        </p:spPr>
        <p:txBody>
          <a:bodyPr/>
          <a:lstStyle/>
          <a:p>
            <a:endParaRPr lang="ko-KR" altLang="en-US"/>
          </a:p>
        </p:txBody>
      </p:sp>
      <p:sp>
        <p:nvSpPr>
          <p:cNvPr id="8" name="Text 6"/>
          <p:cNvSpPr/>
          <p:nvPr/>
        </p:nvSpPr>
        <p:spPr>
          <a:xfrm>
            <a:off x="7477125" y="2736979"/>
            <a:ext cx="5511165" cy="38100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00" b="1" kern="0" spc="144" dirty="0">
                <a:solidFill>
                  <a:srgbClr val="E07F00"/>
                </a:solidFill>
                <a:latin typeface="Arial" pitchFamily="34" charset="0"/>
                <a:ea typeface="Arial" pitchFamily="34" charset="-122"/>
                <a:cs typeface="Arial" pitchFamily="34" charset="-120"/>
              </a:rPr>
              <a:t>LLM으로</a:t>
            </a:r>
            <a:endParaRPr lang="en-US" sz="1800" dirty="0"/>
          </a:p>
        </p:txBody>
      </p:sp>
      <p:sp>
        <p:nvSpPr>
          <p:cNvPr id="9" name="Text 7"/>
          <p:cNvSpPr/>
          <p:nvPr/>
        </p:nvSpPr>
        <p:spPr>
          <a:xfrm>
            <a:off x="7263765" y="3327529"/>
            <a:ext cx="5299710" cy="1866900"/>
          </a:xfrm>
          <a:prstGeom prst="rect">
            <a:avLst/>
          </a:prstGeom>
          <a:noFill/>
          <a:ln/>
        </p:spPr>
        <p:txBody>
          <a:bodyPr wrap="square" lIns="25400" tIns="25400" rIns="25400" bIns="25400" rtlCol="0" anchor="t">
            <a:normAutofit/>
          </a:bodyPr>
          <a:lstStyle/>
          <a:p>
            <a:pPr marL="0" indent="0" algn="l">
              <a:lnSpc>
                <a:spcPct val="150000"/>
              </a:lnSpc>
              <a:buNone/>
            </a:pPr>
            <a:r>
              <a:rPr lang="en-US" sz="2400" dirty="0">
                <a:solidFill>
                  <a:srgbClr val="1A212B"/>
                </a:solidFill>
                <a:latin typeface="Arial" pitchFamily="34" charset="0"/>
                <a:ea typeface="Arial" pitchFamily="34" charset="-122"/>
                <a:cs typeface="Arial" pitchFamily="34" charset="-120"/>
              </a:rPr>
              <a:t>비결정적 — 테스트와 분리해서</a:t>
            </a:r>
            <a:endParaRPr lang="en-US" sz="2400" dirty="0"/>
          </a:p>
          <a:p>
            <a:pPr marL="0" indent="0" algn="l">
              <a:lnSpc>
                <a:spcPct val="150000"/>
              </a:lnSpc>
              <a:buNone/>
            </a:pPr>
            <a:r>
              <a:rPr lang="en-US" sz="2400" dirty="0">
                <a:solidFill>
                  <a:srgbClr val="1A212B"/>
                </a:solidFill>
                <a:latin typeface="Arial" pitchFamily="34" charset="0"/>
                <a:ea typeface="Arial" pitchFamily="34" charset="-122"/>
                <a:cs typeface="Arial" pitchFamily="34" charset="-120"/>
              </a:rPr>
              <a:t>판단 · 정성 평가</a:t>
            </a:r>
            <a:endParaRPr lang="en-US" sz="2400" dirty="0"/>
          </a:p>
          <a:p>
            <a:pPr marL="0" indent="0" algn="l">
              <a:lnSpc>
                <a:spcPct val="150000"/>
              </a:lnSpc>
              <a:buNone/>
            </a:pPr>
            <a:r>
              <a:rPr lang="en-US" sz="2400" dirty="0">
                <a:solidFill>
                  <a:srgbClr val="1A212B"/>
                </a:solidFill>
                <a:latin typeface="Arial" pitchFamily="34" charset="0"/>
                <a:ea typeface="Arial" pitchFamily="34" charset="-122"/>
                <a:cs typeface="Arial" pitchFamily="34" charset="-120"/>
              </a:rPr>
              <a:t>규칙으로 못 적는, 난해한 문제</a:t>
            </a:r>
            <a:endParaRPr lang="en-US" sz="2400" dirty="0"/>
          </a:p>
        </p:txBody>
      </p:sp>
      <p:sp>
        <p:nvSpPr>
          <p:cNvPr id="10" name="Shape 8"/>
          <p:cNvSpPr/>
          <p:nvPr/>
        </p:nvSpPr>
        <p:spPr>
          <a:xfrm>
            <a:off x="800100" y="5893893"/>
            <a:ext cx="5867400" cy="833438"/>
          </a:xfrm>
          <a:prstGeom prst="roundRect">
            <a:avLst>
              <a:gd name="adj" fmla="val 16000"/>
            </a:avLst>
          </a:prstGeom>
          <a:solidFill>
            <a:srgbClr val="5AA7E8">
              <a:alpha val="7000"/>
            </a:srgbClr>
          </a:solidFill>
          <a:ln w="9525">
            <a:solidFill>
              <a:srgbClr val="5AA7E8">
                <a:alpha val="40000"/>
              </a:srgbClr>
            </a:solidFill>
            <a:prstDash val="solid"/>
          </a:ln>
        </p:spPr>
        <p:txBody>
          <a:bodyPr/>
          <a:lstStyle/>
          <a:p>
            <a:endParaRPr lang="ko-KR" altLang="en-US"/>
          </a:p>
        </p:txBody>
      </p:sp>
      <p:sp>
        <p:nvSpPr>
          <p:cNvPr id="11" name="Text 9"/>
          <p:cNvSpPr/>
          <p:nvPr/>
        </p:nvSpPr>
        <p:spPr>
          <a:xfrm>
            <a:off x="1190625" y="6132018"/>
            <a:ext cx="5262372" cy="39528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75" b="1" dirty="0">
                <a:solidFill>
                  <a:srgbClr val="2272C3"/>
                </a:solidFill>
                <a:latin typeface="Arial" pitchFamily="34" charset="0"/>
                <a:ea typeface="Arial" pitchFamily="34" charset="-122"/>
                <a:cs typeface="Arial" pitchFamily="34" charset="-120"/>
              </a:rPr>
              <a:t>정해져 있다면</a:t>
            </a:r>
            <a:r>
              <a:rPr lang="en-US" sz="1875" dirty="0">
                <a:solidFill>
                  <a:srgbClr val="51606D"/>
                </a:solidFill>
                <a:latin typeface="Arial" pitchFamily="34" charset="0"/>
                <a:ea typeface="Arial" pitchFamily="34" charset="-122"/>
                <a:cs typeface="Arial" pitchFamily="34" charset="-120"/>
              </a:rPr>
              <a:t>→ 코드로 해결한다</a:t>
            </a:r>
            <a:endParaRPr lang="en-US" sz="1875" dirty="0"/>
          </a:p>
        </p:txBody>
      </p:sp>
      <p:sp>
        <p:nvSpPr>
          <p:cNvPr id="12" name="Shape 10"/>
          <p:cNvSpPr/>
          <p:nvPr/>
        </p:nvSpPr>
        <p:spPr>
          <a:xfrm>
            <a:off x="7048500" y="5893893"/>
            <a:ext cx="5867400" cy="833438"/>
          </a:xfrm>
          <a:prstGeom prst="roundRect">
            <a:avLst>
              <a:gd name="adj" fmla="val 16000"/>
            </a:avLst>
          </a:prstGeom>
          <a:solidFill>
            <a:srgbClr val="FF9900">
              <a:alpha val="7000"/>
            </a:srgbClr>
          </a:solidFill>
          <a:ln w="9525">
            <a:solidFill>
              <a:srgbClr val="FF9900">
                <a:alpha val="40000"/>
              </a:srgbClr>
            </a:solidFill>
            <a:prstDash val="solid"/>
          </a:ln>
        </p:spPr>
        <p:txBody>
          <a:bodyPr/>
          <a:lstStyle/>
          <a:p>
            <a:endParaRPr lang="ko-KR" altLang="en-US"/>
          </a:p>
        </p:txBody>
      </p:sp>
      <p:sp>
        <p:nvSpPr>
          <p:cNvPr id="13" name="Text 11"/>
          <p:cNvSpPr/>
          <p:nvPr/>
        </p:nvSpPr>
        <p:spPr>
          <a:xfrm>
            <a:off x="7439025" y="6132018"/>
            <a:ext cx="5262372" cy="39528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75" b="1" dirty="0">
                <a:solidFill>
                  <a:srgbClr val="E07F00"/>
                </a:solidFill>
                <a:latin typeface="Arial" pitchFamily="34" charset="0"/>
                <a:ea typeface="Arial" pitchFamily="34" charset="-122"/>
                <a:cs typeface="Arial" pitchFamily="34" charset="-120"/>
              </a:rPr>
              <a:t>사람이 해오던 일이면</a:t>
            </a:r>
            <a:r>
              <a:rPr lang="en-US" sz="1875" dirty="0">
                <a:solidFill>
                  <a:srgbClr val="51606D"/>
                </a:solidFill>
                <a:latin typeface="Arial" pitchFamily="34" charset="0"/>
                <a:ea typeface="Arial" pitchFamily="34" charset="-122"/>
                <a:cs typeface="Arial" pitchFamily="34" charset="-120"/>
              </a:rPr>
              <a:t>→ LLM이 해결한다</a:t>
            </a:r>
            <a:endParaRPr lang="en-US" sz="1875" dirty="0"/>
          </a:p>
        </p:txBody>
      </p:sp>
      <p:sp>
        <p:nvSpPr>
          <p:cNvPr id="14" name="Text 12"/>
          <p:cNvSpPr/>
          <p:nvPr/>
        </p:nvSpPr>
        <p:spPr>
          <a:xfrm>
            <a:off x="800100" y="9505950"/>
            <a:ext cx="3694547" cy="32385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500" kern="0" spc="60" dirty="0">
                <a:solidFill>
                  <a:srgbClr val="76828F"/>
                </a:solidFill>
                <a:latin typeface="Arial" pitchFamily="34" charset="0"/>
                <a:ea typeface="Arial" pitchFamily="34" charset="-122"/>
                <a:cs typeface="Arial" pitchFamily="34" charset="-120"/>
              </a:rPr>
              <a:t>AWSKRUG 마곡 · LLM in the test loop</a:t>
            </a:r>
            <a:endParaRPr lang="en-US" sz="1500" dirty="0"/>
          </a:p>
        </p:txBody>
      </p:sp>
      <p:sp>
        <p:nvSpPr>
          <p:cNvPr id="15" name="Text 13"/>
          <p:cNvSpPr/>
          <p:nvPr/>
        </p:nvSpPr>
        <p:spPr>
          <a:xfrm>
            <a:off x="10467380" y="9505950"/>
            <a:ext cx="2693372" cy="32385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500" kern="0" spc="60" dirty="0">
                <a:solidFill>
                  <a:srgbClr val="76828F"/>
                </a:solidFill>
                <a:latin typeface="Arial" pitchFamily="34" charset="0"/>
                <a:ea typeface="Arial" pitchFamily="34" charset="-122"/>
                <a:cs typeface="Arial" pitchFamily="34" charset="-120"/>
              </a:rPr>
              <a:t>오늘은 "판단의 벽" 하나만 깊게</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00100" y="762000"/>
            <a:ext cx="3324969" cy="38100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00" b="1" kern="0" spc="144" dirty="0">
                <a:solidFill>
                  <a:srgbClr val="E07F00"/>
                </a:solidFill>
                <a:latin typeface="Arial" pitchFamily="34" charset="0"/>
                <a:ea typeface="Arial" pitchFamily="34" charset="-122"/>
                <a:cs typeface="Arial" pitchFamily="34" charset="-120"/>
              </a:rPr>
              <a:t>데모 </a:t>
            </a:r>
            <a:r>
              <a:rPr lang="en-US" sz="1800" b="1" kern="0" spc="144" dirty="0">
                <a:solidFill>
                  <a:srgbClr val="76828F"/>
                </a:solidFill>
                <a:latin typeface="Arial" pitchFamily="34" charset="0"/>
                <a:ea typeface="Arial" pitchFamily="34" charset="-122"/>
                <a:cs typeface="Arial" pitchFamily="34" charset="-120"/>
              </a:rPr>
              <a:t>· SonarQube 오탐 분류</a:t>
            </a:r>
            <a:endParaRPr lang="en-US" sz="1800" dirty="0"/>
          </a:p>
        </p:txBody>
      </p:sp>
      <p:sp>
        <p:nvSpPr>
          <p:cNvPr id="3" name="Text 1"/>
          <p:cNvSpPr/>
          <p:nvPr/>
        </p:nvSpPr>
        <p:spPr>
          <a:xfrm>
            <a:off x="800100" y="1314450"/>
            <a:ext cx="6714031" cy="688777"/>
          </a:xfrm>
          <a:prstGeom prst="rect">
            <a:avLst/>
          </a:prstGeom>
          <a:noFill/>
          <a:ln/>
        </p:spPr>
        <p:txBody>
          <a:bodyPr wrap="square" lIns="25400" tIns="25400" rIns="25400" bIns="25400" rtlCol="0" anchor="t">
            <a:normAutofit fontScale="92500" lnSpcReduction="10000"/>
          </a:bodyPr>
          <a:lstStyle/>
          <a:p>
            <a:pPr marL="0" indent="0" algn="l">
              <a:lnSpc>
                <a:spcPct val="122000"/>
              </a:lnSpc>
              <a:buNone/>
            </a:pPr>
            <a:r>
              <a:rPr lang="en-US" sz="4200" b="1" kern="0" spc="-63" dirty="0">
                <a:solidFill>
                  <a:srgbClr val="1A212B"/>
                </a:solidFill>
                <a:latin typeface="Arial" pitchFamily="34" charset="0"/>
                <a:ea typeface="Arial" pitchFamily="34" charset="-122"/>
                <a:cs typeface="Arial" pitchFamily="34" charset="-120"/>
              </a:rPr>
              <a:t>"그냥 </a:t>
            </a:r>
            <a:r>
              <a:rPr lang="en-US" sz="4200" b="1" kern="0" spc="-63" dirty="0">
                <a:solidFill>
                  <a:srgbClr val="E07F00"/>
                </a:solidFill>
                <a:latin typeface="Arial" pitchFamily="34" charset="0"/>
                <a:ea typeface="Arial" pitchFamily="34" charset="-122"/>
                <a:cs typeface="Arial" pitchFamily="34" charset="-120"/>
              </a:rPr>
              <a:t>룰로 거르면 </a:t>
            </a:r>
            <a:r>
              <a:rPr lang="en-US" sz="4200" b="1" kern="0" spc="-63" dirty="0">
                <a:solidFill>
                  <a:srgbClr val="1A212B"/>
                </a:solidFill>
                <a:latin typeface="Arial" pitchFamily="34" charset="0"/>
                <a:ea typeface="Arial" pitchFamily="34" charset="-122"/>
                <a:cs typeface="Arial" pitchFamily="34" charset="-120"/>
              </a:rPr>
              <a:t>안 되나요?"</a:t>
            </a:r>
            <a:endParaRPr lang="en-US" sz="4200" dirty="0"/>
          </a:p>
        </p:txBody>
      </p:sp>
      <p:sp>
        <p:nvSpPr>
          <p:cNvPr id="4" name="Text 2"/>
          <p:cNvSpPr/>
          <p:nvPr/>
        </p:nvSpPr>
        <p:spPr>
          <a:xfrm>
            <a:off x="800100" y="2250877"/>
            <a:ext cx="6557851" cy="531465"/>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775" dirty="0">
                <a:solidFill>
                  <a:srgbClr val="51606D"/>
                </a:solidFill>
                <a:latin typeface="Arial" pitchFamily="34" charset="0"/>
                <a:ea typeface="Arial" pitchFamily="34" charset="-122"/>
                <a:cs typeface="Arial" pitchFamily="34" charset="-120"/>
              </a:rPr>
              <a:t>맞습니다. 룰로 할 수 있는 건 룰로 거릅시다.</a:t>
            </a:r>
            <a:endParaRPr lang="en-US" sz="2775" dirty="0"/>
          </a:p>
        </p:txBody>
      </p:sp>
      <p:sp>
        <p:nvSpPr>
          <p:cNvPr id="5" name="Shape 3"/>
          <p:cNvSpPr/>
          <p:nvPr/>
        </p:nvSpPr>
        <p:spPr>
          <a:xfrm>
            <a:off x="800100" y="3163342"/>
            <a:ext cx="11239500" cy="895350"/>
          </a:xfrm>
          <a:prstGeom prst="roundRect">
            <a:avLst>
              <a:gd name="adj" fmla="val 13830"/>
            </a:avLst>
          </a:prstGeom>
          <a:solidFill>
            <a:srgbClr val="10151D"/>
          </a:solidFill>
          <a:ln w="9525">
            <a:solidFill>
              <a:srgbClr val="2A3340"/>
            </a:solidFill>
            <a:prstDash val="solid"/>
          </a:ln>
        </p:spPr>
        <p:txBody>
          <a:bodyPr/>
          <a:lstStyle/>
          <a:p>
            <a:endParaRPr lang="ko-KR" altLang="en-US"/>
          </a:p>
        </p:txBody>
      </p:sp>
      <p:sp>
        <p:nvSpPr>
          <p:cNvPr id="6" name="Text 4"/>
          <p:cNvSpPr/>
          <p:nvPr/>
        </p:nvSpPr>
        <p:spPr>
          <a:xfrm>
            <a:off x="1095375" y="3420517"/>
            <a:ext cx="830982" cy="419100"/>
          </a:xfrm>
          <a:prstGeom prst="rect">
            <a:avLst/>
          </a:prstGeom>
          <a:noFill/>
          <a:ln/>
        </p:spPr>
        <p:txBody>
          <a:bodyPr wrap="square" lIns="25400" tIns="25400" rIns="25400" bIns="25400" rtlCol="0" anchor="t">
            <a:normAutofit fontScale="92500"/>
          </a:bodyPr>
          <a:lstStyle/>
          <a:p>
            <a:pPr marL="0" indent="0" algn="l">
              <a:lnSpc>
                <a:spcPct val="160000"/>
              </a:lnSpc>
              <a:buNone/>
            </a:pPr>
            <a:r>
              <a:rPr lang="en-US" sz="1875" b="1" dirty="0">
                <a:solidFill>
                  <a:srgbClr val="76828F"/>
                </a:solidFill>
                <a:latin typeface="Arial" pitchFamily="34" charset="0"/>
                <a:ea typeface="Arial" pitchFamily="34" charset="-122"/>
                <a:cs typeface="Arial" pitchFamily="34" charset="-120"/>
              </a:rPr>
              <a:t>RULE 1</a:t>
            </a:r>
            <a:endParaRPr lang="en-US" sz="1875" dirty="0"/>
          </a:p>
        </p:txBody>
      </p:sp>
      <p:sp>
        <p:nvSpPr>
          <p:cNvPr id="7" name="Text 5"/>
          <p:cNvSpPr/>
          <p:nvPr/>
        </p:nvSpPr>
        <p:spPr>
          <a:xfrm>
            <a:off x="2135907" y="3420517"/>
            <a:ext cx="1429271" cy="419100"/>
          </a:xfrm>
          <a:prstGeom prst="rect">
            <a:avLst/>
          </a:prstGeom>
          <a:noFill/>
          <a:ln/>
        </p:spPr>
        <p:txBody>
          <a:bodyPr wrap="square" lIns="25400" tIns="25400" rIns="25400" bIns="25400" rtlCol="0" anchor="t">
            <a:normAutofit fontScale="92500"/>
          </a:bodyPr>
          <a:lstStyle/>
          <a:p>
            <a:pPr marL="0" indent="0" algn="l">
              <a:lnSpc>
                <a:spcPct val="160000"/>
              </a:lnSpc>
              <a:buNone/>
            </a:pPr>
            <a:r>
              <a:rPr lang="en-US" sz="1875" dirty="0">
                <a:solidFill>
                  <a:srgbClr val="E8EDF4"/>
                </a:solidFill>
                <a:latin typeface="Arial" pitchFamily="34" charset="0"/>
                <a:ea typeface="Arial" pitchFamily="34" charset="-122"/>
                <a:cs typeface="Arial" pitchFamily="34" charset="-120"/>
              </a:rPr>
              <a:t>test 경로 제외</a:t>
            </a:r>
            <a:endParaRPr lang="en-US" sz="1875" dirty="0"/>
          </a:p>
        </p:txBody>
      </p:sp>
      <p:sp>
        <p:nvSpPr>
          <p:cNvPr id="8" name="Text 6"/>
          <p:cNvSpPr/>
          <p:nvPr/>
        </p:nvSpPr>
        <p:spPr>
          <a:xfrm>
            <a:off x="3774728" y="3420517"/>
            <a:ext cx="3877392" cy="419100"/>
          </a:xfrm>
          <a:prstGeom prst="rect">
            <a:avLst/>
          </a:prstGeom>
          <a:noFill/>
          <a:ln/>
        </p:spPr>
        <p:txBody>
          <a:bodyPr wrap="square" lIns="25400" tIns="25400" rIns="25400" bIns="25400" rtlCol="0" anchor="t">
            <a:normAutofit fontScale="92500"/>
          </a:bodyPr>
          <a:lstStyle/>
          <a:p>
            <a:pPr marL="0" indent="0" algn="l">
              <a:lnSpc>
                <a:spcPct val="160000"/>
              </a:lnSpc>
              <a:buNone/>
            </a:pPr>
            <a:r>
              <a:rPr lang="en-US" sz="1875" dirty="0">
                <a:solidFill>
                  <a:srgbClr val="8595A6"/>
                </a:solidFill>
                <a:latin typeface="Arial" pitchFamily="34" charset="0"/>
                <a:ea typeface="Arial" pitchFamily="34" charset="-122"/>
                <a:cs typeface="Arial" pitchFamily="34" charset="-120"/>
              </a:rPr>
              <a:t>— path contains "/test/" → 오탐 처리</a:t>
            </a:r>
            <a:endParaRPr lang="en-US" sz="1875" dirty="0"/>
          </a:p>
        </p:txBody>
      </p:sp>
      <p:sp>
        <p:nvSpPr>
          <p:cNvPr id="9" name="Shape 7"/>
          <p:cNvSpPr/>
          <p:nvPr/>
        </p:nvSpPr>
        <p:spPr>
          <a:xfrm>
            <a:off x="800100" y="4287628"/>
            <a:ext cx="11239500" cy="895350"/>
          </a:xfrm>
          <a:prstGeom prst="roundRect">
            <a:avLst>
              <a:gd name="adj" fmla="val 13830"/>
            </a:avLst>
          </a:prstGeom>
          <a:solidFill>
            <a:srgbClr val="10151D"/>
          </a:solidFill>
          <a:ln w="9525">
            <a:solidFill>
              <a:srgbClr val="2A3340"/>
            </a:solidFill>
            <a:prstDash val="solid"/>
          </a:ln>
        </p:spPr>
        <p:txBody>
          <a:bodyPr/>
          <a:lstStyle/>
          <a:p>
            <a:endParaRPr lang="ko-KR" altLang="en-US"/>
          </a:p>
        </p:txBody>
      </p:sp>
      <p:sp>
        <p:nvSpPr>
          <p:cNvPr id="10" name="Text 8"/>
          <p:cNvSpPr/>
          <p:nvPr/>
        </p:nvSpPr>
        <p:spPr>
          <a:xfrm>
            <a:off x="1095375" y="4544803"/>
            <a:ext cx="864766" cy="419100"/>
          </a:xfrm>
          <a:prstGeom prst="rect">
            <a:avLst/>
          </a:prstGeom>
          <a:noFill/>
          <a:ln/>
        </p:spPr>
        <p:txBody>
          <a:bodyPr wrap="square" lIns="25400" tIns="25400" rIns="25400" bIns="25400" rtlCol="0" anchor="t">
            <a:normAutofit fontScale="92500"/>
          </a:bodyPr>
          <a:lstStyle/>
          <a:p>
            <a:pPr marL="0" indent="0" algn="l">
              <a:lnSpc>
                <a:spcPct val="160000"/>
              </a:lnSpc>
              <a:buNone/>
            </a:pPr>
            <a:r>
              <a:rPr lang="en-US" sz="1875" b="1" dirty="0">
                <a:solidFill>
                  <a:srgbClr val="76828F"/>
                </a:solidFill>
                <a:latin typeface="Arial" pitchFamily="34" charset="0"/>
                <a:ea typeface="Arial" pitchFamily="34" charset="-122"/>
                <a:cs typeface="Arial" pitchFamily="34" charset="-120"/>
              </a:rPr>
              <a:t>RULE 2</a:t>
            </a:r>
            <a:endParaRPr lang="en-US" sz="1875" dirty="0"/>
          </a:p>
        </p:txBody>
      </p:sp>
      <p:sp>
        <p:nvSpPr>
          <p:cNvPr id="11" name="Text 9"/>
          <p:cNvSpPr/>
          <p:nvPr/>
        </p:nvSpPr>
        <p:spPr>
          <a:xfrm>
            <a:off x="2169691" y="4544803"/>
            <a:ext cx="1842195" cy="419100"/>
          </a:xfrm>
          <a:prstGeom prst="rect">
            <a:avLst/>
          </a:prstGeom>
          <a:noFill/>
          <a:ln/>
        </p:spPr>
        <p:txBody>
          <a:bodyPr wrap="square" lIns="25400" tIns="25400" rIns="25400" bIns="25400" rtlCol="0" anchor="t">
            <a:normAutofit fontScale="85000" lnSpcReduction="10000"/>
          </a:bodyPr>
          <a:lstStyle/>
          <a:p>
            <a:pPr marL="0" indent="0" algn="l">
              <a:lnSpc>
                <a:spcPct val="160000"/>
              </a:lnSpc>
              <a:buNone/>
            </a:pPr>
            <a:r>
              <a:rPr lang="en-US" sz="1875" dirty="0">
                <a:solidFill>
                  <a:srgbClr val="E8EDF4"/>
                </a:solidFill>
                <a:latin typeface="Arial" pitchFamily="34" charset="0"/>
                <a:ea typeface="Arial" pitchFamily="34" charset="-122"/>
                <a:cs typeface="Arial" pitchFamily="34" charset="-120"/>
              </a:rPr>
              <a:t>시크릿 키워드 매칭</a:t>
            </a:r>
            <a:endParaRPr lang="en-US" sz="1875" dirty="0"/>
          </a:p>
        </p:txBody>
      </p:sp>
      <p:sp>
        <p:nvSpPr>
          <p:cNvPr id="12" name="Text 10"/>
          <p:cNvSpPr/>
          <p:nvPr/>
        </p:nvSpPr>
        <p:spPr>
          <a:xfrm>
            <a:off x="4221435" y="4544803"/>
            <a:ext cx="4566138" cy="419100"/>
          </a:xfrm>
          <a:prstGeom prst="rect">
            <a:avLst/>
          </a:prstGeom>
          <a:noFill/>
          <a:ln/>
        </p:spPr>
        <p:txBody>
          <a:bodyPr wrap="square" lIns="25400" tIns="25400" rIns="25400" bIns="25400" rtlCol="0" anchor="t">
            <a:normAutofit fontScale="92500"/>
          </a:bodyPr>
          <a:lstStyle/>
          <a:p>
            <a:pPr marL="0" indent="0" algn="l">
              <a:lnSpc>
                <a:spcPct val="160000"/>
              </a:lnSpc>
              <a:buNone/>
            </a:pPr>
            <a:r>
              <a:rPr lang="en-US" sz="1875" dirty="0">
                <a:solidFill>
                  <a:srgbClr val="8595A6"/>
                </a:solidFill>
                <a:latin typeface="Arial" pitchFamily="34" charset="0"/>
                <a:ea typeface="Arial" pitchFamily="34" charset="-122"/>
                <a:cs typeface="Arial" pitchFamily="34" charset="-120"/>
              </a:rPr>
              <a:t>— secret | key | token | credential | passw</a:t>
            </a:r>
            <a:endParaRPr lang="en-US" sz="1875" dirty="0"/>
          </a:p>
        </p:txBody>
      </p:sp>
      <p:sp>
        <p:nvSpPr>
          <p:cNvPr id="13" name="Shape 11"/>
          <p:cNvSpPr/>
          <p:nvPr/>
        </p:nvSpPr>
        <p:spPr>
          <a:xfrm>
            <a:off x="800100" y="5415750"/>
            <a:ext cx="11239500" cy="895350"/>
          </a:xfrm>
          <a:prstGeom prst="roundRect">
            <a:avLst>
              <a:gd name="adj" fmla="val 13830"/>
            </a:avLst>
          </a:prstGeom>
          <a:solidFill>
            <a:srgbClr val="10151D">
              <a:alpha val="98000"/>
            </a:srgbClr>
          </a:solidFill>
          <a:ln w="9525">
            <a:solidFill>
              <a:srgbClr val="2A3340">
                <a:alpha val="98000"/>
              </a:srgbClr>
            </a:solidFill>
            <a:prstDash val="solid"/>
          </a:ln>
        </p:spPr>
        <p:txBody>
          <a:bodyPr/>
          <a:lstStyle/>
          <a:p>
            <a:endParaRPr lang="ko-KR" altLang="en-US"/>
          </a:p>
        </p:txBody>
      </p:sp>
      <p:sp>
        <p:nvSpPr>
          <p:cNvPr id="14" name="Text 12"/>
          <p:cNvSpPr/>
          <p:nvPr/>
        </p:nvSpPr>
        <p:spPr>
          <a:xfrm>
            <a:off x="1095375" y="5672925"/>
            <a:ext cx="871538" cy="419100"/>
          </a:xfrm>
          <a:prstGeom prst="rect">
            <a:avLst/>
          </a:prstGeom>
          <a:noFill/>
          <a:ln/>
        </p:spPr>
        <p:txBody>
          <a:bodyPr wrap="square" lIns="25400" tIns="25400" rIns="25400" bIns="25400" rtlCol="0" anchor="t">
            <a:normAutofit fontScale="92500"/>
          </a:bodyPr>
          <a:lstStyle/>
          <a:p>
            <a:pPr marL="0" indent="0" algn="l">
              <a:lnSpc>
                <a:spcPct val="160000"/>
              </a:lnSpc>
              <a:buNone/>
            </a:pPr>
            <a:r>
              <a:rPr lang="en-US" sz="1875" b="1" dirty="0">
                <a:solidFill>
                  <a:srgbClr val="76828F"/>
                </a:solidFill>
                <a:latin typeface="Arial" pitchFamily="34" charset="0"/>
                <a:ea typeface="Arial" pitchFamily="34" charset="-122"/>
                <a:cs typeface="Arial" pitchFamily="34" charset="-120"/>
              </a:rPr>
              <a:t>RULE 3</a:t>
            </a:r>
            <a:endParaRPr lang="en-US" sz="1875" dirty="0"/>
          </a:p>
        </p:txBody>
      </p:sp>
      <p:sp>
        <p:nvSpPr>
          <p:cNvPr id="15" name="Text 13"/>
          <p:cNvSpPr/>
          <p:nvPr/>
        </p:nvSpPr>
        <p:spPr>
          <a:xfrm>
            <a:off x="2176463" y="5672925"/>
            <a:ext cx="2575173" cy="419100"/>
          </a:xfrm>
          <a:prstGeom prst="rect">
            <a:avLst/>
          </a:prstGeom>
          <a:noFill/>
          <a:ln/>
        </p:spPr>
        <p:txBody>
          <a:bodyPr wrap="square" lIns="25400" tIns="25400" rIns="25400" bIns="25400" rtlCol="0" anchor="t">
            <a:normAutofit fontScale="92500"/>
          </a:bodyPr>
          <a:lstStyle/>
          <a:p>
            <a:pPr marL="0" indent="0" algn="l">
              <a:lnSpc>
                <a:spcPct val="160000"/>
              </a:lnSpc>
              <a:buNone/>
            </a:pPr>
            <a:r>
              <a:rPr lang="en-US" sz="1875" dirty="0">
                <a:solidFill>
                  <a:srgbClr val="E8EDF4"/>
                </a:solidFill>
                <a:latin typeface="Arial" pitchFamily="34" charset="0"/>
                <a:ea typeface="Arial" pitchFamily="34" charset="-122"/>
                <a:cs typeface="Arial" pitchFamily="34" charset="-120"/>
              </a:rPr>
              <a:t>Shannon 엔트로피 임계값</a:t>
            </a:r>
            <a:endParaRPr lang="en-US" sz="1875" dirty="0"/>
          </a:p>
        </p:txBody>
      </p:sp>
      <p:sp>
        <p:nvSpPr>
          <p:cNvPr id="16" name="Text 14"/>
          <p:cNvSpPr/>
          <p:nvPr/>
        </p:nvSpPr>
        <p:spPr>
          <a:xfrm>
            <a:off x="4961186" y="5672925"/>
            <a:ext cx="4023174" cy="419100"/>
          </a:xfrm>
          <a:prstGeom prst="rect">
            <a:avLst/>
          </a:prstGeom>
          <a:noFill/>
          <a:ln/>
        </p:spPr>
        <p:txBody>
          <a:bodyPr wrap="square" lIns="25400" tIns="25400" rIns="25400" bIns="25400" rtlCol="0" anchor="t">
            <a:normAutofit fontScale="92500"/>
          </a:bodyPr>
          <a:lstStyle/>
          <a:p>
            <a:pPr marL="0" indent="0" algn="l">
              <a:lnSpc>
                <a:spcPct val="160000"/>
              </a:lnSpc>
              <a:buNone/>
            </a:pPr>
            <a:r>
              <a:rPr lang="en-US" sz="1875" dirty="0">
                <a:solidFill>
                  <a:srgbClr val="8595A6"/>
                </a:solidFill>
                <a:latin typeface="Arial" pitchFamily="34" charset="0"/>
                <a:ea typeface="Arial" pitchFamily="34" charset="-122"/>
                <a:cs typeface="Arial" pitchFamily="34" charset="-120"/>
              </a:rPr>
              <a:t>— entropy(string) ≥ 3.0 → 실결함 의심</a:t>
            </a:r>
            <a:endParaRPr lang="en-US" sz="1875" dirty="0"/>
          </a:p>
        </p:txBody>
      </p:sp>
      <p:sp>
        <p:nvSpPr>
          <p:cNvPr id="17" name="Text 15"/>
          <p:cNvSpPr/>
          <p:nvPr/>
        </p:nvSpPr>
        <p:spPr>
          <a:xfrm>
            <a:off x="800100" y="6763792"/>
            <a:ext cx="7238234" cy="56673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2775" b="1" dirty="0">
                <a:solidFill>
                  <a:srgbClr val="1A212B"/>
                </a:solidFill>
                <a:latin typeface="Arial" pitchFamily="34" charset="0"/>
                <a:ea typeface="Arial" pitchFamily="34" charset="-122"/>
                <a:cs typeface="Arial" pitchFamily="34" charset="-120"/>
              </a:rPr>
              <a:t>그런데 </a:t>
            </a:r>
            <a:r>
              <a:rPr lang="en-US" sz="2775" b="1" dirty="0">
                <a:solidFill>
                  <a:srgbClr val="D6403D"/>
                </a:solidFill>
                <a:latin typeface="Arial" pitchFamily="34" charset="0"/>
                <a:ea typeface="Arial" pitchFamily="34" charset="-122"/>
                <a:cs typeface="Arial" pitchFamily="34" charset="-120"/>
              </a:rPr>
              <a:t>두 개의 사례</a:t>
            </a:r>
            <a:r>
              <a:rPr lang="en-US" sz="2775" b="1" dirty="0">
                <a:solidFill>
                  <a:srgbClr val="1A212B"/>
                </a:solidFill>
                <a:latin typeface="Arial" pitchFamily="34" charset="0"/>
                <a:ea typeface="Arial" pitchFamily="34" charset="-122"/>
                <a:cs typeface="Arial" pitchFamily="34" charset="-120"/>
              </a:rPr>
              <a:t>에서 룰이 통하지 않았습니다</a:t>
            </a:r>
            <a:endParaRPr lang="en-US" sz="2775" dirty="0"/>
          </a:p>
        </p:txBody>
      </p:sp>
      <p:sp>
        <p:nvSpPr>
          <p:cNvPr id="18" name="Text 16"/>
          <p:cNvSpPr/>
          <p:nvPr/>
        </p:nvSpPr>
        <p:spPr>
          <a:xfrm>
            <a:off x="800100" y="9505950"/>
            <a:ext cx="3694547" cy="32385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500" kern="0" spc="60" dirty="0">
                <a:solidFill>
                  <a:srgbClr val="76828F"/>
                </a:solidFill>
                <a:latin typeface="Arial" pitchFamily="34" charset="0"/>
                <a:ea typeface="Arial" pitchFamily="34" charset="-122"/>
                <a:cs typeface="Arial" pitchFamily="34" charset="-120"/>
              </a:rPr>
              <a:t>AWSKRUG 마곡 · LLM in the test loop</a:t>
            </a:r>
            <a:endParaRPr lang="en-US" sz="1500" dirty="0"/>
          </a:p>
        </p:txBody>
      </p:sp>
      <p:sp>
        <p:nvSpPr>
          <p:cNvPr id="19" name="Text 17"/>
          <p:cNvSpPr/>
          <p:nvPr/>
        </p:nvSpPr>
        <p:spPr>
          <a:xfrm>
            <a:off x="10446544" y="9505950"/>
            <a:ext cx="2716292" cy="32385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500" kern="0" spc="60" dirty="0">
                <a:solidFill>
                  <a:srgbClr val="76828F"/>
                </a:solidFill>
                <a:latin typeface="Arial" pitchFamily="34" charset="0"/>
                <a:ea typeface="Arial" pitchFamily="34" charset="-122"/>
                <a:cs typeface="Arial" pitchFamily="34" charset="-120"/>
              </a:rPr>
              <a:t>demo/false-positive-triage</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00100" y="762000"/>
            <a:ext cx="1515636" cy="381000"/>
          </a:xfrm>
          <a:prstGeom prst="rect">
            <a:avLst/>
          </a:prstGeom>
          <a:noFill/>
          <a:ln/>
        </p:spPr>
        <p:txBody>
          <a:bodyPr wrap="square" lIns="25400" tIns="25400" rIns="25400" bIns="25400" rtlCol="0" anchor="t">
            <a:normAutofit fontScale="85000" lnSpcReduction="10000"/>
          </a:bodyPr>
          <a:lstStyle/>
          <a:p>
            <a:pPr marL="0" indent="0" algn="l">
              <a:lnSpc>
                <a:spcPct val="150000"/>
              </a:lnSpc>
              <a:buNone/>
            </a:pPr>
            <a:r>
              <a:rPr lang="en-US" sz="1800" b="1" kern="0" spc="144" dirty="0">
                <a:solidFill>
                  <a:srgbClr val="E07F00"/>
                </a:solidFill>
                <a:latin typeface="Arial" pitchFamily="34" charset="0"/>
                <a:ea typeface="Arial" pitchFamily="34" charset="-122"/>
                <a:cs typeface="Arial" pitchFamily="34" charset="-120"/>
              </a:rPr>
              <a:t>데모 </a:t>
            </a:r>
            <a:r>
              <a:rPr lang="en-US" sz="1800" b="1" kern="0" spc="144" dirty="0">
                <a:solidFill>
                  <a:srgbClr val="76828F"/>
                </a:solidFill>
                <a:latin typeface="Arial" pitchFamily="34" charset="0"/>
                <a:ea typeface="Arial" pitchFamily="34" charset="-122"/>
                <a:cs typeface="Arial" pitchFamily="34" charset="-120"/>
              </a:rPr>
              <a:t>· 경계 쌍</a:t>
            </a:r>
            <a:endParaRPr lang="en-US" sz="1800" dirty="0"/>
          </a:p>
        </p:txBody>
      </p:sp>
      <p:sp>
        <p:nvSpPr>
          <p:cNvPr id="3" name="Text 1"/>
          <p:cNvSpPr/>
          <p:nvPr/>
        </p:nvSpPr>
        <p:spPr>
          <a:xfrm>
            <a:off x="800100" y="1314450"/>
            <a:ext cx="6871112" cy="688777"/>
          </a:xfrm>
          <a:prstGeom prst="rect">
            <a:avLst/>
          </a:prstGeom>
          <a:noFill/>
          <a:ln/>
        </p:spPr>
        <p:txBody>
          <a:bodyPr wrap="square" lIns="25400" tIns="25400" rIns="25400" bIns="25400" rtlCol="0" anchor="t">
            <a:normAutofit fontScale="92500" lnSpcReduction="10000"/>
          </a:bodyPr>
          <a:lstStyle/>
          <a:p>
            <a:pPr marL="0" indent="0" algn="l">
              <a:lnSpc>
                <a:spcPct val="122000"/>
              </a:lnSpc>
              <a:buNone/>
            </a:pPr>
            <a:r>
              <a:rPr lang="en-US" sz="4200" b="1" kern="0" spc="-63" dirty="0">
                <a:solidFill>
                  <a:srgbClr val="1A212B"/>
                </a:solidFill>
                <a:latin typeface="Arial" pitchFamily="34" charset="0"/>
                <a:ea typeface="Arial" pitchFamily="34" charset="-122"/>
                <a:cs typeface="Arial" pitchFamily="34" charset="-120"/>
              </a:rPr>
              <a:t>같은 규칙 </a:t>
            </a:r>
            <a:r>
              <a:rPr lang="en-US" sz="4200" b="1" kern="0" spc="-63" dirty="0">
                <a:solidFill>
                  <a:srgbClr val="B97C0A"/>
                </a:solidFill>
                <a:latin typeface="Arial" pitchFamily="34" charset="0"/>
                <a:ea typeface="Arial" pitchFamily="34" charset="-122"/>
                <a:cs typeface="Arial" pitchFamily="34" charset="-120"/>
              </a:rPr>
              <a:t>S6418</a:t>
            </a:r>
            <a:r>
              <a:rPr lang="en-US" sz="4200" b="1" kern="0" spc="-63" dirty="0">
                <a:solidFill>
                  <a:srgbClr val="1A212B"/>
                </a:solidFill>
                <a:latin typeface="Arial" pitchFamily="34" charset="0"/>
                <a:ea typeface="Arial" pitchFamily="34" charset="-122"/>
                <a:cs typeface="Arial" pitchFamily="34" charset="-120"/>
              </a:rPr>
              <a:t>, 정반대 정답</a:t>
            </a:r>
            <a:endParaRPr lang="en-US" sz="4200" dirty="0"/>
          </a:p>
        </p:txBody>
      </p:sp>
      <p:sp>
        <p:nvSpPr>
          <p:cNvPr id="4" name="Shape 2"/>
          <p:cNvSpPr/>
          <p:nvPr/>
        </p:nvSpPr>
        <p:spPr>
          <a:xfrm>
            <a:off x="800100" y="2346127"/>
            <a:ext cx="5629275" cy="1988642"/>
          </a:xfrm>
          <a:prstGeom prst="roundRect">
            <a:avLst>
              <a:gd name="adj" fmla="val 6674"/>
            </a:avLst>
          </a:prstGeom>
          <a:solidFill>
            <a:srgbClr val="10151D"/>
          </a:solidFill>
          <a:ln w="9525">
            <a:solidFill>
              <a:srgbClr val="2A3340"/>
            </a:solidFill>
            <a:prstDash val="solid"/>
          </a:ln>
        </p:spPr>
        <p:txBody>
          <a:bodyPr/>
          <a:lstStyle/>
          <a:p>
            <a:endParaRPr lang="ko-KR" altLang="en-US"/>
          </a:p>
        </p:txBody>
      </p:sp>
      <p:sp>
        <p:nvSpPr>
          <p:cNvPr id="5" name="Text 3"/>
          <p:cNvSpPr/>
          <p:nvPr/>
        </p:nvSpPr>
        <p:spPr>
          <a:xfrm>
            <a:off x="1095375" y="2603302"/>
            <a:ext cx="5207603" cy="1379041"/>
          </a:xfrm>
          <a:prstGeom prst="rect">
            <a:avLst/>
          </a:prstGeom>
          <a:noFill/>
          <a:ln/>
        </p:spPr>
        <p:txBody>
          <a:bodyPr wrap="square" lIns="25400" tIns="25400" rIns="25400" bIns="25400" rtlCol="0" anchor="t">
            <a:noAutofit/>
          </a:bodyPr>
          <a:lstStyle/>
          <a:p>
            <a:pPr marL="0" indent="0" algn="l">
              <a:lnSpc>
                <a:spcPct val="160000"/>
              </a:lnSpc>
              <a:buNone/>
            </a:pPr>
            <a:r>
              <a:rPr lang="en-US" sz="1650" dirty="0">
                <a:solidFill>
                  <a:srgbClr val="8595A6"/>
                </a:solidFill>
                <a:latin typeface="Arial" pitchFamily="34" charset="0"/>
                <a:ea typeface="Arial" pitchFamily="34" charset="-122"/>
                <a:cs typeface="Arial" pitchFamily="34" charset="-120"/>
              </a:rPr>
              <a:t>// PaymentConfig.java · src/</a:t>
            </a:r>
            <a:r>
              <a:rPr lang="en-US" sz="1650" u="sng" dirty="0">
                <a:solidFill>
                  <a:srgbClr val="8595A6"/>
                </a:solidFill>
                <a:latin typeface="Arial" pitchFamily="34" charset="0"/>
                <a:ea typeface="Arial" pitchFamily="34" charset="-122"/>
                <a:cs typeface="Arial" pitchFamily="34" charset="-120"/>
              </a:rPr>
              <a:t>main</a:t>
            </a:r>
            <a:r>
              <a:rPr lang="en-US" sz="1650" dirty="0">
                <a:solidFill>
                  <a:srgbClr val="8595A6"/>
                </a:solidFill>
                <a:latin typeface="Arial" pitchFamily="34" charset="0"/>
                <a:ea typeface="Arial" pitchFamily="34" charset="-122"/>
                <a:cs typeface="Arial" pitchFamily="34" charset="-120"/>
              </a:rPr>
              <a:t>/java/…</a:t>
            </a:r>
          </a:p>
          <a:p>
            <a:pPr marL="0" indent="0" algn="l">
              <a:lnSpc>
                <a:spcPct val="160000"/>
              </a:lnSpc>
              <a:buNone/>
            </a:pPr>
            <a:r>
              <a:rPr lang="en-US" sz="1650" dirty="0">
                <a:solidFill>
                  <a:srgbClr val="8595A6"/>
                </a:solidFill>
                <a:latin typeface="Arial" pitchFamily="34" charset="0"/>
                <a:ea typeface="Arial" pitchFamily="34" charset="-122"/>
                <a:cs typeface="Arial" pitchFamily="34" charset="-120"/>
              </a:rPr>
              <a:t>// AWS 공식 문서에 공개된 예제 키</a:t>
            </a:r>
          </a:p>
          <a:p>
            <a:pPr marL="0" indent="0" algn="l">
              <a:lnSpc>
                <a:spcPct val="160000"/>
              </a:lnSpc>
              <a:buNone/>
            </a:pPr>
            <a:r>
              <a:rPr lang="en-US" sz="1650" dirty="0">
                <a:solidFill>
                  <a:srgbClr val="C792EA"/>
                </a:solidFill>
                <a:latin typeface="Arial" pitchFamily="34" charset="0"/>
                <a:ea typeface="Arial" pitchFamily="34" charset="-122"/>
                <a:cs typeface="Arial" pitchFamily="34" charset="-120"/>
              </a:rPr>
              <a:t>static final</a:t>
            </a:r>
            <a:r>
              <a:rPr lang="en-US" sz="1650" dirty="0">
                <a:solidFill>
                  <a:srgbClr val="E8EDF4"/>
                </a:solidFill>
                <a:latin typeface="Arial" pitchFamily="34" charset="0"/>
                <a:ea typeface="Arial" pitchFamily="34" charset="-122"/>
                <a:cs typeface="Arial" pitchFamily="34" charset="-120"/>
              </a:rPr>
              <a:t> </a:t>
            </a:r>
            <a:r>
              <a:rPr lang="en-US" sz="1650" dirty="0">
                <a:solidFill>
                  <a:srgbClr val="82AAFF"/>
                </a:solidFill>
                <a:latin typeface="Arial" pitchFamily="34" charset="0"/>
                <a:ea typeface="Arial" pitchFamily="34" charset="-122"/>
                <a:cs typeface="Arial" pitchFamily="34" charset="-120"/>
              </a:rPr>
              <a:t>String</a:t>
            </a:r>
            <a:r>
              <a:rPr lang="en-US" sz="1650" dirty="0">
                <a:solidFill>
                  <a:srgbClr val="E8EDF4"/>
                </a:solidFill>
                <a:latin typeface="Arial" pitchFamily="34" charset="0"/>
                <a:ea typeface="Arial" pitchFamily="34" charset="-122"/>
                <a:cs typeface="Arial" pitchFamily="34" charset="-120"/>
              </a:rPr>
              <a:t> AWS_ACCESS_KEY_ID =</a:t>
            </a:r>
          </a:p>
          <a:p>
            <a:pPr marL="0" indent="0" algn="l">
              <a:lnSpc>
                <a:spcPct val="160000"/>
              </a:lnSpc>
              <a:buNone/>
            </a:pPr>
            <a:r>
              <a:rPr lang="en-US" sz="1650" dirty="0">
                <a:solidFill>
                  <a:srgbClr val="E8EDF4"/>
                </a:solidFill>
                <a:latin typeface="Arial" pitchFamily="34" charset="0"/>
                <a:ea typeface="Arial" pitchFamily="34" charset="-122"/>
                <a:cs typeface="Arial" pitchFamily="34" charset="-120"/>
              </a:rPr>
              <a:t>    </a:t>
            </a:r>
            <a:r>
              <a:rPr lang="en-US" sz="1650" dirty="0">
                <a:solidFill>
                  <a:srgbClr val="C3E88D"/>
                </a:solidFill>
                <a:latin typeface="Arial" pitchFamily="34" charset="0"/>
                <a:ea typeface="Arial" pitchFamily="34" charset="-122"/>
                <a:cs typeface="Arial" pitchFamily="34" charset="-120"/>
              </a:rPr>
              <a:t>"AKIAIOSFODNN7EXAMPLE"</a:t>
            </a:r>
            <a:r>
              <a:rPr lang="en-US" sz="1650" dirty="0">
                <a:solidFill>
                  <a:srgbClr val="E8EDF4"/>
                </a:solidFill>
                <a:latin typeface="Arial" pitchFamily="34" charset="0"/>
                <a:ea typeface="Arial" pitchFamily="34" charset="-122"/>
                <a:cs typeface="Arial" pitchFamily="34" charset="-120"/>
              </a:rPr>
              <a:t>;</a:t>
            </a:r>
          </a:p>
        </p:txBody>
      </p:sp>
      <p:sp>
        <p:nvSpPr>
          <p:cNvPr id="6" name="Text 4"/>
          <p:cNvSpPr/>
          <p:nvPr/>
        </p:nvSpPr>
        <p:spPr>
          <a:xfrm>
            <a:off x="800100" y="4410968"/>
            <a:ext cx="6192203" cy="39528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75" dirty="0">
                <a:solidFill>
                  <a:srgbClr val="76828F"/>
                </a:solidFill>
                <a:latin typeface="Arial" pitchFamily="34" charset="0"/>
                <a:ea typeface="Arial" pitchFamily="34" charset="-122"/>
                <a:cs typeface="Arial" pitchFamily="34" charset="-120"/>
              </a:rPr>
              <a:t>룰 → </a:t>
            </a:r>
            <a:r>
              <a:rPr lang="en-US" sz="1875" b="1" dirty="0">
                <a:solidFill>
                  <a:srgbClr val="D6403D"/>
                </a:solidFill>
                <a:latin typeface="Arial" pitchFamily="34" charset="0"/>
                <a:ea typeface="Arial" pitchFamily="34" charset="-122"/>
                <a:cs typeface="Arial" pitchFamily="34" charset="-120"/>
              </a:rPr>
              <a:t>경고 (헛경보) </a:t>
            </a:r>
            <a:r>
              <a:rPr lang="en-US" sz="1875" dirty="0">
                <a:solidFill>
                  <a:srgbClr val="51606D"/>
                </a:solidFill>
                <a:latin typeface="Arial" pitchFamily="34" charset="0"/>
                <a:ea typeface="Arial" pitchFamily="34" charset="-122"/>
                <a:cs typeface="Arial" pitchFamily="34" charset="-120"/>
              </a:rPr>
              <a:t>— 키워드·엔트로피 매칭</a:t>
            </a:r>
            <a:endParaRPr lang="en-US" sz="1875" dirty="0"/>
          </a:p>
        </p:txBody>
      </p:sp>
      <p:sp>
        <p:nvSpPr>
          <p:cNvPr id="7" name="Text 5"/>
          <p:cNvSpPr/>
          <p:nvPr/>
        </p:nvSpPr>
        <p:spPr>
          <a:xfrm>
            <a:off x="800100" y="4882455"/>
            <a:ext cx="6192203" cy="39528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75" dirty="0">
                <a:solidFill>
                  <a:srgbClr val="76828F"/>
                </a:solidFill>
                <a:latin typeface="Arial" pitchFamily="34" charset="0"/>
                <a:ea typeface="Arial" pitchFamily="34" charset="-122"/>
                <a:cs typeface="Arial" pitchFamily="34" charset="-120"/>
              </a:rPr>
              <a:t>정답 → </a:t>
            </a:r>
            <a:r>
              <a:rPr lang="en-US" sz="1875" b="1" dirty="0">
                <a:solidFill>
                  <a:srgbClr val="1F9D57"/>
                </a:solidFill>
                <a:latin typeface="Arial" pitchFamily="34" charset="0"/>
                <a:ea typeface="Arial" pitchFamily="34" charset="-122"/>
                <a:cs typeface="Arial" pitchFamily="34" charset="-120"/>
              </a:rPr>
              <a:t>오탐 </a:t>
            </a:r>
            <a:r>
              <a:rPr lang="en-US" sz="1875" dirty="0">
                <a:solidFill>
                  <a:srgbClr val="51606D"/>
                </a:solidFill>
                <a:latin typeface="Arial" pitchFamily="34" charset="0"/>
                <a:ea typeface="Arial" pitchFamily="34" charset="-122"/>
                <a:cs typeface="Arial" pitchFamily="34" charset="-120"/>
              </a:rPr>
              <a:t>— 구조·엔트로피는 실제 키와 동일</a:t>
            </a:r>
            <a:endParaRPr lang="en-US" sz="1875" dirty="0"/>
          </a:p>
        </p:txBody>
      </p:sp>
      <p:sp>
        <p:nvSpPr>
          <p:cNvPr id="8" name="Text 6"/>
          <p:cNvSpPr/>
          <p:nvPr/>
        </p:nvSpPr>
        <p:spPr>
          <a:xfrm>
            <a:off x="6671295" y="3364260"/>
            <a:ext cx="449610" cy="89535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4500" b="1" dirty="0">
                <a:solidFill>
                  <a:srgbClr val="B97C0A"/>
                </a:solidFill>
                <a:latin typeface="Arial" pitchFamily="34" charset="0"/>
                <a:ea typeface="Arial" pitchFamily="34" charset="-122"/>
                <a:cs typeface="Arial" pitchFamily="34" charset="-120"/>
              </a:rPr>
              <a:t>≠</a:t>
            </a:r>
            <a:endParaRPr lang="en-US" sz="4500" dirty="0"/>
          </a:p>
        </p:txBody>
      </p:sp>
      <p:sp>
        <p:nvSpPr>
          <p:cNvPr id="9" name="Shape 7"/>
          <p:cNvSpPr/>
          <p:nvPr/>
        </p:nvSpPr>
        <p:spPr>
          <a:xfrm>
            <a:off x="7286625" y="2346462"/>
            <a:ext cx="5629275" cy="1988643"/>
          </a:xfrm>
          <a:prstGeom prst="roundRect">
            <a:avLst>
              <a:gd name="adj" fmla="val 6674"/>
            </a:avLst>
          </a:prstGeom>
          <a:solidFill>
            <a:srgbClr val="10151D"/>
          </a:solidFill>
          <a:ln w="9525">
            <a:solidFill>
              <a:srgbClr val="2A3340"/>
            </a:solidFill>
            <a:prstDash val="solid"/>
          </a:ln>
        </p:spPr>
        <p:txBody>
          <a:bodyPr/>
          <a:lstStyle/>
          <a:p>
            <a:endParaRPr lang="ko-KR" altLang="en-US"/>
          </a:p>
        </p:txBody>
      </p:sp>
      <p:sp>
        <p:nvSpPr>
          <p:cNvPr id="10" name="Text 8"/>
          <p:cNvSpPr/>
          <p:nvPr/>
        </p:nvSpPr>
        <p:spPr>
          <a:xfrm>
            <a:off x="7581900" y="2603637"/>
            <a:ext cx="5207603" cy="1379041"/>
          </a:xfrm>
          <a:prstGeom prst="rect">
            <a:avLst/>
          </a:prstGeom>
          <a:noFill/>
          <a:ln/>
        </p:spPr>
        <p:txBody>
          <a:bodyPr wrap="square" lIns="25400" tIns="25400" rIns="25400" bIns="25400" rtlCol="0" anchor="t">
            <a:noAutofit/>
          </a:bodyPr>
          <a:lstStyle/>
          <a:p>
            <a:pPr marL="0" indent="0" algn="l">
              <a:lnSpc>
                <a:spcPct val="160000"/>
              </a:lnSpc>
              <a:buNone/>
            </a:pPr>
            <a:r>
              <a:rPr lang="en-US" sz="1650" dirty="0">
                <a:solidFill>
                  <a:srgbClr val="8595A6"/>
                </a:solidFill>
                <a:latin typeface="Arial" pitchFamily="34" charset="0"/>
                <a:ea typeface="Arial" pitchFamily="34" charset="-122"/>
                <a:cs typeface="Arial" pitchFamily="34" charset="-120"/>
              </a:rPr>
              <a:t>// PaymentGatewayIT.java · src/</a:t>
            </a:r>
            <a:r>
              <a:rPr lang="en-US" sz="1650" u="sng" dirty="0">
                <a:solidFill>
                  <a:srgbClr val="8595A6"/>
                </a:solidFill>
                <a:latin typeface="Arial" pitchFamily="34" charset="0"/>
                <a:ea typeface="Arial" pitchFamily="34" charset="-122"/>
                <a:cs typeface="Arial" pitchFamily="34" charset="-120"/>
              </a:rPr>
              <a:t>test</a:t>
            </a:r>
            <a:r>
              <a:rPr lang="en-US" sz="1650" dirty="0">
                <a:solidFill>
                  <a:srgbClr val="8595A6"/>
                </a:solidFill>
                <a:latin typeface="Arial" pitchFamily="34" charset="0"/>
                <a:ea typeface="Arial" pitchFamily="34" charset="-122"/>
                <a:cs typeface="Arial" pitchFamily="34" charset="-120"/>
              </a:rPr>
              <a:t>/java/…</a:t>
            </a:r>
          </a:p>
          <a:p>
            <a:pPr marL="0" indent="0" algn="l">
              <a:lnSpc>
                <a:spcPct val="160000"/>
              </a:lnSpc>
              <a:buNone/>
            </a:pPr>
            <a:r>
              <a:rPr lang="en-US" sz="1650" dirty="0">
                <a:solidFill>
                  <a:srgbClr val="8595A6"/>
                </a:solidFill>
                <a:latin typeface="Arial" pitchFamily="34" charset="0"/>
                <a:ea typeface="Arial" pitchFamily="34" charset="-122"/>
                <a:cs typeface="Arial" pitchFamily="34" charset="-120"/>
              </a:rPr>
              <a:t>// "임시로" 실 게이트웨이를 때리는 테스트</a:t>
            </a:r>
          </a:p>
          <a:p>
            <a:pPr marL="0" indent="0" algn="l">
              <a:lnSpc>
                <a:spcPct val="160000"/>
              </a:lnSpc>
              <a:buNone/>
            </a:pPr>
            <a:r>
              <a:rPr lang="en-US" sz="1650" dirty="0">
                <a:solidFill>
                  <a:srgbClr val="C792EA"/>
                </a:solidFill>
                <a:latin typeface="Arial" pitchFamily="34" charset="0"/>
                <a:ea typeface="Arial" pitchFamily="34" charset="-122"/>
                <a:cs typeface="Arial" pitchFamily="34" charset="-120"/>
              </a:rPr>
              <a:t>private static final</a:t>
            </a:r>
            <a:r>
              <a:rPr lang="en-US" sz="1650" dirty="0">
                <a:solidFill>
                  <a:srgbClr val="E8EDF4"/>
                </a:solidFill>
                <a:latin typeface="Arial" pitchFamily="34" charset="0"/>
                <a:ea typeface="Arial" pitchFamily="34" charset="-122"/>
                <a:cs typeface="Arial" pitchFamily="34" charset="-120"/>
              </a:rPr>
              <a:t> </a:t>
            </a:r>
            <a:r>
              <a:rPr lang="en-US" sz="1650" dirty="0">
                <a:solidFill>
                  <a:srgbClr val="82AAFF"/>
                </a:solidFill>
                <a:latin typeface="Arial" pitchFamily="34" charset="0"/>
                <a:ea typeface="Arial" pitchFamily="34" charset="-122"/>
                <a:cs typeface="Arial" pitchFamily="34" charset="-120"/>
              </a:rPr>
              <a:t>String</a:t>
            </a:r>
            <a:r>
              <a:rPr lang="en-US" sz="1650" dirty="0">
                <a:solidFill>
                  <a:srgbClr val="E8EDF4"/>
                </a:solidFill>
                <a:latin typeface="Arial" pitchFamily="34" charset="0"/>
                <a:ea typeface="Arial" pitchFamily="34" charset="-122"/>
                <a:cs typeface="Arial" pitchFamily="34" charset="-120"/>
              </a:rPr>
              <a:t> STRIPE_SECRET =</a:t>
            </a:r>
          </a:p>
          <a:p>
            <a:pPr marL="0" indent="0" algn="l">
              <a:lnSpc>
                <a:spcPct val="160000"/>
              </a:lnSpc>
              <a:buNone/>
            </a:pPr>
            <a:r>
              <a:rPr lang="en-US" sz="1650" dirty="0">
                <a:solidFill>
                  <a:srgbClr val="E8EDF4"/>
                </a:solidFill>
                <a:latin typeface="Arial" pitchFamily="34" charset="0"/>
                <a:ea typeface="Arial" pitchFamily="34" charset="-122"/>
                <a:cs typeface="Arial" pitchFamily="34" charset="-120"/>
              </a:rPr>
              <a:t>    </a:t>
            </a:r>
            <a:r>
              <a:rPr lang="en-US" sz="1650" dirty="0">
                <a:solidFill>
                  <a:srgbClr val="FF8A80"/>
                </a:solidFill>
                <a:latin typeface="Arial" pitchFamily="34" charset="0"/>
                <a:ea typeface="Arial" pitchFamily="34" charset="-122"/>
                <a:cs typeface="Arial" pitchFamily="34" charset="-120"/>
              </a:rPr>
              <a:t>"sk_live_51Hx…"</a:t>
            </a:r>
            <a:r>
              <a:rPr lang="en-US" sz="1650" dirty="0">
                <a:solidFill>
                  <a:srgbClr val="E8EDF4"/>
                </a:solidFill>
                <a:latin typeface="Arial" pitchFamily="34" charset="0"/>
                <a:ea typeface="Arial" pitchFamily="34" charset="-122"/>
                <a:cs typeface="Arial" pitchFamily="34" charset="-120"/>
              </a:rPr>
              <a:t>; </a:t>
            </a:r>
            <a:r>
              <a:rPr lang="en-US" sz="1650" dirty="0">
                <a:solidFill>
                  <a:srgbClr val="8595A6"/>
                </a:solidFill>
                <a:latin typeface="Arial" pitchFamily="34" charset="0"/>
                <a:ea typeface="Arial" pitchFamily="34" charset="-122"/>
                <a:cs typeface="Arial" pitchFamily="34" charset="-120"/>
              </a:rPr>
              <a:t>// 운영 키</a:t>
            </a:r>
          </a:p>
        </p:txBody>
      </p:sp>
      <p:sp>
        <p:nvSpPr>
          <p:cNvPr id="11" name="Text 9"/>
          <p:cNvSpPr/>
          <p:nvPr/>
        </p:nvSpPr>
        <p:spPr>
          <a:xfrm>
            <a:off x="7286625" y="4411304"/>
            <a:ext cx="6192203" cy="39528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75" dirty="0">
                <a:solidFill>
                  <a:srgbClr val="76828F"/>
                </a:solidFill>
                <a:latin typeface="Arial" pitchFamily="34" charset="0"/>
                <a:ea typeface="Arial" pitchFamily="34" charset="-122"/>
                <a:cs typeface="Arial" pitchFamily="34" charset="-120"/>
              </a:rPr>
              <a:t>룰 → </a:t>
            </a:r>
            <a:r>
              <a:rPr lang="en-US" sz="1875" b="1" dirty="0">
                <a:solidFill>
                  <a:srgbClr val="D6403D"/>
                </a:solidFill>
                <a:latin typeface="Arial" pitchFamily="34" charset="0"/>
                <a:ea typeface="Arial" pitchFamily="34" charset="-122"/>
                <a:cs typeface="Arial" pitchFamily="34" charset="-120"/>
              </a:rPr>
              <a:t>통과 (놓침) </a:t>
            </a:r>
            <a:r>
              <a:rPr lang="en-US" sz="1875" dirty="0">
                <a:solidFill>
                  <a:srgbClr val="51606D"/>
                </a:solidFill>
                <a:latin typeface="Arial" pitchFamily="34" charset="0"/>
                <a:ea typeface="Arial" pitchFamily="34" charset="-122"/>
                <a:cs typeface="Arial" pitchFamily="34" charset="-120"/>
              </a:rPr>
              <a:t>— "test 경로 제외"가 삼킴</a:t>
            </a:r>
            <a:endParaRPr lang="en-US" sz="1875" dirty="0"/>
          </a:p>
        </p:txBody>
      </p:sp>
      <p:sp>
        <p:nvSpPr>
          <p:cNvPr id="12" name="Text 10"/>
          <p:cNvSpPr/>
          <p:nvPr/>
        </p:nvSpPr>
        <p:spPr>
          <a:xfrm>
            <a:off x="7286625" y="4882791"/>
            <a:ext cx="6192203" cy="39528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75" dirty="0">
                <a:solidFill>
                  <a:srgbClr val="76828F"/>
                </a:solidFill>
                <a:latin typeface="Arial" pitchFamily="34" charset="0"/>
                <a:ea typeface="Arial" pitchFamily="34" charset="-122"/>
                <a:cs typeface="Arial" pitchFamily="34" charset="-120"/>
              </a:rPr>
              <a:t>정답 → </a:t>
            </a:r>
            <a:r>
              <a:rPr lang="en-US" sz="1875" b="1" dirty="0">
                <a:solidFill>
                  <a:srgbClr val="D6403D"/>
                </a:solidFill>
                <a:latin typeface="Arial" pitchFamily="34" charset="0"/>
                <a:ea typeface="Arial" pitchFamily="34" charset="-122"/>
                <a:cs typeface="Arial" pitchFamily="34" charset="-120"/>
              </a:rPr>
              <a:t>실결함 </a:t>
            </a:r>
            <a:r>
              <a:rPr lang="en-US" sz="1875" dirty="0">
                <a:solidFill>
                  <a:srgbClr val="51606D"/>
                </a:solidFill>
                <a:latin typeface="Arial" pitchFamily="34" charset="0"/>
                <a:ea typeface="Arial" pitchFamily="34" charset="-122"/>
                <a:cs typeface="Arial" pitchFamily="34" charset="-120"/>
              </a:rPr>
              <a:t>— 진짜 운영 키 유출</a:t>
            </a:r>
            <a:endParaRPr lang="en-US" sz="1875" dirty="0"/>
          </a:p>
        </p:txBody>
      </p:sp>
      <p:sp>
        <p:nvSpPr>
          <p:cNvPr id="13" name="Shape 11"/>
          <p:cNvSpPr/>
          <p:nvPr/>
        </p:nvSpPr>
        <p:spPr>
          <a:xfrm>
            <a:off x="800100" y="5663247"/>
            <a:ext cx="12115800" cy="971550"/>
          </a:xfrm>
          <a:prstGeom prst="roundRect">
            <a:avLst>
              <a:gd name="adj" fmla="val 13725"/>
            </a:avLst>
          </a:prstGeom>
          <a:solidFill>
            <a:srgbClr val="F6F8FB">
              <a:alpha val="98000"/>
            </a:srgbClr>
          </a:solidFill>
          <a:ln w="9525">
            <a:solidFill>
              <a:srgbClr val="D2D9E1">
                <a:alpha val="98000"/>
              </a:srgbClr>
            </a:solidFill>
            <a:prstDash val="solid"/>
          </a:ln>
        </p:spPr>
        <p:txBody>
          <a:bodyPr/>
          <a:lstStyle/>
          <a:p>
            <a:endParaRPr lang="ko-KR" altLang="en-US"/>
          </a:p>
        </p:txBody>
      </p:sp>
      <p:sp>
        <p:nvSpPr>
          <p:cNvPr id="14" name="Text 12"/>
          <p:cNvSpPr/>
          <p:nvPr/>
        </p:nvSpPr>
        <p:spPr>
          <a:xfrm>
            <a:off x="1190625" y="5920422"/>
            <a:ext cx="12468225" cy="49530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2400" b="1" dirty="0">
                <a:solidFill>
                  <a:srgbClr val="1A212B"/>
                </a:solidFill>
                <a:latin typeface="Arial" pitchFamily="34" charset="0"/>
                <a:ea typeface="Arial" pitchFamily="34" charset="-122"/>
                <a:cs typeface="Arial" pitchFamily="34" charset="-120"/>
              </a:rPr>
              <a:t>룰을 한쪽에 맞추면 반대쪽이 깨진다 — 둘을 가르는 건 의도와 맥락뿐</a:t>
            </a:r>
            <a:endParaRPr lang="en-US" sz="2400" dirty="0"/>
          </a:p>
        </p:txBody>
      </p:sp>
      <p:sp>
        <p:nvSpPr>
          <p:cNvPr id="15" name="Text 13"/>
          <p:cNvSpPr/>
          <p:nvPr/>
        </p:nvSpPr>
        <p:spPr>
          <a:xfrm>
            <a:off x="800100" y="9505950"/>
            <a:ext cx="3694547" cy="32385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500" kern="0" spc="60" dirty="0">
                <a:solidFill>
                  <a:srgbClr val="76828F"/>
                </a:solidFill>
                <a:latin typeface="Arial" pitchFamily="34" charset="0"/>
                <a:ea typeface="Arial" pitchFamily="34" charset="-122"/>
                <a:cs typeface="Arial" pitchFamily="34" charset="-120"/>
              </a:rPr>
              <a:t>AWSKRUG 마곡 · LLM in the test loop</a:t>
            </a:r>
            <a:endParaRPr lang="en-US" sz="1500" dirty="0"/>
          </a:p>
        </p:txBody>
      </p:sp>
      <p:sp>
        <p:nvSpPr>
          <p:cNvPr id="16" name="Text 14"/>
          <p:cNvSpPr/>
          <p:nvPr/>
        </p:nvSpPr>
        <p:spPr>
          <a:xfrm>
            <a:off x="8492728" y="9505950"/>
            <a:ext cx="4865489" cy="32385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500" kern="0" spc="60" dirty="0">
                <a:solidFill>
                  <a:srgbClr val="76828F"/>
                </a:solidFill>
                <a:latin typeface="Arial" pitchFamily="34" charset="0"/>
                <a:ea typeface="Arial" pitchFamily="34" charset="-122"/>
                <a:cs typeface="Arial" pitchFamily="34" charset="-120"/>
              </a:rPr>
              <a:t>슬라이드의 키는 모두 예시용 더미 — 실제 자격증명 아님</a:t>
            </a:r>
            <a:endParaRPr lang="en-US" sz="1500" dirty="0"/>
          </a:p>
        </p:txBody>
      </p:sp>
    </p:spTree>
    <p:extLst>
      <p:ext uri="{BB962C8B-B14F-4D97-AF65-F5344CB8AC3E}">
        <p14:creationId xmlns:p14="http://schemas.microsoft.com/office/powerpoint/2010/main" val="14431034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00100" y="762000"/>
            <a:ext cx="1165547" cy="381000"/>
          </a:xfrm>
          <a:prstGeom prst="rect">
            <a:avLst/>
          </a:prstGeom>
          <a:noFill/>
          <a:ln/>
        </p:spPr>
        <p:txBody>
          <a:bodyPr wrap="square" lIns="25400" tIns="25400" rIns="25400" bIns="25400" rtlCol="0" anchor="t">
            <a:normAutofit fontScale="85000" lnSpcReduction="10000"/>
          </a:bodyPr>
          <a:lstStyle/>
          <a:p>
            <a:pPr marL="0" indent="0" algn="l">
              <a:lnSpc>
                <a:spcPct val="150000"/>
              </a:lnSpc>
              <a:buNone/>
            </a:pPr>
            <a:r>
              <a:rPr lang="en-US" sz="1800" b="1" kern="0" spc="144" dirty="0">
                <a:solidFill>
                  <a:srgbClr val="E07F00"/>
                </a:solidFill>
                <a:latin typeface="Arial" pitchFamily="34" charset="0"/>
                <a:ea typeface="Arial" pitchFamily="34" charset="-122"/>
                <a:cs typeface="Arial" pitchFamily="34" charset="-120"/>
              </a:rPr>
              <a:t>데모 </a:t>
            </a:r>
            <a:r>
              <a:rPr lang="en-US" sz="1800" b="1" kern="0" spc="144" dirty="0">
                <a:solidFill>
                  <a:srgbClr val="76828F"/>
                </a:solidFill>
                <a:latin typeface="Arial" pitchFamily="34" charset="0"/>
                <a:ea typeface="Arial" pitchFamily="34" charset="-122"/>
                <a:cs typeface="Arial" pitchFamily="34" charset="-120"/>
              </a:rPr>
              <a:t>· 결과</a:t>
            </a:r>
            <a:endParaRPr lang="en-US" sz="1800" dirty="0"/>
          </a:p>
        </p:txBody>
      </p:sp>
      <p:sp>
        <p:nvSpPr>
          <p:cNvPr id="3" name="Shape 1"/>
          <p:cNvSpPr/>
          <p:nvPr/>
        </p:nvSpPr>
        <p:spPr>
          <a:xfrm>
            <a:off x="800100" y="1314450"/>
            <a:ext cx="5867400" cy="2295525"/>
          </a:xfrm>
          <a:prstGeom prst="roundRect">
            <a:avLst>
              <a:gd name="adj" fmla="val 6639"/>
            </a:avLst>
          </a:prstGeom>
          <a:solidFill>
            <a:srgbClr val="F6F8FB"/>
          </a:solidFill>
          <a:ln w="9525">
            <a:solidFill>
              <a:srgbClr val="F0524F">
                <a:alpha val="40000"/>
              </a:srgbClr>
            </a:solidFill>
            <a:prstDash val="solid"/>
          </a:ln>
        </p:spPr>
        <p:txBody>
          <a:bodyPr/>
          <a:lstStyle/>
          <a:p>
            <a:endParaRPr lang="ko-KR" altLang="en-US"/>
          </a:p>
        </p:txBody>
      </p:sp>
      <p:sp>
        <p:nvSpPr>
          <p:cNvPr id="4" name="Text 2"/>
          <p:cNvSpPr/>
          <p:nvPr/>
        </p:nvSpPr>
        <p:spPr>
          <a:xfrm>
            <a:off x="3199358" y="1609725"/>
            <a:ext cx="1068809" cy="409575"/>
          </a:xfrm>
          <a:prstGeom prst="rect">
            <a:avLst/>
          </a:prstGeom>
          <a:noFill/>
          <a:ln/>
        </p:spPr>
        <p:txBody>
          <a:bodyPr wrap="square" lIns="25400" tIns="25400" rIns="25400" bIns="25400" rtlCol="0" anchor="t">
            <a:normAutofit fontScale="85000" lnSpcReduction="10000"/>
          </a:bodyPr>
          <a:lstStyle/>
          <a:p>
            <a:pPr marL="0" indent="0" algn="ctr">
              <a:lnSpc>
                <a:spcPct val="150000"/>
              </a:lnSpc>
              <a:buNone/>
            </a:pPr>
            <a:r>
              <a:rPr lang="en-US" sz="1950" kern="0" spc="117" dirty="0">
                <a:solidFill>
                  <a:srgbClr val="51606D"/>
                </a:solidFill>
                <a:latin typeface="Arial" pitchFamily="34" charset="0"/>
                <a:ea typeface="Arial" pitchFamily="34" charset="-122"/>
                <a:cs typeface="Arial" pitchFamily="34" charset="-120"/>
              </a:rPr>
              <a:t>규칙 기반</a:t>
            </a:r>
            <a:endParaRPr lang="en-US" sz="1950" dirty="0"/>
          </a:p>
        </p:txBody>
      </p:sp>
      <p:sp>
        <p:nvSpPr>
          <p:cNvPr id="5" name="Text 3"/>
          <p:cNvSpPr/>
          <p:nvPr/>
        </p:nvSpPr>
        <p:spPr>
          <a:xfrm>
            <a:off x="2938005" y="2057400"/>
            <a:ext cx="1591516" cy="1295400"/>
          </a:xfrm>
          <a:prstGeom prst="rect">
            <a:avLst/>
          </a:prstGeom>
          <a:noFill/>
          <a:ln/>
        </p:spPr>
        <p:txBody>
          <a:bodyPr wrap="square" lIns="25400" tIns="25400" rIns="25400" bIns="25400" rtlCol="0" anchor="t">
            <a:normAutofit fontScale="92500" lnSpcReduction="20000"/>
          </a:bodyPr>
          <a:lstStyle/>
          <a:p>
            <a:pPr marL="0" indent="0" algn="ctr">
              <a:lnSpc>
                <a:spcPct val="100000"/>
              </a:lnSpc>
              <a:buNone/>
            </a:pPr>
            <a:r>
              <a:rPr lang="en-US" sz="9900" b="1" dirty="0">
                <a:solidFill>
                  <a:srgbClr val="D6403D"/>
                </a:solidFill>
                <a:latin typeface="Arial" pitchFamily="34" charset="0"/>
                <a:ea typeface="Arial" pitchFamily="34" charset="-122"/>
                <a:cs typeface="Arial" pitchFamily="34" charset="-120"/>
              </a:rPr>
              <a:t>0</a:t>
            </a:r>
            <a:r>
              <a:rPr lang="en-US" sz="4500" b="1" dirty="0">
                <a:solidFill>
                  <a:srgbClr val="76828F"/>
                </a:solidFill>
                <a:latin typeface="Arial" pitchFamily="34" charset="0"/>
                <a:ea typeface="Arial" pitchFamily="34" charset="-122"/>
                <a:cs typeface="Arial" pitchFamily="34" charset="-120"/>
              </a:rPr>
              <a:t>/3</a:t>
            </a:r>
            <a:endParaRPr lang="en-US" sz="9900" dirty="0"/>
          </a:p>
        </p:txBody>
      </p:sp>
      <p:sp>
        <p:nvSpPr>
          <p:cNvPr id="6" name="Shape 4"/>
          <p:cNvSpPr/>
          <p:nvPr/>
        </p:nvSpPr>
        <p:spPr>
          <a:xfrm>
            <a:off x="7048500" y="1314774"/>
            <a:ext cx="5867400" cy="2295525"/>
          </a:xfrm>
          <a:prstGeom prst="roundRect">
            <a:avLst>
              <a:gd name="adj" fmla="val 6639"/>
            </a:avLst>
          </a:prstGeom>
          <a:solidFill>
            <a:srgbClr val="F6F8FB"/>
          </a:solidFill>
          <a:ln w="9525">
            <a:solidFill>
              <a:srgbClr val="41BA74">
                <a:alpha val="40000"/>
              </a:srgbClr>
            </a:solidFill>
            <a:prstDash val="solid"/>
          </a:ln>
        </p:spPr>
        <p:txBody>
          <a:bodyPr/>
          <a:lstStyle/>
          <a:p>
            <a:endParaRPr lang="ko-KR" altLang="en-US"/>
          </a:p>
        </p:txBody>
      </p:sp>
      <p:sp>
        <p:nvSpPr>
          <p:cNvPr id="7" name="Text 5"/>
          <p:cNvSpPr/>
          <p:nvPr/>
        </p:nvSpPr>
        <p:spPr>
          <a:xfrm>
            <a:off x="8377837" y="1610049"/>
            <a:ext cx="3208653" cy="409575"/>
          </a:xfrm>
          <a:prstGeom prst="rect">
            <a:avLst/>
          </a:prstGeom>
          <a:noFill/>
          <a:ln/>
        </p:spPr>
        <p:txBody>
          <a:bodyPr wrap="square" lIns="25400" tIns="25400" rIns="25400" bIns="25400" rtlCol="0" anchor="t">
            <a:normAutofit fontScale="92500" lnSpcReduction="10000"/>
          </a:bodyPr>
          <a:lstStyle/>
          <a:p>
            <a:pPr marL="0" indent="0" algn="ctr">
              <a:lnSpc>
                <a:spcPct val="150000"/>
              </a:lnSpc>
              <a:buNone/>
            </a:pPr>
            <a:r>
              <a:rPr lang="en-US" sz="1950" kern="0" spc="117" dirty="0">
                <a:solidFill>
                  <a:srgbClr val="51606D"/>
                </a:solidFill>
                <a:latin typeface="Arial" pitchFamily="34" charset="0"/>
                <a:ea typeface="Arial" pitchFamily="34" charset="-122"/>
                <a:cs typeface="Arial" pitchFamily="34" charset="-120"/>
              </a:rPr>
              <a:t>LLM (Bedrock · Claude)</a:t>
            </a:r>
            <a:endParaRPr lang="en-US" sz="1950" dirty="0"/>
          </a:p>
        </p:txBody>
      </p:sp>
      <p:sp>
        <p:nvSpPr>
          <p:cNvPr id="8" name="Text 6"/>
          <p:cNvSpPr/>
          <p:nvPr/>
        </p:nvSpPr>
        <p:spPr>
          <a:xfrm>
            <a:off x="9211121" y="2057724"/>
            <a:ext cx="1542157" cy="1295400"/>
          </a:xfrm>
          <a:prstGeom prst="rect">
            <a:avLst/>
          </a:prstGeom>
          <a:noFill/>
          <a:ln/>
        </p:spPr>
        <p:txBody>
          <a:bodyPr wrap="square" lIns="25400" tIns="25400" rIns="25400" bIns="25400" rtlCol="0" anchor="t">
            <a:normAutofit fontScale="92500" lnSpcReduction="20000"/>
          </a:bodyPr>
          <a:lstStyle/>
          <a:p>
            <a:pPr marL="0" indent="0" algn="ctr">
              <a:lnSpc>
                <a:spcPct val="100000"/>
              </a:lnSpc>
              <a:buNone/>
            </a:pPr>
            <a:r>
              <a:rPr lang="en-US" sz="9900" b="1" dirty="0">
                <a:solidFill>
                  <a:srgbClr val="1F9D57"/>
                </a:solidFill>
                <a:latin typeface="Arial" pitchFamily="34" charset="0"/>
                <a:ea typeface="Arial" pitchFamily="34" charset="-122"/>
                <a:cs typeface="Arial" pitchFamily="34" charset="-120"/>
              </a:rPr>
              <a:t>3</a:t>
            </a:r>
            <a:r>
              <a:rPr lang="en-US" sz="4500" b="1" dirty="0">
                <a:solidFill>
                  <a:srgbClr val="76828F"/>
                </a:solidFill>
                <a:latin typeface="Arial" pitchFamily="34" charset="0"/>
                <a:ea typeface="Arial" pitchFamily="34" charset="-122"/>
                <a:cs typeface="Arial" pitchFamily="34" charset="-120"/>
              </a:rPr>
              <a:t>/3</a:t>
            </a:r>
            <a:endParaRPr lang="en-US" sz="9900" dirty="0"/>
          </a:p>
        </p:txBody>
      </p:sp>
      <p:sp>
        <p:nvSpPr>
          <p:cNvPr id="9" name="Shape 7"/>
          <p:cNvSpPr/>
          <p:nvPr/>
        </p:nvSpPr>
        <p:spPr>
          <a:xfrm>
            <a:off x="800100" y="4471674"/>
            <a:ext cx="7085261" cy="19050"/>
          </a:xfrm>
          <a:prstGeom prst="rect">
            <a:avLst/>
          </a:prstGeom>
          <a:solidFill>
            <a:srgbClr val="D2D9E1"/>
          </a:solidFill>
          <a:ln/>
        </p:spPr>
        <p:txBody>
          <a:bodyPr/>
          <a:lstStyle/>
          <a:p>
            <a:endParaRPr lang="ko-KR" altLang="en-US"/>
          </a:p>
        </p:txBody>
      </p:sp>
      <p:sp>
        <p:nvSpPr>
          <p:cNvPr id="10" name="Text 8"/>
          <p:cNvSpPr/>
          <p:nvPr/>
        </p:nvSpPr>
        <p:spPr>
          <a:xfrm>
            <a:off x="1009650" y="4052574"/>
            <a:ext cx="6878718" cy="342900"/>
          </a:xfrm>
          <a:prstGeom prst="rect">
            <a:avLst/>
          </a:prstGeom>
          <a:noFill/>
          <a:ln/>
        </p:spPr>
        <p:txBody>
          <a:bodyPr wrap="square" lIns="25400" tIns="25400" rIns="25400" bIns="25400" rtlCol="0" anchor="ctr">
            <a:normAutofit fontScale="92500" lnSpcReduction="10000"/>
          </a:bodyPr>
          <a:lstStyle/>
          <a:p>
            <a:pPr marL="0" indent="0" algn="l">
              <a:lnSpc>
                <a:spcPct val="150000"/>
              </a:lnSpc>
              <a:buNone/>
            </a:pPr>
            <a:r>
              <a:rPr lang="en-US" sz="1650" b="1" kern="0" spc="50" dirty="0">
                <a:solidFill>
                  <a:srgbClr val="51606D"/>
                </a:solidFill>
                <a:latin typeface="Arial" pitchFamily="34" charset="0"/>
                <a:ea typeface="Arial" pitchFamily="34" charset="-122"/>
                <a:cs typeface="Arial" pitchFamily="34" charset="-120"/>
              </a:rPr>
              <a:t>사례</a:t>
            </a:r>
            <a:endParaRPr lang="en-US" sz="1650" dirty="0"/>
          </a:p>
        </p:txBody>
      </p:sp>
      <p:sp>
        <p:nvSpPr>
          <p:cNvPr id="11" name="Shape 9"/>
          <p:cNvSpPr/>
          <p:nvPr/>
        </p:nvSpPr>
        <p:spPr>
          <a:xfrm>
            <a:off x="7885361" y="4471674"/>
            <a:ext cx="1946746" cy="19050"/>
          </a:xfrm>
          <a:prstGeom prst="rect">
            <a:avLst/>
          </a:prstGeom>
          <a:solidFill>
            <a:srgbClr val="D2D9E1"/>
          </a:solidFill>
          <a:ln/>
        </p:spPr>
        <p:txBody>
          <a:bodyPr/>
          <a:lstStyle/>
          <a:p>
            <a:endParaRPr lang="ko-KR" altLang="en-US"/>
          </a:p>
        </p:txBody>
      </p:sp>
      <p:sp>
        <p:nvSpPr>
          <p:cNvPr id="12" name="Text 10"/>
          <p:cNvSpPr/>
          <p:nvPr/>
        </p:nvSpPr>
        <p:spPr>
          <a:xfrm>
            <a:off x="8056811" y="4052574"/>
            <a:ext cx="1603846" cy="342900"/>
          </a:xfrm>
          <a:prstGeom prst="rect">
            <a:avLst/>
          </a:prstGeom>
          <a:noFill/>
          <a:ln/>
        </p:spPr>
        <p:txBody>
          <a:bodyPr wrap="square" lIns="25400" tIns="25400" rIns="25400" bIns="25400" rtlCol="0" anchor="ctr">
            <a:normAutofit fontScale="92500" lnSpcReduction="10000"/>
          </a:bodyPr>
          <a:lstStyle/>
          <a:p>
            <a:pPr marL="0" indent="0" algn="ctr">
              <a:lnSpc>
                <a:spcPct val="150000"/>
              </a:lnSpc>
              <a:buNone/>
            </a:pPr>
            <a:r>
              <a:rPr lang="en-US" sz="1650" b="1" kern="0" spc="50" dirty="0">
                <a:solidFill>
                  <a:srgbClr val="51606D"/>
                </a:solidFill>
                <a:latin typeface="Arial" pitchFamily="34" charset="0"/>
                <a:ea typeface="Arial" pitchFamily="34" charset="-122"/>
                <a:cs typeface="Arial" pitchFamily="34" charset="-120"/>
              </a:rPr>
              <a:t>정답</a:t>
            </a:r>
            <a:endParaRPr lang="en-US" sz="1650" dirty="0"/>
          </a:p>
        </p:txBody>
      </p:sp>
      <p:sp>
        <p:nvSpPr>
          <p:cNvPr id="13" name="Shape 11"/>
          <p:cNvSpPr/>
          <p:nvPr/>
        </p:nvSpPr>
        <p:spPr>
          <a:xfrm>
            <a:off x="9832107" y="4471674"/>
            <a:ext cx="1491109" cy="19050"/>
          </a:xfrm>
          <a:prstGeom prst="rect">
            <a:avLst/>
          </a:prstGeom>
          <a:solidFill>
            <a:srgbClr val="D2D9E1"/>
          </a:solidFill>
          <a:ln/>
        </p:spPr>
        <p:txBody>
          <a:bodyPr/>
          <a:lstStyle/>
          <a:p>
            <a:endParaRPr lang="ko-KR" altLang="en-US"/>
          </a:p>
        </p:txBody>
      </p:sp>
      <p:sp>
        <p:nvSpPr>
          <p:cNvPr id="14" name="Text 12"/>
          <p:cNvSpPr/>
          <p:nvPr/>
        </p:nvSpPr>
        <p:spPr>
          <a:xfrm>
            <a:off x="10003557" y="4052574"/>
            <a:ext cx="1148209" cy="342900"/>
          </a:xfrm>
          <a:prstGeom prst="rect">
            <a:avLst/>
          </a:prstGeom>
          <a:noFill/>
          <a:ln/>
        </p:spPr>
        <p:txBody>
          <a:bodyPr wrap="square" lIns="25400" tIns="25400" rIns="25400" bIns="25400" rtlCol="0" anchor="ctr">
            <a:normAutofit fontScale="92500" lnSpcReduction="10000"/>
          </a:bodyPr>
          <a:lstStyle/>
          <a:p>
            <a:pPr marL="0" indent="0" algn="ctr">
              <a:lnSpc>
                <a:spcPct val="150000"/>
              </a:lnSpc>
              <a:buNone/>
            </a:pPr>
            <a:r>
              <a:rPr lang="en-US" sz="1650" b="1" kern="0" spc="50" dirty="0">
                <a:solidFill>
                  <a:srgbClr val="51606D"/>
                </a:solidFill>
                <a:latin typeface="Arial" pitchFamily="34" charset="0"/>
                <a:ea typeface="Arial" pitchFamily="34" charset="-122"/>
                <a:cs typeface="Arial" pitchFamily="34" charset="-120"/>
              </a:rPr>
              <a:t>규칙</a:t>
            </a:r>
            <a:endParaRPr lang="en-US" sz="1650" dirty="0"/>
          </a:p>
        </p:txBody>
      </p:sp>
      <p:sp>
        <p:nvSpPr>
          <p:cNvPr id="15" name="Shape 13"/>
          <p:cNvSpPr/>
          <p:nvPr/>
        </p:nvSpPr>
        <p:spPr>
          <a:xfrm>
            <a:off x="11323216" y="4471674"/>
            <a:ext cx="1592684" cy="19050"/>
          </a:xfrm>
          <a:prstGeom prst="rect">
            <a:avLst/>
          </a:prstGeom>
          <a:solidFill>
            <a:srgbClr val="D2D9E1"/>
          </a:solidFill>
          <a:ln/>
        </p:spPr>
        <p:txBody>
          <a:bodyPr/>
          <a:lstStyle/>
          <a:p>
            <a:endParaRPr lang="ko-KR" altLang="en-US"/>
          </a:p>
        </p:txBody>
      </p:sp>
      <p:sp>
        <p:nvSpPr>
          <p:cNvPr id="16" name="Text 14"/>
          <p:cNvSpPr/>
          <p:nvPr/>
        </p:nvSpPr>
        <p:spPr>
          <a:xfrm>
            <a:off x="11494666" y="4052574"/>
            <a:ext cx="1249784" cy="342900"/>
          </a:xfrm>
          <a:prstGeom prst="rect">
            <a:avLst/>
          </a:prstGeom>
          <a:noFill/>
          <a:ln/>
        </p:spPr>
        <p:txBody>
          <a:bodyPr wrap="square" lIns="25400" tIns="25400" rIns="25400" bIns="25400" rtlCol="0" anchor="ctr">
            <a:normAutofit fontScale="92500" lnSpcReduction="10000"/>
          </a:bodyPr>
          <a:lstStyle/>
          <a:p>
            <a:pPr marL="0" indent="0" algn="ctr">
              <a:lnSpc>
                <a:spcPct val="150000"/>
              </a:lnSpc>
              <a:buNone/>
            </a:pPr>
            <a:r>
              <a:rPr lang="en-US" sz="1650" b="1" kern="0" spc="50" dirty="0">
                <a:solidFill>
                  <a:srgbClr val="51606D"/>
                </a:solidFill>
                <a:latin typeface="Arial" pitchFamily="34" charset="0"/>
                <a:ea typeface="Arial" pitchFamily="34" charset="-122"/>
                <a:cs typeface="Arial" pitchFamily="34" charset="-120"/>
              </a:rPr>
              <a:t>LLM</a:t>
            </a:r>
            <a:endParaRPr lang="en-US" sz="1650" dirty="0"/>
          </a:p>
        </p:txBody>
      </p:sp>
      <p:sp>
        <p:nvSpPr>
          <p:cNvPr id="17" name="Shape 15"/>
          <p:cNvSpPr/>
          <p:nvPr/>
        </p:nvSpPr>
        <p:spPr>
          <a:xfrm>
            <a:off x="800100" y="5533712"/>
            <a:ext cx="7085261" cy="9525"/>
          </a:xfrm>
          <a:prstGeom prst="rect">
            <a:avLst/>
          </a:prstGeom>
          <a:solidFill>
            <a:srgbClr val="D2D9E1"/>
          </a:solidFill>
          <a:ln/>
        </p:spPr>
        <p:txBody>
          <a:bodyPr/>
          <a:lstStyle/>
          <a:p>
            <a:endParaRPr lang="ko-KR" altLang="en-US"/>
          </a:p>
        </p:txBody>
      </p:sp>
      <p:sp>
        <p:nvSpPr>
          <p:cNvPr id="18" name="Text 16"/>
          <p:cNvSpPr/>
          <p:nvPr/>
        </p:nvSpPr>
        <p:spPr>
          <a:xfrm>
            <a:off x="1009650" y="4662174"/>
            <a:ext cx="7332777" cy="39528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75" b="1" dirty="0">
                <a:solidFill>
                  <a:srgbClr val="1A212B"/>
                </a:solidFill>
                <a:latin typeface="Arial" pitchFamily="34" charset="0"/>
                <a:ea typeface="Arial" pitchFamily="34" charset="-122"/>
                <a:cs typeface="Arial" pitchFamily="34" charset="-120"/>
              </a:rPr>
              <a:t>A. AWS 예제 키 · main 경로</a:t>
            </a:r>
            <a:endParaRPr lang="en-US" sz="1875" dirty="0"/>
          </a:p>
        </p:txBody>
      </p:sp>
      <p:sp>
        <p:nvSpPr>
          <p:cNvPr id="19" name="Text 17"/>
          <p:cNvSpPr/>
          <p:nvPr/>
        </p:nvSpPr>
        <p:spPr>
          <a:xfrm>
            <a:off x="1009650" y="5090800"/>
            <a:ext cx="652314" cy="276225"/>
          </a:xfrm>
          <a:prstGeom prst="rect">
            <a:avLst/>
          </a:prstGeom>
          <a:noFill/>
          <a:ln/>
        </p:spPr>
        <p:txBody>
          <a:bodyPr wrap="square" lIns="25400" tIns="25400" rIns="25400" bIns="25400" rtlCol="0" anchor="t">
            <a:normAutofit fontScale="77500" lnSpcReduction="20000"/>
          </a:bodyPr>
          <a:lstStyle/>
          <a:p>
            <a:pPr marL="0" indent="0" algn="l">
              <a:lnSpc>
                <a:spcPct val="150000"/>
              </a:lnSpc>
              <a:buNone/>
            </a:pPr>
            <a:r>
              <a:rPr lang="en-US" sz="1575" dirty="0">
                <a:solidFill>
                  <a:srgbClr val="76828F"/>
                </a:solidFill>
                <a:latin typeface="Arial" pitchFamily="34" charset="0"/>
                <a:ea typeface="Arial" pitchFamily="34" charset="-122"/>
                <a:cs typeface="Arial" pitchFamily="34" charset="-120"/>
              </a:rPr>
              <a:t>S6418</a:t>
            </a:r>
            <a:endParaRPr lang="en-US" sz="1575" dirty="0"/>
          </a:p>
        </p:txBody>
      </p:sp>
      <p:sp>
        <p:nvSpPr>
          <p:cNvPr id="20" name="Shape 18"/>
          <p:cNvSpPr/>
          <p:nvPr/>
        </p:nvSpPr>
        <p:spPr>
          <a:xfrm>
            <a:off x="7885361" y="5533712"/>
            <a:ext cx="1946746" cy="9525"/>
          </a:xfrm>
          <a:prstGeom prst="rect">
            <a:avLst/>
          </a:prstGeom>
          <a:solidFill>
            <a:srgbClr val="D2D9E1"/>
          </a:solidFill>
          <a:ln/>
        </p:spPr>
        <p:txBody>
          <a:bodyPr/>
          <a:lstStyle/>
          <a:p>
            <a:endParaRPr lang="ko-KR" altLang="en-US"/>
          </a:p>
        </p:txBody>
      </p:sp>
      <p:sp>
        <p:nvSpPr>
          <p:cNvPr id="21" name="Text 19"/>
          <p:cNvSpPr/>
          <p:nvPr/>
        </p:nvSpPr>
        <p:spPr>
          <a:xfrm>
            <a:off x="8056811" y="4652649"/>
            <a:ext cx="1603846" cy="757238"/>
          </a:xfrm>
          <a:prstGeom prst="rect">
            <a:avLst/>
          </a:prstGeom>
          <a:noFill/>
          <a:ln/>
        </p:spPr>
        <p:txBody>
          <a:bodyPr wrap="square" lIns="25400" tIns="25400" rIns="25400" bIns="25400" rtlCol="0" anchor="ctr">
            <a:normAutofit/>
          </a:bodyPr>
          <a:lstStyle/>
          <a:p>
            <a:pPr marL="0" indent="0" algn="ctr">
              <a:lnSpc>
                <a:spcPct val="150000"/>
              </a:lnSpc>
              <a:buNone/>
            </a:pPr>
            <a:r>
              <a:rPr lang="en-US" sz="1875" dirty="0">
                <a:solidFill>
                  <a:srgbClr val="1A212B"/>
                </a:solidFill>
                <a:latin typeface="Arial" pitchFamily="34" charset="0"/>
                <a:ea typeface="Arial" pitchFamily="34" charset="-122"/>
                <a:cs typeface="Arial" pitchFamily="34" charset="-120"/>
              </a:rPr>
              <a:t>오탐</a:t>
            </a:r>
            <a:endParaRPr lang="en-US" sz="1875" dirty="0"/>
          </a:p>
        </p:txBody>
      </p:sp>
      <p:sp>
        <p:nvSpPr>
          <p:cNvPr id="22" name="Shape 20"/>
          <p:cNvSpPr/>
          <p:nvPr/>
        </p:nvSpPr>
        <p:spPr>
          <a:xfrm>
            <a:off x="9832107" y="5533712"/>
            <a:ext cx="1491109" cy="9525"/>
          </a:xfrm>
          <a:prstGeom prst="rect">
            <a:avLst/>
          </a:prstGeom>
          <a:solidFill>
            <a:srgbClr val="D2D9E1"/>
          </a:solidFill>
          <a:ln/>
        </p:spPr>
        <p:txBody>
          <a:bodyPr/>
          <a:lstStyle/>
          <a:p>
            <a:endParaRPr lang="ko-KR" altLang="en-US"/>
          </a:p>
        </p:txBody>
      </p:sp>
      <p:sp>
        <p:nvSpPr>
          <p:cNvPr id="23" name="Text 21"/>
          <p:cNvSpPr/>
          <p:nvPr/>
        </p:nvSpPr>
        <p:spPr>
          <a:xfrm>
            <a:off x="10003557" y="4652649"/>
            <a:ext cx="1148209" cy="757238"/>
          </a:xfrm>
          <a:prstGeom prst="rect">
            <a:avLst/>
          </a:prstGeom>
          <a:noFill/>
          <a:ln/>
        </p:spPr>
        <p:txBody>
          <a:bodyPr wrap="square" lIns="25400" tIns="25400" rIns="25400" bIns="25400" rtlCol="0" anchor="ctr">
            <a:normAutofit/>
          </a:bodyPr>
          <a:lstStyle/>
          <a:p>
            <a:pPr marL="0" indent="0" algn="ctr">
              <a:lnSpc>
                <a:spcPct val="150000"/>
              </a:lnSpc>
              <a:buNone/>
            </a:pPr>
            <a:r>
              <a:rPr lang="en-US" sz="1875" b="1" dirty="0">
                <a:solidFill>
                  <a:srgbClr val="D6403D"/>
                </a:solidFill>
                <a:latin typeface="Arial" pitchFamily="34" charset="0"/>
                <a:ea typeface="Arial" pitchFamily="34" charset="-122"/>
                <a:cs typeface="Arial" pitchFamily="34" charset="-120"/>
              </a:rPr>
              <a:t>✗</a:t>
            </a:r>
            <a:endParaRPr lang="en-US" sz="1875" dirty="0"/>
          </a:p>
        </p:txBody>
      </p:sp>
      <p:sp>
        <p:nvSpPr>
          <p:cNvPr id="24" name="Shape 22"/>
          <p:cNvSpPr/>
          <p:nvPr/>
        </p:nvSpPr>
        <p:spPr>
          <a:xfrm>
            <a:off x="11323216" y="5533712"/>
            <a:ext cx="1592684" cy="9525"/>
          </a:xfrm>
          <a:prstGeom prst="rect">
            <a:avLst/>
          </a:prstGeom>
          <a:solidFill>
            <a:srgbClr val="D2D9E1"/>
          </a:solidFill>
          <a:ln/>
        </p:spPr>
        <p:txBody>
          <a:bodyPr/>
          <a:lstStyle/>
          <a:p>
            <a:endParaRPr lang="ko-KR" altLang="en-US"/>
          </a:p>
        </p:txBody>
      </p:sp>
      <p:sp>
        <p:nvSpPr>
          <p:cNvPr id="25" name="Text 23"/>
          <p:cNvSpPr/>
          <p:nvPr/>
        </p:nvSpPr>
        <p:spPr>
          <a:xfrm>
            <a:off x="11494666" y="4652649"/>
            <a:ext cx="1249784" cy="757238"/>
          </a:xfrm>
          <a:prstGeom prst="rect">
            <a:avLst/>
          </a:prstGeom>
          <a:noFill/>
          <a:ln/>
        </p:spPr>
        <p:txBody>
          <a:bodyPr wrap="square" lIns="25400" tIns="25400" rIns="25400" bIns="25400" rtlCol="0" anchor="ctr">
            <a:normAutofit/>
          </a:bodyPr>
          <a:lstStyle/>
          <a:p>
            <a:pPr marL="0" indent="0" algn="ctr">
              <a:lnSpc>
                <a:spcPct val="150000"/>
              </a:lnSpc>
              <a:buNone/>
            </a:pPr>
            <a:r>
              <a:rPr lang="en-US" sz="1875" b="1" dirty="0">
                <a:solidFill>
                  <a:srgbClr val="1F9D57"/>
                </a:solidFill>
                <a:latin typeface="Arial" pitchFamily="34" charset="0"/>
                <a:ea typeface="Arial" pitchFamily="34" charset="-122"/>
                <a:cs typeface="Arial" pitchFamily="34" charset="-120"/>
              </a:rPr>
              <a:t>✓</a:t>
            </a:r>
            <a:endParaRPr lang="en-US" sz="1875" dirty="0"/>
          </a:p>
        </p:txBody>
      </p:sp>
      <p:sp>
        <p:nvSpPr>
          <p:cNvPr id="26" name="Shape 24"/>
          <p:cNvSpPr/>
          <p:nvPr/>
        </p:nvSpPr>
        <p:spPr>
          <a:xfrm>
            <a:off x="800100" y="6581462"/>
            <a:ext cx="7085261" cy="9525"/>
          </a:xfrm>
          <a:prstGeom prst="rect">
            <a:avLst/>
          </a:prstGeom>
          <a:solidFill>
            <a:srgbClr val="D2D9E1"/>
          </a:solidFill>
          <a:ln/>
        </p:spPr>
        <p:txBody>
          <a:bodyPr/>
          <a:lstStyle/>
          <a:p>
            <a:endParaRPr lang="ko-KR" altLang="en-US"/>
          </a:p>
        </p:txBody>
      </p:sp>
      <p:sp>
        <p:nvSpPr>
          <p:cNvPr id="27" name="Text 25"/>
          <p:cNvSpPr/>
          <p:nvPr/>
        </p:nvSpPr>
        <p:spPr>
          <a:xfrm>
            <a:off x="1009650" y="5709925"/>
            <a:ext cx="7332777" cy="39528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75" b="1" dirty="0">
                <a:solidFill>
                  <a:srgbClr val="1A212B"/>
                </a:solidFill>
                <a:latin typeface="Arial" pitchFamily="34" charset="0"/>
                <a:ea typeface="Arial" pitchFamily="34" charset="-122"/>
                <a:cs typeface="Arial" pitchFamily="34" charset="-120"/>
              </a:rPr>
              <a:t>B. sk_live_ 운영 키 · test 경로</a:t>
            </a:r>
            <a:endParaRPr lang="en-US" sz="1875" dirty="0"/>
          </a:p>
        </p:txBody>
      </p:sp>
      <p:sp>
        <p:nvSpPr>
          <p:cNvPr id="28" name="Text 26"/>
          <p:cNvSpPr/>
          <p:nvPr/>
        </p:nvSpPr>
        <p:spPr>
          <a:xfrm>
            <a:off x="1009650" y="6138550"/>
            <a:ext cx="652314" cy="276225"/>
          </a:xfrm>
          <a:prstGeom prst="rect">
            <a:avLst/>
          </a:prstGeom>
          <a:noFill/>
          <a:ln/>
        </p:spPr>
        <p:txBody>
          <a:bodyPr wrap="square" lIns="25400" tIns="25400" rIns="25400" bIns="25400" rtlCol="0" anchor="t">
            <a:normAutofit fontScale="77500" lnSpcReduction="20000"/>
          </a:bodyPr>
          <a:lstStyle/>
          <a:p>
            <a:pPr marL="0" indent="0" algn="l">
              <a:lnSpc>
                <a:spcPct val="150000"/>
              </a:lnSpc>
              <a:buNone/>
            </a:pPr>
            <a:r>
              <a:rPr lang="en-US" sz="1575" dirty="0">
                <a:solidFill>
                  <a:srgbClr val="76828F"/>
                </a:solidFill>
                <a:latin typeface="Arial" pitchFamily="34" charset="0"/>
                <a:ea typeface="Arial" pitchFamily="34" charset="-122"/>
                <a:cs typeface="Arial" pitchFamily="34" charset="-120"/>
              </a:rPr>
              <a:t>S6418</a:t>
            </a:r>
            <a:endParaRPr lang="en-US" sz="1575" dirty="0"/>
          </a:p>
        </p:txBody>
      </p:sp>
      <p:sp>
        <p:nvSpPr>
          <p:cNvPr id="29" name="Shape 27"/>
          <p:cNvSpPr/>
          <p:nvPr/>
        </p:nvSpPr>
        <p:spPr>
          <a:xfrm>
            <a:off x="7885361" y="6581462"/>
            <a:ext cx="1946746" cy="9525"/>
          </a:xfrm>
          <a:prstGeom prst="rect">
            <a:avLst/>
          </a:prstGeom>
          <a:solidFill>
            <a:srgbClr val="D2D9E1"/>
          </a:solidFill>
          <a:ln/>
        </p:spPr>
        <p:txBody>
          <a:bodyPr/>
          <a:lstStyle/>
          <a:p>
            <a:endParaRPr lang="ko-KR" altLang="en-US"/>
          </a:p>
        </p:txBody>
      </p:sp>
      <p:sp>
        <p:nvSpPr>
          <p:cNvPr id="30" name="Text 28"/>
          <p:cNvSpPr/>
          <p:nvPr/>
        </p:nvSpPr>
        <p:spPr>
          <a:xfrm>
            <a:off x="8056811" y="5705162"/>
            <a:ext cx="1603846" cy="752475"/>
          </a:xfrm>
          <a:prstGeom prst="rect">
            <a:avLst/>
          </a:prstGeom>
          <a:noFill/>
          <a:ln/>
        </p:spPr>
        <p:txBody>
          <a:bodyPr wrap="square" lIns="25400" tIns="25400" rIns="25400" bIns="25400" rtlCol="0" anchor="ctr">
            <a:normAutofit/>
          </a:bodyPr>
          <a:lstStyle/>
          <a:p>
            <a:pPr marL="0" indent="0" algn="ctr">
              <a:lnSpc>
                <a:spcPct val="150000"/>
              </a:lnSpc>
              <a:buNone/>
            </a:pPr>
            <a:r>
              <a:rPr lang="en-US" sz="1875" dirty="0">
                <a:solidFill>
                  <a:srgbClr val="1A212B"/>
                </a:solidFill>
                <a:latin typeface="Arial" pitchFamily="34" charset="0"/>
                <a:ea typeface="Arial" pitchFamily="34" charset="-122"/>
                <a:cs typeface="Arial" pitchFamily="34" charset="-120"/>
              </a:rPr>
              <a:t>실결함</a:t>
            </a:r>
            <a:endParaRPr lang="en-US" sz="1875" dirty="0"/>
          </a:p>
        </p:txBody>
      </p:sp>
      <p:sp>
        <p:nvSpPr>
          <p:cNvPr id="31" name="Shape 29"/>
          <p:cNvSpPr/>
          <p:nvPr/>
        </p:nvSpPr>
        <p:spPr>
          <a:xfrm>
            <a:off x="9832107" y="6581462"/>
            <a:ext cx="1491109" cy="9525"/>
          </a:xfrm>
          <a:prstGeom prst="rect">
            <a:avLst/>
          </a:prstGeom>
          <a:solidFill>
            <a:srgbClr val="D2D9E1"/>
          </a:solidFill>
          <a:ln/>
        </p:spPr>
        <p:txBody>
          <a:bodyPr/>
          <a:lstStyle/>
          <a:p>
            <a:endParaRPr lang="ko-KR" altLang="en-US"/>
          </a:p>
        </p:txBody>
      </p:sp>
      <p:sp>
        <p:nvSpPr>
          <p:cNvPr id="32" name="Text 30"/>
          <p:cNvSpPr/>
          <p:nvPr/>
        </p:nvSpPr>
        <p:spPr>
          <a:xfrm>
            <a:off x="10003557" y="5705162"/>
            <a:ext cx="1148209" cy="752475"/>
          </a:xfrm>
          <a:prstGeom prst="rect">
            <a:avLst/>
          </a:prstGeom>
          <a:noFill/>
          <a:ln/>
        </p:spPr>
        <p:txBody>
          <a:bodyPr wrap="square" lIns="25400" tIns="25400" rIns="25400" bIns="25400" rtlCol="0" anchor="ctr">
            <a:normAutofit/>
          </a:bodyPr>
          <a:lstStyle/>
          <a:p>
            <a:pPr marL="0" indent="0" algn="ctr">
              <a:lnSpc>
                <a:spcPct val="150000"/>
              </a:lnSpc>
              <a:buNone/>
            </a:pPr>
            <a:r>
              <a:rPr lang="en-US" sz="1875" b="1" dirty="0">
                <a:solidFill>
                  <a:srgbClr val="D6403D"/>
                </a:solidFill>
                <a:latin typeface="Arial" pitchFamily="34" charset="0"/>
                <a:ea typeface="Arial" pitchFamily="34" charset="-122"/>
                <a:cs typeface="Arial" pitchFamily="34" charset="-120"/>
              </a:rPr>
              <a:t>✗</a:t>
            </a:r>
            <a:endParaRPr lang="en-US" sz="1875" dirty="0"/>
          </a:p>
        </p:txBody>
      </p:sp>
      <p:sp>
        <p:nvSpPr>
          <p:cNvPr id="33" name="Shape 31"/>
          <p:cNvSpPr/>
          <p:nvPr/>
        </p:nvSpPr>
        <p:spPr>
          <a:xfrm>
            <a:off x="11323216" y="6581462"/>
            <a:ext cx="1592684" cy="9525"/>
          </a:xfrm>
          <a:prstGeom prst="rect">
            <a:avLst/>
          </a:prstGeom>
          <a:solidFill>
            <a:srgbClr val="D2D9E1"/>
          </a:solidFill>
          <a:ln/>
        </p:spPr>
        <p:txBody>
          <a:bodyPr/>
          <a:lstStyle/>
          <a:p>
            <a:endParaRPr lang="ko-KR" altLang="en-US"/>
          </a:p>
        </p:txBody>
      </p:sp>
      <p:sp>
        <p:nvSpPr>
          <p:cNvPr id="34" name="Text 32"/>
          <p:cNvSpPr/>
          <p:nvPr/>
        </p:nvSpPr>
        <p:spPr>
          <a:xfrm>
            <a:off x="11494666" y="5705162"/>
            <a:ext cx="1249784" cy="752475"/>
          </a:xfrm>
          <a:prstGeom prst="rect">
            <a:avLst/>
          </a:prstGeom>
          <a:noFill/>
          <a:ln/>
        </p:spPr>
        <p:txBody>
          <a:bodyPr wrap="square" lIns="25400" tIns="25400" rIns="25400" bIns="25400" rtlCol="0" anchor="ctr">
            <a:normAutofit/>
          </a:bodyPr>
          <a:lstStyle/>
          <a:p>
            <a:pPr marL="0" indent="0" algn="ctr">
              <a:lnSpc>
                <a:spcPct val="150000"/>
              </a:lnSpc>
              <a:buNone/>
            </a:pPr>
            <a:r>
              <a:rPr lang="en-US" sz="1875" b="1" dirty="0">
                <a:solidFill>
                  <a:srgbClr val="1F9D57"/>
                </a:solidFill>
                <a:latin typeface="Arial" pitchFamily="34" charset="0"/>
                <a:ea typeface="Arial" pitchFamily="34" charset="-122"/>
                <a:cs typeface="Arial" pitchFamily="34" charset="-120"/>
              </a:rPr>
              <a:t>✓</a:t>
            </a:r>
            <a:endParaRPr lang="en-US" sz="1875" dirty="0"/>
          </a:p>
        </p:txBody>
      </p:sp>
      <p:sp>
        <p:nvSpPr>
          <p:cNvPr id="35" name="Text 33"/>
          <p:cNvSpPr/>
          <p:nvPr/>
        </p:nvSpPr>
        <p:spPr>
          <a:xfrm>
            <a:off x="1009650" y="6757675"/>
            <a:ext cx="7332777" cy="39528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75" b="1" dirty="0">
                <a:solidFill>
                  <a:srgbClr val="1A212B"/>
                </a:solidFill>
                <a:latin typeface="Arial" pitchFamily="34" charset="0"/>
                <a:ea typeface="Arial" pitchFamily="34" charset="-122"/>
                <a:cs typeface="Arial" pitchFamily="34" charset="-120"/>
              </a:rPr>
              <a:t>C. NPE 경고 · 윗줄에 커스텀 검증기</a:t>
            </a:r>
            <a:endParaRPr lang="en-US" sz="1875" dirty="0"/>
          </a:p>
        </p:txBody>
      </p:sp>
      <p:sp>
        <p:nvSpPr>
          <p:cNvPr id="36" name="Text 34"/>
          <p:cNvSpPr/>
          <p:nvPr/>
        </p:nvSpPr>
        <p:spPr>
          <a:xfrm>
            <a:off x="1009650" y="7186300"/>
            <a:ext cx="674563" cy="276225"/>
          </a:xfrm>
          <a:prstGeom prst="rect">
            <a:avLst/>
          </a:prstGeom>
          <a:noFill/>
          <a:ln/>
        </p:spPr>
        <p:txBody>
          <a:bodyPr wrap="square" lIns="25400" tIns="25400" rIns="25400" bIns="25400" rtlCol="0" anchor="t">
            <a:normAutofit fontScale="77500" lnSpcReduction="20000"/>
          </a:bodyPr>
          <a:lstStyle/>
          <a:p>
            <a:pPr marL="0" indent="0" algn="l">
              <a:lnSpc>
                <a:spcPct val="150000"/>
              </a:lnSpc>
              <a:buNone/>
            </a:pPr>
            <a:r>
              <a:rPr lang="en-US" sz="1575" dirty="0">
                <a:solidFill>
                  <a:srgbClr val="76828F"/>
                </a:solidFill>
                <a:latin typeface="Arial" pitchFamily="34" charset="0"/>
                <a:ea typeface="Arial" pitchFamily="34" charset="-122"/>
                <a:cs typeface="Arial" pitchFamily="34" charset="-120"/>
              </a:rPr>
              <a:t>S2259</a:t>
            </a:r>
            <a:endParaRPr lang="en-US" sz="1575" dirty="0"/>
          </a:p>
        </p:txBody>
      </p:sp>
      <p:sp>
        <p:nvSpPr>
          <p:cNvPr id="37" name="Text 35"/>
          <p:cNvSpPr/>
          <p:nvPr/>
        </p:nvSpPr>
        <p:spPr>
          <a:xfrm>
            <a:off x="8056811" y="6752912"/>
            <a:ext cx="1603846" cy="757237"/>
          </a:xfrm>
          <a:prstGeom prst="rect">
            <a:avLst/>
          </a:prstGeom>
          <a:noFill/>
          <a:ln/>
        </p:spPr>
        <p:txBody>
          <a:bodyPr wrap="square" lIns="25400" tIns="25400" rIns="25400" bIns="25400" rtlCol="0" anchor="ctr">
            <a:normAutofit/>
          </a:bodyPr>
          <a:lstStyle/>
          <a:p>
            <a:pPr marL="0" indent="0" algn="ctr">
              <a:lnSpc>
                <a:spcPct val="150000"/>
              </a:lnSpc>
              <a:buNone/>
            </a:pPr>
            <a:r>
              <a:rPr lang="en-US" sz="1875" dirty="0">
                <a:solidFill>
                  <a:srgbClr val="1A212B"/>
                </a:solidFill>
                <a:latin typeface="Arial" pitchFamily="34" charset="0"/>
                <a:ea typeface="Arial" pitchFamily="34" charset="-122"/>
                <a:cs typeface="Arial" pitchFamily="34" charset="-120"/>
              </a:rPr>
              <a:t>오탐</a:t>
            </a:r>
            <a:endParaRPr lang="en-US" sz="1875" dirty="0"/>
          </a:p>
        </p:txBody>
      </p:sp>
      <p:sp>
        <p:nvSpPr>
          <p:cNvPr id="38" name="Text 36"/>
          <p:cNvSpPr/>
          <p:nvPr/>
        </p:nvSpPr>
        <p:spPr>
          <a:xfrm>
            <a:off x="10003557" y="6752912"/>
            <a:ext cx="1148209" cy="757237"/>
          </a:xfrm>
          <a:prstGeom prst="rect">
            <a:avLst/>
          </a:prstGeom>
          <a:noFill/>
          <a:ln/>
        </p:spPr>
        <p:txBody>
          <a:bodyPr wrap="square" lIns="25400" tIns="25400" rIns="25400" bIns="25400" rtlCol="0" anchor="ctr">
            <a:normAutofit/>
          </a:bodyPr>
          <a:lstStyle/>
          <a:p>
            <a:pPr marL="0" indent="0" algn="ctr">
              <a:lnSpc>
                <a:spcPct val="150000"/>
              </a:lnSpc>
              <a:buNone/>
            </a:pPr>
            <a:r>
              <a:rPr lang="en-US" sz="1875" b="1" dirty="0">
                <a:solidFill>
                  <a:srgbClr val="D6403D"/>
                </a:solidFill>
                <a:latin typeface="Arial" pitchFamily="34" charset="0"/>
                <a:ea typeface="Arial" pitchFamily="34" charset="-122"/>
                <a:cs typeface="Arial" pitchFamily="34" charset="-120"/>
              </a:rPr>
              <a:t>✗</a:t>
            </a:r>
            <a:endParaRPr lang="en-US" sz="1875" dirty="0"/>
          </a:p>
        </p:txBody>
      </p:sp>
      <p:sp>
        <p:nvSpPr>
          <p:cNvPr id="39" name="Text 37"/>
          <p:cNvSpPr/>
          <p:nvPr/>
        </p:nvSpPr>
        <p:spPr>
          <a:xfrm>
            <a:off x="11494666" y="6752912"/>
            <a:ext cx="1249784" cy="757237"/>
          </a:xfrm>
          <a:prstGeom prst="rect">
            <a:avLst/>
          </a:prstGeom>
          <a:noFill/>
          <a:ln/>
        </p:spPr>
        <p:txBody>
          <a:bodyPr wrap="square" lIns="25400" tIns="25400" rIns="25400" bIns="25400" rtlCol="0" anchor="ctr">
            <a:normAutofit/>
          </a:bodyPr>
          <a:lstStyle/>
          <a:p>
            <a:pPr marL="0" indent="0" algn="ctr">
              <a:lnSpc>
                <a:spcPct val="150000"/>
              </a:lnSpc>
              <a:buNone/>
            </a:pPr>
            <a:r>
              <a:rPr lang="en-US" sz="1875" b="1" dirty="0">
                <a:solidFill>
                  <a:srgbClr val="1F9D57"/>
                </a:solidFill>
                <a:latin typeface="Arial" pitchFamily="34" charset="0"/>
                <a:ea typeface="Arial" pitchFamily="34" charset="-122"/>
                <a:cs typeface="Arial" pitchFamily="34" charset="-120"/>
              </a:rPr>
              <a:t>✓</a:t>
            </a:r>
            <a:endParaRPr lang="en-US" sz="1875" dirty="0"/>
          </a:p>
        </p:txBody>
      </p:sp>
      <p:sp>
        <p:nvSpPr>
          <p:cNvPr id="40" name="Text 38"/>
          <p:cNvSpPr/>
          <p:nvPr/>
        </p:nvSpPr>
        <p:spPr>
          <a:xfrm>
            <a:off x="800100" y="7919725"/>
            <a:ext cx="13327380" cy="39528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75" b="1" dirty="0">
                <a:solidFill>
                  <a:srgbClr val="E07F00"/>
                </a:solidFill>
                <a:latin typeface="Arial" pitchFamily="34" charset="0"/>
                <a:ea typeface="Arial" pitchFamily="34" charset="-122"/>
                <a:cs typeface="Arial" pitchFamily="34" charset="-120"/>
              </a:rPr>
              <a:t>표본 3건은 대표 예시</a:t>
            </a:r>
            <a:r>
              <a:rPr lang="en-US" sz="1875" dirty="0">
                <a:solidFill>
                  <a:srgbClr val="51606D"/>
                </a:solidFill>
                <a:latin typeface="Arial" pitchFamily="34" charset="0"/>
                <a:ea typeface="Arial" pitchFamily="34" charset="-122"/>
                <a:cs typeface="Arial" pitchFamily="34" charset="-120"/>
              </a:rPr>
              <a:t>— fp-corpus</a:t>
            </a:r>
            <a:r>
              <a:rPr lang="en-US" sz="1875" b="1" dirty="0">
                <a:solidFill>
                  <a:srgbClr val="1A212B"/>
                </a:solidFill>
                <a:latin typeface="Arial" pitchFamily="34" charset="0"/>
                <a:ea typeface="Arial" pitchFamily="34" charset="-122"/>
                <a:cs typeface="Arial" pitchFamily="34" charset="-120"/>
              </a:rPr>
              <a:t>32건 전체에서 재현율 94%</a:t>
            </a:r>
            <a:r>
              <a:rPr lang="en-US" sz="1875" dirty="0">
                <a:solidFill>
                  <a:srgbClr val="51606D"/>
                </a:solidFill>
                <a:latin typeface="Arial" pitchFamily="34" charset="0"/>
                <a:ea typeface="Arial" pitchFamily="34" charset="-122"/>
                <a:cs typeface="Arial" pitchFamily="34" charset="-120"/>
              </a:rPr>
              <a:t>(judge: opus · 상세는 비용 슬라이드)</a:t>
            </a:r>
            <a:endParaRPr lang="en-US" sz="1875" dirty="0"/>
          </a:p>
        </p:txBody>
      </p:sp>
      <p:sp>
        <p:nvSpPr>
          <p:cNvPr id="41" name="Text 39"/>
          <p:cNvSpPr/>
          <p:nvPr/>
        </p:nvSpPr>
        <p:spPr>
          <a:xfrm>
            <a:off x="800100" y="8410262"/>
            <a:ext cx="13327380" cy="39528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75" dirty="0">
                <a:solidFill>
                  <a:srgbClr val="51606D"/>
                </a:solidFill>
                <a:latin typeface="Arial" pitchFamily="34" charset="0"/>
                <a:ea typeface="Arial" pitchFamily="34" charset="-122"/>
                <a:cs typeface="Arial" pitchFamily="34" charset="-120"/>
              </a:rPr>
              <a:t>이 판단, 사람도 합니다 — 수천 개를 못 볼 뿐입니다. </a:t>
            </a:r>
            <a:r>
              <a:rPr lang="en-US" sz="1875" b="1" dirty="0">
                <a:solidFill>
                  <a:srgbClr val="1A212B"/>
                </a:solidFill>
                <a:latin typeface="Arial" pitchFamily="34" charset="0"/>
                <a:ea typeface="Arial" pitchFamily="34" charset="-122"/>
                <a:cs typeface="Arial" pitchFamily="34" charset="-120"/>
              </a:rPr>
              <a:t>사람만 하던 그 판단을, 이제 LLM도 해냅니다.</a:t>
            </a:r>
            <a:endParaRPr lang="en-US" sz="187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00100" y="762000"/>
            <a:ext cx="1165547" cy="381000"/>
          </a:xfrm>
          <a:prstGeom prst="rect">
            <a:avLst/>
          </a:prstGeom>
          <a:noFill/>
          <a:ln/>
        </p:spPr>
        <p:txBody>
          <a:bodyPr wrap="square" lIns="25400" tIns="25400" rIns="25400" bIns="25400" rtlCol="0" anchor="t">
            <a:normAutofit fontScale="85000" lnSpcReduction="10000"/>
          </a:bodyPr>
          <a:lstStyle/>
          <a:p>
            <a:pPr marL="0" indent="0" algn="l">
              <a:lnSpc>
                <a:spcPct val="150000"/>
              </a:lnSpc>
              <a:buNone/>
            </a:pPr>
            <a:r>
              <a:rPr lang="en-US" sz="1800" b="1" kern="0" spc="144" dirty="0">
                <a:solidFill>
                  <a:srgbClr val="E07F00"/>
                </a:solidFill>
                <a:latin typeface="Arial" pitchFamily="34" charset="0"/>
                <a:ea typeface="Arial" pitchFamily="34" charset="-122"/>
                <a:cs typeface="Arial" pitchFamily="34" charset="-120"/>
              </a:rPr>
              <a:t>데모 </a:t>
            </a:r>
            <a:r>
              <a:rPr lang="en-US" sz="1800" b="1" kern="0" spc="144" dirty="0">
                <a:solidFill>
                  <a:srgbClr val="76828F"/>
                </a:solidFill>
                <a:latin typeface="Arial" pitchFamily="34" charset="0"/>
                <a:ea typeface="Arial" pitchFamily="34" charset="-122"/>
                <a:cs typeface="Arial" pitchFamily="34" charset="-120"/>
              </a:rPr>
              <a:t>· 구현</a:t>
            </a:r>
            <a:endParaRPr lang="en-US" sz="1800" dirty="0"/>
          </a:p>
        </p:txBody>
      </p:sp>
      <p:sp>
        <p:nvSpPr>
          <p:cNvPr id="3" name="Text 1"/>
          <p:cNvSpPr/>
          <p:nvPr/>
        </p:nvSpPr>
        <p:spPr>
          <a:xfrm>
            <a:off x="800100" y="1314450"/>
            <a:ext cx="8145110" cy="688777"/>
          </a:xfrm>
          <a:prstGeom prst="rect">
            <a:avLst/>
          </a:prstGeom>
          <a:noFill/>
          <a:ln/>
        </p:spPr>
        <p:txBody>
          <a:bodyPr wrap="square" lIns="25400" tIns="25400" rIns="25400" bIns="25400" rtlCol="0" anchor="t">
            <a:normAutofit fontScale="92500" lnSpcReduction="10000"/>
          </a:bodyPr>
          <a:lstStyle/>
          <a:p>
            <a:pPr marL="0" indent="0" algn="l">
              <a:lnSpc>
                <a:spcPct val="122000"/>
              </a:lnSpc>
              <a:buNone/>
            </a:pPr>
            <a:r>
              <a:rPr lang="en-US" sz="4200" b="1" kern="0" spc="-63" dirty="0">
                <a:solidFill>
                  <a:srgbClr val="1A212B"/>
                </a:solidFill>
                <a:latin typeface="Arial" pitchFamily="34" charset="0"/>
                <a:ea typeface="Arial" pitchFamily="34" charset="-122"/>
                <a:cs typeface="Arial" pitchFamily="34" charset="-120"/>
              </a:rPr>
              <a:t>어떻게 만들었나 — </a:t>
            </a:r>
            <a:r>
              <a:rPr lang="en-US" sz="4200" b="1" kern="0" spc="-63" dirty="0">
                <a:solidFill>
                  <a:srgbClr val="E07F00"/>
                </a:solidFill>
                <a:latin typeface="Arial" pitchFamily="34" charset="0"/>
                <a:ea typeface="Arial" pitchFamily="34" charset="-122"/>
                <a:cs typeface="Arial" pitchFamily="34" charset="-120"/>
              </a:rPr>
              <a:t>AWS Bedrock</a:t>
            </a:r>
            <a:endParaRPr lang="en-US" sz="4200" dirty="0"/>
          </a:p>
        </p:txBody>
      </p:sp>
      <p:sp>
        <p:nvSpPr>
          <p:cNvPr id="4" name="Shape 2"/>
          <p:cNvSpPr/>
          <p:nvPr/>
        </p:nvSpPr>
        <p:spPr>
          <a:xfrm>
            <a:off x="800100" y="2669977"/>
            <a:ext cx="1977777" cy="2114550"/>
          </a:xfrm>
          <a:prstGeom prst="roundRect">
            <a:avLst>
              <a:gd name="adj" fmla="val 7706"/>
            </a:avLst>
          </a:prstGeom>
          <a:solidFill>
            <a:srgbClr val="F6F8FB"/>
          </a:solidFill>
          <a:ln w="9525">
            <a:solidFill>
              <a:srgbClr val="D2D9E1"/>
            </a:solidFill>
            <a:prstDash val="solid"/>
          </a:ln>
        </p:spPr>
        <p:txBody>
          <a:bodyPr/>
          <a:lstStyle/>
          <a:p>
            <a:endParaRPr lang="ko-KR" altLang="en-US"/>
          </a:p>
        </p:txBody>
      </p:sp>
      <p:sp>
        <p:nvSpPr>
          <p:cNvPr id="5" name="Text 3"/>
          <p:cNvSpPr/>
          <p:nvPr/>
        </p:nvSpPr>
        <p:spPr>
          <a:xfrm>
            <a:off x="1026014" y="3336727"/>
            <a:ext cx="1525950" cy="395288"/>
          </a:xfrm>
          <a:prstGeom prst="rect">
            <a:avLst/>
          </a:prstGeom>
          <a:noFill/>
          <a:ln/>
        </p:spPr>
        <p:txBody>
          <a:bodyPr wrap="square" lIns="25400" tIns="25400" rIns="25400" bIns="25400" rtlCol="0" anchor="t">
            <a:normAutofit fontScale="92500" lnSpcReduction="10000"/>
          </a:bodyPr>
          <a:lstStyle/>
          <a:p>
            <a:pPr marL="0" indent="0" algn="ctr">
              <a:lnSpc>
                <a:spcPct val="150000"/>
              </a:lnSpc>
              <a:buNone/>
            </a:pPr>
            <a:r>
              <a:rPr lang="en-US" sz="1875" b="1" dirty="0">
                <a:solidFill>
                  <a:srgbClr val="1A212B"/>
                </a:solidFill>
                <a:latin typeface="Arial" pitchFamily="34" charset="0"/>
                <a:ea typeface="Arial" pitchFamily="34" charset="-122"/>
                <a:cs typeface="Arial" pitchFamily="34" charset="-120"/>
              </a:rPr>
              <a:t>SonarQube</a:t>
            </a:r>
            <a:endParaRPr lang="en-US" sz="1875" dirty="0"/>
          </a:p>
        </p:txBody>
      </p:sp>
      <p:sp>
        <p:nvSpPr>
          <p:cNvPr id="6" name="Text 4"/>
          <p:cNvSpPr/>
          <p:nvPr/>
        </p:nvSpPr>
        <p:spPr>
          <a:xfrm>
            <a:off x="1026014" y="3789164"/>
            <a:ext cx="1525950" cy="366713"/>
          </a:xfrm>
          <a:prstGeom prst="rect">
            <a:avLst/>
          </a:prstGeom>
          <a:noFill/>
          <a:ln/>
        </p:spPr>
        <p:txBody>
          <a:bodyPr wrap="square" lIns="25400" tIns="25400" rIns="25400" bIns="25400" rtlCol="0" anchor="t">
            <a:normAutofit fontScale="92500" lnSpcReduction="10000"/>
          </a:bodyPr>
          <a:lstStyle/>
          <a:p>
            <a:pPr marL="0" indent="0" algn="ctr">
              <a:lnSpc>
                <a:spcPct val="150000"/>
              </a:lnSpc>
              <a:buNone/>
            </a:pPr>
            <a:r>
              <a:rPr lang="en-US" sz="1725" dirty="0">
                <a:solidFill>
                  <a:srgbClr val="51606D"/>
                </a:solidFill>
                <a:latin typeface="Arial" pitchFamily="34" charset="0"/>
                <a:ea typeface="Arial" pitchFamily="34" charset="-122"/>
                <a:cs typeface="Arial" pitchFamily="34" charset="-120"/>
              </a:rPr>
              <a:t>finding</a:t>
            </a:r>
            <a:endParaRPr lang="en-US" sz="1725" dirty="0"/>
          </a:p>
        </p:txBody>
      </p:sp>
      <p:sp>
        <p:nvSpPr>
          <p:cNvPr id="7" name="Text 5"/>
          <p:cNvSpPr/>
          <p:nvPr/>
        </p:nvSpPr>
        <p:spPr>
          <a:xfrm>
            <a:off x="2844552" y="3512939"/>
            <a:ext cx="337170" cy="466725"/>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2250" dirty="0">
                <a:solidFill>
                  <a:srgbClr val="76828F"/>
                </a:solidFill>
                <a:latin typeface="Arial" pitchFamily="34" charset="0"/>
                <a:ea typeface="Arial" pitchFamily="34" charset="-122"/>
                <a:cs typeface="Arial" pitchFamily="34" charset="-120"/>
              </a:rPr>
              <a:t>→</a:t>
            </a:r>
            <a:endParaRPr lang="en-US" sz="2250" dirty="0"/>
          </a:p>
        </p:txBody>
      </p:sp>
      <p:sp>
        <p:nvSpPr>
          <p:cNvPr id="8" name="Shape 6"/>
          <p:cNvSpPr/>
          <p:nvPr/>
        </p:nvSpPr>
        <p:spPr>
          <a:xfrm>
            <a:off x="3172197" y="2669977"/>
            <a:ext cx="2103909" cy="2114550"/>
          </a:xfrm>
          <a:prstGeom prst="roundRect">
            <a:avLst>
              <a:gd name="adj" fmla="val 7244"/>
            </a:avLst>
          </a:prstGeom>
          <a:solidFill>
            <a:srgbClr val="F6F8FB"/>
          </a:solidFill>
          <a:ln w="9525">
            <a:solidFill>
              <a:srgbClr val="D2D9E1"/>
            </a:solidFill>
            <a:prstDash val="solid"/>
          </a:ln>
        </p:spPr>
        <p:txBody>
          <a:bodyPr/>
          <a:lstStyle/>
          <a:p>
            <a:endParaRPr lang="ko-KR" altLang="en-US"/>
          </a:p>
        </p:txBody>
      </p:sp>
      <p:sp>
        <p:nvSpPr>
          <p:cNvPr id="9" name="Text 7"/>
          <p:cNvSpPr/>
          <p:nvPr/>
        </p:nvSpPr>
        <p:spPr>
          <a:xfrm>
            <a:off x="3391804" y="3336727"/>
            <a:ext cx="1664695" cy="395288"/>
          </a:xfrm>
          <a:prstGeom prst="rect">
            <a:avLst/>
          </a:prstGeom>
          <a:noFill/>
          <a:ln/>
        </p:spPr>
        <p:txBody>
          <a:bodyPr wrap="square" lIns="25400" tIns="25400" rIns="25400" bIns="25400" rtlCol="0" anchor="t">
            <a:normAutofit fontScale="92500" lnSpcReduction="10000"/>
          </a:bodyPr>
          <a:lstStyle/>
          <a:p>
            <a:pPr marL="0" indent="0" algn="ctr">
              <a:lnSpc>
                <a:spcPct val="150000"/>
              </a:lnSpc>
              <a:buNone/>
            </a:pPr>
            <a:r>
              <a:rPr lang="en-US" sz="1875" b="1" dirty="0">
                <a:solidFill>
                  <a:srgbClr val="1A212B"/>
                </a:solidFill>
                <a:latin typeface="Arial" pitchFamily="34" charset="0"/>
                <a:ea typeface="Arial" pitchFamily="34" charset="-122"/>
                <a:cs typeface="Arial" pitchFamily="34" charset="-120"/>
              </a:rPr>
              <a:t>프롬프트 조립</a:t>
            </a:r>
            <a:endParaRPr lang="en-US" sz="1875" dirty="0"/>
          </a:p>
        </p:txBody>
      </p:sp>
      <p:sp>
        <p:nvSpPr>
          <p:cNvPr id="10" name="Text 8"/>
          <p:cNvSpPr/>
          <p:nvPr/>
        </p:nvSpPr>
        <p:spPr>
          <a:xfrm>
            <a:off x="3391804" y="3789164"/>
            <a:ext cx="1664695" cy="366713"/>
          </a:xfrm>
          <a:prstGeom prst="rect">
            <a:avLst/>
          </a:prstGeom>
          <a:noFill/>
          <a:ln/>
        </p:spPr>
        <p:txBody>
          <a:bodyPr wrap="square" lIns="25400" tIns="25400" rIns="25400" bIns="25400" rtlCol="0" anchor="t">
            <a:normAutofit fontScale="92500" lnSpcReduction="10000"/>
          </a:bodyPr>
          <a:lstStyle/>
          <a:p>
            <a:pPr marL="0" indent="0" algn="ctr">
              <a:lnSpc>
                <a:spcPct val="150000"/>
              </a:lnSpc>
              <a:buNone/>
            </a:pPr>
            <a:r>
              <a:rPr lang="en-US" sz="1725" dirty="0">
                <a:solidFill>
                  <a:srgbClr val="51606D"/>
                </a:solidFill>
                <a:latin typeface="Arial" pitchFamily="34" charset="0"/>
                <a:ea typeface="Arial" pitchFamily="34" charset="-122"/>
                <a:cs typeface="Arial" pitchFamily="34" charset="-120"/>
              </a:rPr>
              <a:t>코드 + 주변 맥락</a:t>
            </a:r>
            <a:endParaRPr lang="en-US" sz="1725" dirty="0"/>
          </a:p>
        </p:txBody>
      </p:sp>
      <p:sp>
        <p:nvSpPr>
          <p:cNvPr id="11" name="Text 9"/>
          <p:cNvSpPr/>
          <p:nvPr/>
        </p:nvSpPr>
        <p:spPr>
          <a:xfrm>
            <a:off x="5342781" y="3512939"/>
            <a:ext cx="337170" cy="466725"/>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2250" dirty="0">
                <a:solidFill>
                  <a:srgbClr val="76828F"/>
                </a:solidFill>
                <a:latin typeface="Arial" pitchFamily="34" charset="0"/>
                <a:ea typeface="Arial" pitchFamily="34" charset="-122"/>
                <a:cs typeface="Arial" pitchFamily="34" charset="-120"/>
              </a:rPr>
              <a:t>→</a:t>
            </a:r>
            <a:endParaRPr lang="en-US" sz="2250" dirty="0"/>
          </a:p>
        </p:txBody>
      </p:sp>
      <p:sp>
        <p:nvSpPr>
          <p:cNvPr id="12" name="Shape 10"/>
          <p:cNvSpPr/>
          <p:nvPr/>
        </p:nvSpPr>
        <p:spPr>
          <a:xfrm>
            <a:off x="5670426" y="2670325"/>
            <a:ext cx="2501280" cy="2114550"/>
          </a:xfrm>
          <a:prstGeom prst="roundRect">
            <a:avLst>
              <a:gd name="adj" fmla="val 8108"/>
            </a:avLst>
          </a:prstGeom>
          <a:solidFill>
            <a:srgbClr val="FF9900">
              <a:alpha val="8000"/>
            </a:srgbClr>
          </a:solidFill>
          <a:ln w="19050">
            <a:solidFill>
              <a:srgbClr val="E07F00"/>
            </a:solidFill>
            <a:prstDash val="solid"/>
          </a:ln>
        </p:spPr>
        <p:txBody>
          <a:bodyPr/>
          <a:lstStyle/>
          <a:p>
            <a:endParaRPr lang="ko-KR" altLang="en-US"/>
          </a:p>
        </p:txBody>
      </p:sp>
      <p:sp>
        <p:nvSpPr>
          <p:cNvPr id="13" name="Text 11"/>
          <p:cNvSpPr/>
          <p:nvPr/>
        </p:nvSpPr>
        <p:spPr>
          <a:xfrm>
            <a:off x="5937126" y="2994175"/>
            <a:ext cx="1967880" cy="752475"/>
          </a:xfrm>
          <a:prstGeom prst="rect">
            <a:avLst/>
          </a:prstGeom>
          <a:noFill/>
          <a:ln/>
        </p:spPr>
        <p:txBody>
          <a:bodyPr wrap="square" lIns="25400" tIns="25400" rIns="25400" bIns="25400" rtlCol="0" anchor="t">
            <a:normAutofit fontScale="92500"/>
          </a:bodyPr>
          <a:lstStyle/>
          <a:p>
            <a:pPr marL="0" indent="0" algn="ctr">
              <a:lnSpc>
                <a:spcPct val="150000"/>
              </a:lnSpc>
              <a:buNone/>
            </a:pPr>
            <a:r>
              <a:rPr lang="en-US" sz="1875" b="1" dirty="0">
                <a:solidFill>
                  <a:srgbClr val="E07F00"/>
                </a:solidFill>
                <a:latin typeface="Arial" pitchFamily="34" charset="0"/>
                <a:ea typeface="Arial" pitchFamily="34" charset="-122"/>
                <a:cs typeface="Arial" pitchFamily="34" charset="-120"/>
              </a:rPr>
              <a:t>Amazon Bedrock</a:t>
            </a:r>
            <a:endParaRPr lang="en-US" sz="1875" dirty="0"/>
          </a:p>
        </p:txBody>
      </p:sp>
      <p:sp>
        <p:nvSpPr>
          <p:cNvPr id="14" name="Text 12"/>
          <p:cNvSpPr/>
          <p:nvPr/>
        </p:nvSpPr>
        <p:spPr>
          <a:xfrm>
            <a:off x="5937126" y="3803800"/>
            <a:ext cx="1967880" cy="695325"/>
          </a:xfrm>
          <a:prstGeom prst="rect">
            <a:avLst/>
          </a:prstGeom>
          <a:noFill/>
          <a:ln/>
        </p:spPr>
        <p:txBody>
          <a:bodyPr wrap="square" lIns="25400" tIns="25400" rIns="25400" bIns="25400" rtlCol="0" anchor="t">
            <a:normAutofit fontScale="92500" lnSpcReduction="20000"/>
          </a:bodyPr>
          <a:lstStyle/>
          <a:p>
            <a:pPr marL="0" indent="0" algn="ctr">
              <a:lnSpc>
                <a:spcPct val="150000"/>
              </a:lnSpc>
              <a:buNone/>
            </a:pPr>
            <a:r>
              <a:rPr lang="en-US" sz="1725" dirty="0">
                <a:solidFill>
                  <a:srgbClr val="51606D"/>
                </a:solidFill>
                <a:latin typeface="Arial" pitchFamily="34" charset="0"/>
                <a:ea typeface="Arial" pitchFamily="34" charset="-122"/>
                <a:cs typeface="Arial" pitchFamily="34" charset="-120"/>
              </a:rPr>
              <a:t>Converse API · Claude</a:t>
            </a:r>
            <a:endParaRPr lang="en-US" sz="1725" dirty="0"/>
          </a:p>
        </p:txBody>
      </p:sp>
      <p:sp>
        <p:nvSpPr>
          <p:cNvPr id="15" name="Text 13"/>
          <p:cNvSpPr/>
          <p:nvPr/>
        </p:nvSpPr>
        <p:spPr>
          <a:xfrm>
            <a:off x="8238381" y="3512939"/>
            <a:ext cx="337170" cy="466725"/>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2250" dirty="0">
                <a:solidFill>
                  <a:srgbClr val="76828F"/>
                </a:solidFill>
                <a:latin typeface="Arial" pitchFamily="34" charset="0"/>
                <a:ea typeface="Arial" pitchFamily="34" charset="-122"/>
                <a:cs typeface="Arial" pitchFamily="34" charset="-120"/>
              </a:rPr>
              <a:t>→</a:t>
            </a:r>
            <a:endParaRPr lang="en-US" sz="2250" dirty="0"/>
          </a:p>
        </p:txBody>
      </p:sp>
      <p:sp>
        <p:nvSpPr>
          <p:cNvPr id="16" name="Shape 14"/>
          <p:cNvSpPr/>
          <p:nvPr/>
        </p:nvSpPr>
        <p:spPr>
          <a:xfrm>
            <a:off x="8566026" y="2670325"/>
            <a:ext cx="2103909" cy="2114550"/>
          </a:xfrm>
          <a:prstGeom prst="roundRect">
            <a:avLst>
              <a:gd name="adj" fmla="val 7244"/>
            </a:avLst>
          </a:prstGeom>
          <a:solidFill>
            <a:srgbClr val="F6F8FB"/>
          </a:solidFill>
          <a:ln w="9525">
            <a:solidFill>
              <a:srgbClr val="D2D9E1"/>
            </a:solidFill>
            <a:prstDash val="solid"/>
          </a:ln>
        </p:spPr>
        <p:txBody>
          <a:bodyPr/>
          <a:lstStyle/>
          <a:p>
            <a:endParaRPr lang="ko-KR" altLang="en-US"/>
          </a:p>
        </p:txBody>
      </p:sp>
      <p:sp>
        <p:nvSpPr>
          <p:cNvPr id="17" name="Text 15"/>
          <p:cNvSpPr/>
          <p:nvPr/>
        </p:nvSpPr>
        <p:spPr>
          <a:xfrm>
            <a:off x="8785633" y="3172768"/>
            <a:ext cx="1664695" cy="395288"/>
          </a:xfrm>
          <a:prstGeom prst="rect">
            <a:avLst/>
          </a:prstGeom>
          <a:noFill/>
          <a:ln/>
        </p:spPr>
        <p:txBody>
          <a:bodyPr wrap="square" lIns="25400" tIns="25400" rIns="25400" bIns="25400" rtlCol="0" anchor="t">
            <a:normAutofit fontScale="92500" lnSpcReduction="10000"/>
          </a:bodyPr>
          <a:lstStyle/>
          <a:p>
            <a:pPr marL="0" indent="0" algn="ctr">
              <a:lnSpc>
                <a:spcPct val="150000"/>
              </a:lnSpc>
              <a:buNone/>
            </a:pPr>
            <a:r>
              <a:rPr lang="en-US" sz="1875" b="1" dirty="0">
                <a:solidFill>
                  <a:srgbClr val="1A212B"/>
                </a:solidFill>
                <a:latin typeface="Arial" pitchFamily="34" charset="0"/>
                <a:ea typeface="Arial" pitchFamily="34" charset="-122"/>
                <a:cs typeface="Arial" pitchFamily="34" charset="-120"/>
              </a:rPr>
              <a:t>판정 파싱</a:t>
            </a:r>
            <a:endParaRPr lang="en-US" sz="1875" dirty="0"/>
          </a:p>
        </p:txBody>
      </p:sp>
      <p:sp>
        <p:nvSpPr>
          <p:cNvPr id="18" name="Text 16"/>
          <p:cNvSpPr/>
          <p:nvPr/>
        </p:nvSpPr>
        <p:spPr>
          <a:xfrm>
            <a:off x="8823201" y="3625206"/>
            <a:ext cx="1589559" cy="695325"/>
          </a:xfrm>
          <a:prstGeom prst="rect">
            <a:avLst/>
          </a:prstGeom>
          <a:noFill/>
          <a:ln/>
        </p:spPr>
        <p:txBody>
          <a:bodyPr wrap="square" lIns="25400" tIns="25400" rIns="25400" bIns="25400" rtlCol="0" anchor="t">
            <a:normAutofit fontScale="92500" lnSpcReduction="20000"/>
          </a:bodyPr>
          <a:lstStyle/>
          <a:p>
            <a:pPr marL="0" indent="0" algn="ctr">
              <a:lnSpc>
                <a:spcPct val="150000"/>
              </a:lnSpc>
              <a:buNone/>
            </a:pPr>
            <a:r>
              <a:rPr lang="en-US" sz="1725" dirty="0">
                <a:solidFill>
                  <a:srgbClr val="51606D"/>
                </a:solidFill>
                <a:latin typeface="Arial" pitchFamily="34" charset="0"/>
                <a:ea typeface="Arial" pitchFamily="34" charset="-122"/>
                <a:cs typeface="Arial" pitchFamily="34" charset="-120"/>
              </a:rPr>
              <a:t>FP / TP + confidence</a:t>
            </a:r>
            <a:endParaRPr lang="en-US" sz="1725" dirty="0"/>
          </a:p>
        </p:txBody>
      </p:sp>
      <p:sp>
        <p:nvSpPr>
          <p:cNvPr id="19" name="Text 17"/>
          <p:cNvSpPr/>
          <p:nvPr/>
        </p:nvSpPr>
        <p:spPr>
          <a:xfrm>
            <a:off x="10736610" y="3512939"/>
            <a:ext cx="337170" cy="466725"/>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2250" dirty="0">
                <a:solidFill>
                  <a:srgbClr val="76828F"/>
                </a:solidFill>
                <a:latin typeface="Arial" pitchFamily="34" charset="0"/>
                <a:ea typeface="Arial" pitchFamily="34" charset="-122"/>
                <a:cs typeface="Arial" pitchFamily="34" charset="-120"/>
              </a:rPr>
              <a:t>→</a:t>
            </a:r>
            <a:endParaRPr lang="en-US" sz="2250" dirty="0"/>
          </a:p>
        </p:txBody>
      </p:sp>
      <p:sp>
        <p:nvSpPr>
          <p:cNvPr id="20" name="Shape 18"/>
          <p:cNvSpPr/>
          <p:nvPr/>
        </p:nvSpPr>
        <p:spPr>
          <a:xfrm>
            <a:off x="11064255" y="2674538"/>
            <a:ext cx="1851645" cy="2114550"/>
          </a:xfrm>
          <a:prstGeom prst="roundRect">
            <a:avLst>
              <a:gd name="adj" fmla="val 8231"/>
            </a:avLst>
          </a:prstGeom>
          <a:solidFill>
            <a:srgbClr val="F6F8FB">
              <a:alpha val="98000"/>
            </a:srgbClr>
          </a:solidFill>
          <a:ln w="9525">
            <a:solidFill>
              <a:srgbClr val="D2D9E1">
                <a:alpha val="98000"/>
              </a:srgbClr>
            </a:solidFill>
            <a:prstDash val="solid"/>
          </a:ln>
        </p:spPr>
        <p:txBody>
          <a:bodyPr/>
          <a:lstStyle/>
          <a:p>
            <a:endParaRPr lang="ko-KR" altLang="en-US"/>
          </a:p>
        </p:txBody>
      </p:sp>
      <p:sp>
        <p:nvSpPr>
          <p:cNvPr id="21" name="Text 19"/>
          <p:cNvSpPr/>
          <p:nvPr/>
        </p:nvSpPr>
        <p:spPr>
          <a:xfrm>
            <a:off x="11296475" y="3176982"/>
            <a:ext cx="1387205" cy="395288"/>
          </a:xfrm>
          <a:prstGeom prst="rect">
            <a:avLst/>
          </a:prstGeom>
          <a:noFill/>
          <a:ln/>
        </p:spPr>
        <p:txBody>
          <a:bodyPr wrap="square" lIns="25400" tIns="25400" rIns="25400" bIns="25400" rtlCol="0" anchor="t">
            <a:normAutofit fontScale="92500" lnSpcReduction="10000"/>
          </a:bodyPr>
          <a:lstStyle/>
          <a:p>
            <a:pPr marL="0" indent="0" algn="ctr">
              <a:lnSpc>
                <a:spcPct val="150000"/>
              </a:lnSpc>
              <a:buNone/>
            </a:pPr>
            <a:r>
              <a:rPr lang="en-US" sz="1875" b="1" dirty="0">
                <a:solidFill>
                  <a:srgbClr val="1A212B"/>
                </a:solidFill>
                <a:latin typeface="Arial" pitchFamily="34" charset="0"/>
                <a:ea typeface="Arial" pitchFamily="34" charset="-122"/>
                <a:cs typeface="Arial" pitchFamily="34" charset="-120"/>
              </a:rPr>
              <a:t>CI</a:t>
            </a:r>
            <a:endParaRPr lang="en-US" sz="1875" dirty="0"/>
          </a:p>
        </p:txBody>
      </p:sp>
      <p:sp>
        <p:nvSpPr>
          <p:cNvPr id="22" name="Text 20"/>
          <p:cNvSpPr/>
          <p:nvPr/>
        </p:nvSpPr>
        <p:spPr>
          <a:xfrm>
            <a:off x="11321430" y="3629419"/>
            <a:ext cx="1337295" cy="695325"/>
          </a:xfrm>
          <a:prstGeom prst="rect">
            <a:avLst/>
          </a:prstGeom>
          <a:noFill/>
          <a:ln/>
        </p:spPr>
        <p:txBody>
          <a:bodyPr wrap="square" lIns="25400" tIns="25400" rIns="25400" bIns="25400" rtlCol="0" anchor="t">
            <a:normAutofit fontScale="92500" lnSpcReduction="20000"/>
          </a:bodyPr>
          <a:lstStyle/>
          <a:p>
            <a:pPr marL="0" indent="0" algn="ctr">
              <a:lnSpc>
                <a:spcPct val="150000"/>
              </a:lnSpc>
              <a:buNone/>
            </a:pPr>
            <a:r>
              <a:rPr lang="en-US" sz="1725" dirty="0">
                <a:solidFill>
                  <a:srgbClr val="51606D"/>
                </a:solidFill>
                <a:latin typeface="Arial" pitchFamily="34" charset="0"/>
                <a:ea typeface="Arial" pitchFamily="34" charset="-122"/>
                <a:cs typeface="Arial" pitchFamily="34" charset="-120"/>
              </a:rPr>
              <a:t>게이트는</a:t>
            </a:r>
            <a:br>
              <a:rPr lang="en-US" sz="1725" dirty="0">
                <a:solidFill>
                  <a:srgbClr val="51606D"/>
                </a:solidFill>
                <a:latin typeface="Arial" pitchFamily="34" charset="0"/>
                <a:ea typeface="Arial" pitchFamily="34" charset="-122"/>
                <a:cs typeface="Arial" pitchFamily="34" charset="-120"/>
              </a:rPr>
            </a:br>
            <a:r>
              <a:rPr lang="en-US" sz="1725" dirty="0">
                <a:solidFill>
                  <a:srgbClr val="51606D"/>
                </a:solidFill>
                <a:latin typeface="Arial" pitchFamily="34" charset="0"/>
                <a:ea typeface="Arial" pitchFamily="34" charset="-122"/>
                <a:cs typeface="Arial" pitchFamily="34" charset="-120"/>
              </a:rPr>
              <a:t>결정적 코드</a:t>
            </a:r>
            <a:endParaRPr lang="en-US" sz="1725" dirty="0"/>
          </a:p>
        </p:txBody>
      </p:sp>
      <p:sp>
        <p:nvSpPr>
          <p:cNvPr id="23" name="Shape 21"/>
          <p:cNvSpPr/>
          <p:nvPr/>
        </p:nvSpPr>
        <p:spPr>
          <a:xfrm>
            <a:off x="800100" y="5322488"/>
            <a:ext cx="4469978" cy="547688"/>
          </a:xfrm>
          <a:prstGeom prst="roundRect">
            <a:avLst>
              <a:gd name="adj" fmla="val 17391"/>
            </a:avLst>
          </a:prstGeom>
          <a:solidFill>
            <a:srgbClr val="F6F8FB"/>
          </a:solidFill>
          <a:ln w="9525">
            <a:solidFill>
              <a:srgbClr val="D2D9E1"/>
            </a:solidFill>
            <a:prstDash val="solid"/>
          </a:ln>
        </p:spPr>
        <p:txBody>
          <a:bodyPr/>
          <a:lstStyle/>
          <a:p>
            <a:endParaRPr lang="ko-KR" altLang="en-US"/>
          </a:p>
        </p:txBody>
      </p:sp>
      <p:sp>
        <p:nvSpPr>
          <p:cNvPr id="24" name="Shape 22"/>
          <p:cNvSpPr/>
          <p:nvPr/>
        </p:nvSpPr>
        <p:spPr>
          <a:xfrm>
            <a:off x="1000125" y="5539182"/>
            <a:ext cx="114300" cy="114300"/>
          </a:xfrm>
          <a:prstGeom prst="ellipse">
            <a:avLst/>
          </a:prstGeom>
          <a:solidFill>
            <a:srgbClr val="E07F00"/>
          </a:solidFill>
          <a:ln/>
        </p:spPr>
        <p:txBody>
          <a:bodyPr/>
          <a:lstStyle/>
          <a:p>
            <a:endParaRPr lang="ko-KR" altLang="en-US"/>
          </a:p>
        </p:txBody>
      </p:sp>
      <p:sp>
        <p:nvSpPr>
          <p:cNvPr id="25" name="Text 23"/>
          <p:cNvSpPr/>
          <p:nvPr/>
        </p:nvSpPr>
        <p:spPr>
          <a:xfrm>
            <a:off x="1228725" y="5417738"/>
            <a:ext cx="4225461" cy="39528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75" dirty="0">
                <a:solidFill>
                  <a:srgbClr val="51606D"/>
                </a:solidFill>
                <a:latin typeface="Arial" pitchFamily="34" charset="0"/>
                <a:ea typeface="Arial" pitchFamily="34" charset="-122"/>
                <a:cs typeface="Arial" pitchFamily="34" charset="-120"/>
              </a:rPr>
              <a:t>fixer / judge 분리 — 역할별 모델 라우팅</a:t>
            </a:r>
            <a:endParaRPr lang="en-US" sz="1875" dirty="0"/>
          </a:p>
        </p:txBody>
      </p:sp>
      <p:sp>
        <p:nvSpPr>
          <p:cNvPr id="26" name="Shape 24"/>
          <p:cNvSpPr/>
          <p:nvPr/>
        </p:nvSpPr>
        <p:spPr>
          <a:xfrm>
            <a:off x="5403428" y="5322488"/>
            <a:ext cx="3418731" cy="547688"/>
          </a:xfrm>
          <a:prstGeom prst="roundRect">
            <a:avLst>
              <a:gd name="adj" fmla="val 17391"/>
            </a:avLst>
          </a:prstGeom>
          <a:solidFill>
            <a:srgbClr val="F6F8FB"/>
          </a:solidFill>
          <a:ln w="9525">
            <a:solidFill>
              <a:srgbClr val="D2D9E1"/>
            </a:solidFill>
            <a:prstDash val="solid"/>
          </a:ln>
        </p:spPr>
        <p:txBody>
          <a:bodyPr/>
          <a:lstStyle/>
          <a:p>
            <a:endParaRPr lang="ko-KR" altLang="en-US"/>
          </a:p>
        </p:txBody>
      </p:sp>
      <p:sp>
        <p:nvSpPr>
          <p:cNvPr id="27" name="Text 25"/>
          <p:cNvSpPr/>
          <p:nvPr/>
        </p:nvSpPr>
        <p:spPr>
          <a:xfrm>
            <a:off x="5603453" y="5417738"/>
            <a:ext cx="3320549" cy="39528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75" dirty="0">
                <a:solidFill>
                  <a:srgbClr val="51606D"/>
                </a:solidFill>
                <a:latin typeface="Arial" pitchFamily="34" charset="0"/>
                <a:ea typeface="Arial" pitchFamily="34" charset="-122"/>
                <a:cs typeface="Arial" pitchFamily="34" charset="-120"/>
              </a:rPr>
              <a:t>수정 = 에이전트 CLI (파일 편집)</a:t>
            </a:r>
            <a:endParaRPr lang="en-US" sz="1875" dirty="0"/>
          </a:p>
        </p:txBody>
      </p:sp>
      <p:sp>
        <p:nvSpPr>
          <p:cNvPr id="28" name="Shape 26"/>
          <p:cNvSpPr/>
          <p:nvPr/>
        </p:nvSpPr>
        <p:spPr>
          <a:xfrm>
            <a:off x="800100" y="6003525"/>
            <a:ext cx="4348311" cy="547688"/>
          </a:xfrm>
          <a:prstGeom prst="roundRect">
            <a:avLst>
              <a:gd name="adj" fmla="val 17391"/>
            </a:avLst>
          </a:prstGeom>
          <a:solidFill>
            <a:srgbClr val="F6F8FB"/>
          </a:solidFill>
          <a:ln w="9525">
            <a:solidFill>
              <a:srgbClr val="D2D9E1"/>
            </a:solidFill>
            <a:prstDash val="solid"/>
          </a:ln>
        </p:spPr>
        <p:txBody>
          <a:bodyPr/>
          <a:lstStyle/>
          <a:p>
            <a:endParaRPr lang="ko-KR" altLang="en-US"/>
          </a:p>
        </p:txBody>
      </p:sp>
      <p:sp>
        <p:nvSpPr>
          <p:cNvPr id="29" name="Text 27"/>
          <p:cNvSpPr/>
          <p:nvPr/>
        </p:nvSpPr>
        <p:spPr>
          <a:xfrm>
            <a:off x="1000125" y="6098775"/>
            <a:ext cx="4343087" cy="39528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75" dirty="0">
                <a:solidFill>
                  <a:srgbClr val="51606D"/>
                </a:solidFill>
                <a:latin typeface="Arial" pitchFamily="34" charset="0"/>
                <a:ea typeface="Arial" pitchFamily="34" charset="-122"/>
                <a:cs typeface="Arial" pitchFamily="34" charset="-120"/>
              </a:rPr>
              <a:t>판정 = Bedrock Converse (편집 불필요)</a:t>
            </a:r>
            <a:endParaRPr lang="en-US" sz="1875" dirty="0"/>
          </a:p>
        </p:txBody>
      </p:sp>
      <p:sp>
        <p:nvSpPr>
          <p:cNvPr id="30" name="Shape 28"/>
          <p:cNvSpPr/>
          <p:nvPr/>
        </p:nvSpPr>
        <p:spPr>
          <a:xfrm>
            <a:off x="5281761" y="6003525"/>
            <a:ext cx="4790182" cy="547688"/>
          </a:xfrm>
          <a:prstGeom prst="roundRect">
            <a:avLst>
              <a:gd name="adj" fmla="val 17391"/>
            </a:avLst>
          </a:prstGeom>
          <a:solidFill>
            <a:srgbClr val="F6F8FB"/>
          </a:solidFill>
          <a:ln w="9525">
            <a:solidFill>
              <a:srgbClr val="D2D9E1"/>
            </a:solidFill>
            <a:prstDash val="solid"/>
          </a:ln>
        </p:spPr>
        <p:txBody>
          <a:bodyPr/>
          <a:lstStyle/>
          <a:p>
            <a:endParaRPr lang="ko-KR" altLang="en-US"/>
          </a:p>
        </p:txBody>
      </p:sp>
      <p:sp>
        <p:nvSpPr>
          <p:cNvPr id="31" name="Text 29"/>
          <p:cNvSpPr/>
          <p:nvPr/>
        </p:nvSpPr>
        <p:spPr>
          <a:xfrm>
            <a:off x="5481786" y="6098775"/>
            <a:ext cx="4829145" cy="39528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75" dirty="0">
                <a:solidFill>
                  <a:srgbClr val="51606D"/>
                </a:solidFill>
                <a:latin typeface="Arial" pitchFamily="34" charset="0"/>
                <a:ea typeface="Arial" pitchFamily="34" charset="-122"/>
                <a:cs typeface="Arial" pitchFamily="34" charset="-120"/>
              </a:rPr>
              <a:t>LLM-agnostic — claude · gemini · kiro CLI</a:t>
            </a:r>
            <a:endParaRPr lang="en-US" sz="1875" dirty="0"/>
          </a:p>
        </p:txBody>
      </p:sp>
      <p:sp>
        <p:nvSpPr>
          <p:cNvPr id="32" name="Text 30"/>
          <p:cNvSpPr/>
          <p:nvPr/>
        </p:nvSpPr>
        <p:spPr>
          <a:xfrm>
            <a:off x="800100" y="9505950"/>
            <a:ext cx="3694547" cy="32385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500" kern="0" spc="60" dirty="0">
                <a:solidFill>
                  <a:srgbClr val="76828F"/>
                </a:solidFill>
                <a:latin typeface="Arial" pitchFamily="34" charset="0"/>
                <a:ea typeface="Arial" pitchFamily="34" charset="-122"/>
                <a:cs typeface="Arial" pitchFamily="34" charset="-120"/>
              </a:rPr>
              <a:t>AWSKRUG 마곡 · LLM in the test loop</a:t>
            </a:r>
            <a:endParaRPr lang="en-US" sz="1500" dirty="0"/>
          </a:p>
        </p:txBody>
      </p:sp>
      <p:sp>
        <p:nvSpPr>
          <p:cNvPr id="33" name="Text 31"/>
          <p:cNvSpPr/>
          <p:nvPr/>
        </p:nvSpPr>
        <p:spPr>
          <a:xfrm>
            <a:off x="8493026" y="9505950"/>
            <a:ext cx="4865162" cy="32385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500" kern="0" spc="60" dirty="0">
                <a:solidFill>
                  <a:srgbClr val="76828F"/>
                </a:solidFill>
                <a:latin typeface="Arial" pitchFamily="34" charset="0"/>
                <a:ea typeface="Arial" pitchFamily="34" charset="-122"/>
                <a:cs typeface="Arial" pitchFamily="34" charset="-120"/>
              </a:rPr>
              <a:t>github.com/baekchangjoon/sonarqube-ai-agent</a:t>
            </a:r>
            <a:endParaRPr lang="en-US" sz="1500" dirty="0"/>
          </a:p>
        </p:txBody>
      </p:sp>
    </p:spTree>
    <p:extLst>
      <p:ext uri="{BB962C8B-B14F-4D97-AF65-F5344CB8AC3E}">
        <p14:creationId xmlns:p14="http://schemas.microsoft.com/office/powerpoint/2010/main" val="31316303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00100" y="762000"/>
            <a:ext cx="1165547" cy="381000"/>
          </a:xfrm>
          <a:prstGeom prst="rect">
            <a:avLst/>
          </a:prstGeom>
          <a:noFill/>
          <a:ln/>
        </p:spPr>
        <p:txBody>
          <a:bodyPr wrap="square" lIns="25400" tIns="25400" rIns="25400" bIns="25400" rtlCol="0" anchor="t">
            <a:normAutofit fontScale="85000" lnSpcReduction="10000"/>
          </a:bodyPr>
          <a:lstStyle/>
          <a:p>
            <a:pPr marL="0" indent="0" algn="l">
              <a:lnSpc>
                <a:spcPct val="150000"/>
              </a:lnSpc>
              <a:buNone/>
            </a:pPr>
            <a:r>
              <a:rPr lang="en-US" sz="1800" b="1" kern="0" spc="144" dirty="0">
                <a:solidFill>
                  <a:srgbClr val="E07F00"/>
                </a:solidFill>
                <a:latin typeface="Arial" pitchFamily="34" charset="0"/>
                <a:ea typeface="Arial" pitchFamily="34" charset="-122"/>
                <a:cs typeface="Arial" pitchFamily="34" charset="-120"/>
              </a:rPr>
              <a:t>데모 </a:t>
            </a:r>
            <a:r>
              <a:rPr lang="en-US" sz="1800" b="1" kern="0" spc="144" dirty="0">
                <a:solidFill>
                  <a:srgbClr val="76828F"/>
                </a:solidFill>
                <a:latin typeface="Arial" pitchFamily="34" charset="0"/>
                <a:ea typeface="Arial" pitchFamily="34" charset="-122"/>
                <a:cs typeface="Arial" pitchFamily="34" charset="-120"/>
              </a:rPr>
              <a:t>· 루프</a:t>
            </a:r>
            <a:endParaRPr lang="en-US" sz="1800" dirty="0"/>
          </a:p>
        </p:txBody>
      </p:sp>
      <p:sp>
        <p:nvSpPr>
          <p:cNvPr id="3" name="Text 1"/>
          <p:cNvSpPr/>
          <p:nvPr/>
        </p:nvSpPr>
        <p:spPr>
          <a:xfrm>
            <a:off x="800100" y="1314450"/>
            <a:ext cx="4232337" cy="688777"/>
          </a:xfrm>
          <a:prstGeom prst="rect">
            <a:avLst/>
          </a:prstGeom>
          <a:noFill/>
          <a:ln/>
        </p:spPr>
        <p:txBody>
          <a:bodyPr wrap="square" lIns="25400" tIns="25400" rIns="25400" bIns="25400" rtlCol="0" anchor="t">
            <a:normAutofit fontScale="92500" lnSpcReduction="10000"/>
          </a:bodyPr>
          <a:lstStyle/>
          <a:p>
            <a:pPr marL="0" indent="0" algn="l">
              <a:lnSpc>
                <a:spcPct val="122000"/>
              </a:lnSpc>
              <a:buNone/>
            </a:pPr>
            <a:r>
              <a:rPr lang="en-US" sz="4200" b="1" kern="0" spc="-63" dirty="0">
                <a:solidFill>
                  <a:srgbClr val="1A212B"/>
                </a:solidFill>
                <a:latin typeface="Arial" pitchFamily="34" charset="0"/>
                <a:ea typeface="Arial" pitchFamily="34" charset="-122"/>
                <a:cs typeface="Arial" pitchFamily="34" charset="-120"/>
              </a:rPr>
              <a:t>단발이 아니라 </a:t>
            </a:r>
            <a:r>
              <a:rPr lang="en-US" sz="4200" b="1" kern="0" spc="-63" dirty="0">
                <a:solidFill>
                  <a:srgbClr val="E07F00"/>
                </a:solidFill>
                <a:latin typeface="Arial" pitchFamily="34" charset="0"/>
                <a:ea typeface="Arial" pitchFamily="34" charset="-122"/>
                <a:cs typeface="Arial" pitchFamily="34" charset="-120"/>
              </a:rPr>
              <a:t>루프</a:t>
            </a:r>
            <a:endParaRPr lang="en-US" sz="420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00100" y="3420963"/>
            <a:ext cx="5143500" cy="5143500"/>
          </a:xfrm>
          <a:prstGeom prst="rect">
            <a:avLst/>
          </a:prstGeom>
        </p:spPr>
      </p:pic>
      <p:sp>
        <p:nvSpPr>
          <p:cNvPr id="5" name="Text 2"/>
          <p:cNvSpPr/>
          <p:nvPr/>
        </p:nvSpPr>
        <p:spPr>
          <a:xfrm>
            <a:off x="2691036" y="5649813"/>
            <a:ext cx="1361629" cy="723900"/>
          </a:xfrm>
          <a:prstGeom prst="rect">
            <a:avLst/>
          </a:prstGeom>
          <a:noFill/>
          <a:ln/>
        </p:spPr>
        <p:txBody>
          <a:bodyPr wrap="square" lIns="25400" tIns="25400" rIns="25400" bIns="25400" rtlCol="0" anchor="t">
            <a:normAutofit fontScale="92500" lnSpcReduction="20000"/>
          </a:bodyPr>
          <a:lstStyle/>
          <a:p>
            <a:pPr marL="0" indent="0" algn="ctr">
              <a:lnSpc>
                <a:spcPct val="150000"/>
              </a:lnSpc>
              <a:buNone/>
            </a:pPr>
            <a:r>
              <a:rPr lang="en-US" sz="1800" dirty="0">
                <a:solidFill>
                  <a:srgbClr val="76828F"/>
                </a:solidFill>
                <a:latin typeface="Arial" pitchFamily="34" charset="0"/>
                <a:ea typeface="Arial" pitchFamily="34" charset="-122"/>
                <a:cs typeface="Arial" pitchFamily="34" charset="-120"/>
              </a:rPr>
              <a:t>LLM in the test loop</a:t>
            </a:r>
            <a:endParaRPr lang="en-US" sz="1800" dirty="0"/>
          </a:p>
        </p:txBody>
      </p:sp>
      <p:sp>
        <p:nvSpPr>
          <p:cNvPr id="6" name="Shape 3"/>
          <p:cNvSpPr/>
          <p:nvPr/>
        </p:nvSpPr>
        <p:spPr>
          <a:xfrm>
            <a:off x="2870746" y="3385245"/>
            <a:ext cx="1002209" cy="642938"/>
          </a:xfrm>
          <a:prstGeom prst="roundRect">
            <a:avLst>
              <a:gd name="adj" fmla="val 17778"/>
            </a:avLst>
          </a:prstGeom>
          <a:solidFill>
            <a:srgbClr val="F6F8FB"/>
          </a:solidFill>
          <a:ln w="9525">
            <a:solidFill>
              <a:srgbClr val="D2D9E1"/>
            </a:solidFill>
            <a:prstDash val="solid"/>
          </a:ln>
        </p:spPr>
        <p:txBody>
          <a:bodyPr/>
          <a:lstStyle/>
          <a:p>
            <a:endParaRPr lang="ko-KR" altLang="en-US"/>
          </a:p>
        </p:txBody>
      </p:sp>
      <p:sp>
        <p:nvSpPr>
          <p:cNvPr id="7" name="Text 4"/>
          <p:cNvSpPr/>
          <p:nvPr/>
        </p:nvSpPr>
        <p:spPr>
          <a:xfrm>
            <a:off x="3166021" y="3528120"/>
            <a:ext cx="487859" cy="395288"/>
          </a:xfrm>
          <a:prstGeom prst="rect">
            <a:avLst/>
          </a:prstGeom>
          <a:noFill/>
          <a:ln/>
        </p:spPr>
        <p:txBody>
          <a:bodyPr wrap="none" lIns="25400" tIns="25400" rIns="25400" bIns="25400" rtlCol="0" anchor="t">
            <a:normAutofit fontScale="92500" lnSpcReduction="10000"/>
          </a:bodyPr>
          <a:lstStyle/>
          <a:p>
            <a:pPr marL="0" indent="0" algn="l">
              <a:lnSpc>
                <a:spcPct val="150000"/>
              </a:lnSpc>
              <a:buNone/>
            </a:pPr>
            <a:r>
              <a:rPr lang="en-US" sz="1875" b="1" dirty="0">
                <a:solidFill>
                  <a:srgbClr val="1A212B"/>
                </a:solidFill>
                <a:latin typeface="Arial" pitchFamily="34" charset="0"/>
                <a:ea typeface="Arial" pitchFamily="34" charset="-122"/>
                <a:cs typeface="Arial" pitchFamily="34" charset="-120"/>
              </a:rPr>
              <a:t>스캔</a:t>
            </a:r>
            <a:endParaRPr lang="en-US" sz="1875" dirty="0"/>
          </a:p>
        </p:txBody>
      </p:sp>
      <p:sp>
        <p:nvSpPr>
          <p:cNvPr id="8" name="Shape 5"/>
          <p:cNvSpPr/>
          <p:nvPr/>
        </p:nvSpPr>
        <p:spPr>
          <a:xfrm>
            <a:off x="4541639" y="5671245"/>
            <a:ext cx="1687711" cy="642938"/>
          </a:xfrm>
          <a:prstGeom prst="roundRect">
            <a:avLst>
              <a:gd name="adj" fmla="val 17778"/>
            </a:avLst>
          </a:prstGeom>
          <a:solidFill>
            <a:srgbClr val="FF9900">
              <a:alpha val="10000"/>
            </a:srgbClr>
          </a:solidFill>
          <a:ln w="9525">
            <a:solidFill>
              <a:srgbClr val="E07F00"/>
            </a:solidFill>
            <a:prstDash val="solid"/>
          </a:ln>
        </p:spPr>
        <p:txBody>
          <a:bodyPr/>
          <a:lstStyle/>
          <a:p>
            <a:endParaRPr lang="ko-KR" altLang="en-US"/>
          </a:p>
        </p:txBody>
      </p:sp>
      <p:sp>
        <p:nvSpPr>
          <p:cNvPr id="9" name="Text 6"/>
          <p:cNvSpPr/>
          <p:nvPr/>
        </p:nvSpPr>
        <p:spPr>
          <a:xfrm>
            <a:off x="4836914" y="5814120"/>
            <a:ext cx="1173361" cy="395288"/>
          </a:xfrm>
          <a:prstGeom prst="rect">
            <a:avLst/>
          </a:prstGeom>
          <a:noFill/>
          <a:ln/>
        </p:spPr>
        <p:txBody>
          <a:bodyPr wrap="none" lIns="25400" tIns="25400" rIns="25400" bIns="25400" rtlCol="0" anchor="t">
            <a:normAutofit fontScale="92500" lnSpcReduction="10000"/>
          </a:bodyPr>
          <a:lstStyle/>
          <a:p>
            <a:pPr marL="0" indent="0" algn="l">
              <a:lnSpc>
                <a:spcPct val="150000"/>
              </a:lnSpc>
              <a:buNone/>
            </a:pPr>
            <a:r>
              <a:rPr lang="en-US" sz="1875" b="1" dirty="0">
                <a:solidFill>
                  <a:srgbClr val="E07F00"/>
                </a:solidFill>
                <a:latin typeface="Arial" pitchFamily="34" charset="0"/>
                <a:ea typeface="Arial" pitchFamily="34" charset="-122"/>
                <a:cs typeface="Arial" pitchFamily="34" charset="-120"/>
              </a:rPr>
              <a:t>judge 판정</a:t>
            </a:r>
            <a:endParaRPr lang="en-US" sz="1875" dirty="0"/>
          </a:p>
        </p:txBody>
      </p:sp>
      <p:sp>
        <p:nvSpPr>
          <p:cNvPr id="10" name="Shape 7"/>
          <p:cNvSpPr/>
          <p:nvPr/>
        </p:nvSpPr>
        <p:spPr>
          <a:xfrm>
            <a:off x="2590912" y="7959626"/>
            <a:ext cx="1561877" cy="642938"/>
          </a:xfrm>
          <a:prstGeom prst="roundRect">
            <a:avLst>
              <a:gd name="adj" fmla="val 17778"/>
            </a:avLst>
          </a:prstGeom>
          <a:solidFill>
            <a:srgbClr val="F6F8FB"/>
          </a:solidFill>
          <a:ln w="9525">
            <a:solidFill>
              <a:srgbClr val="D2D9E1"/>
            </a:solidFill>
            <a:prstDash val="solid"/>
          </a:ln>
        </p:spPr>
        <p:txBody>
          <a:bodyPr/>
          <a:lstStyle/>
          <a:p>
            <a:endParaRPr lang="ko-KR" altLang="en-US"/>
          </a:p>
        </p:txBody>
      </p:sp>
      <p:sp>
        <p:nvSpPr>
          <p:cNvPr id="11" name="Text 8"/>
          <p:cNvSpPr/>
          <p:nvPr/>
        </p:nvSpPr>
        <p:spPr>
          <a:xfrm>
            <a:off x="2886187" y="8102501"/>
            <a:ext cx="1047527" cy="395288"/>
          </a:xfrm>
          <a:prstGeom prst="rect">
            <a:avLst/>
          </a:prstGeom>
          <a:noFill/>
          <a:ln/>
        </p:spPr>
        <p:txBody>
          <a:bodyPr wrap="none" lIns="25400" tIns="25400" rIns="25400" bIns="25400" rtlCol="0" anchor="t">
            <a:normAutofit fontScale="92500" lnSpcReduction="10000"/>
          </a:bodyPr>
          <a:lstStyle/>
          <a:p>
            <a:pPr marL="0" indent="0" algn="l">
              <a:lnSpc>
                <a:spcPct val="150000"/>
              </a:lnSpc>
              <a:buNone/>
            </a:pPr>
            <a:r>
              <a:rPr lang="en-US" sz="1875" b="1" dirty="0">
                <a:solidFill>
                  <a:srgbClr val="1A212B"/>
                </a:solidFill>
                <a:latin typeface="Arial" pitchFamily="34" charset="0"/>
                <a:ea typeface="Arial" pitchFamily="34" charset="-122"/>
                <a:cs typeface="Arial" pitchFamily="34" charset="-120"/>
              </a:rPr>
              <a:t>fixer 수정</a:t>
            </a:r>
            <a:endParaRPr lang="en-US" sz="1875" dirty="0"/>
          </a:p>
        </p:txBody>
      </p:sp>
      <p:sp>
        <p:nvSpPr>
          <p:cNvPr id="12" name="Shape 9"/>
          <p:cNvSpPr/>
          <p:nvPr/>
        </p:nvSpPr>
        <p:spPr>
          <a:xfrm>
            <a:off x="514350" y="5671245"/>
            <a:ext cx="1674614" cy="642938"/>
          </a:xfrm>
          <a:prstGeom prst="roundRect">
            <a:avLst>
              <a:gd name="adj" fmla="val 17778"/>
            </a:avLst>
          </a:prstGeom>
          <a:solidFill>
            <a:srgbClr val="F6F8FB"/>
          </a:solidFill>
          <a:ln w="9525">
            <a:solidFill>
              <a:srgbClr val="D2D9E1"/>
            </a:solidFill>
            <a:prstDash val="solid"/>
          </a:ln>
        </p:spPr>
        <p:txBody>
          <a:bodyPr/>
          <a:lstStyle/>
          <a:p>
            <a:endParaRPr lang="ko-KR" altLang="en-US"/>
          </a:p>
        </p:txBody>
      </p:sp>
      <p:sp>
        <p:nvSpPr>
          <p:cNvPr id="13" name="Text 10"/>
          <p:cNvSpPr/>
          <p:nvPr/>
        </p:nvSpPr>
        <p:spPr>
          <a:xfrm>
            <a:off x="809625" y="5814120"/>
            <a:ext cx="1160264" cy="395288"/>
          </a:xfrm>
          <a:prstGeom prst="rect">
            <a:avLst/>
          </a:prstGeom>
          <a:noFill/>
          <a:ln/>
        </p:spPr>
        <p:txBody>
          <a:bodyPr wrap="none" lIns="25400" tIns="25400" rIns="25400" bIns="25400" rtlCol="0" anchor="t">
            <a:normAutofit fontScale="92500" lnSpcReduction="10000"/>
          </a:bodyPr>
          <a:lstStyle/>
          <a:p>
            <a:pPr marL="0" indent="0" algn="l">
              <a:lnSpc>
                <a:spcPct val="150000"/>
              </a:lnSpc>
              <a:buNone/>
            </a:pPr>
            <a:r>
              <a:rPr lang="en-US" sz="1875" b="1" dirty="0">
                <a:solidFill>
                  <a:srgbClr val="1A212B"/>
                </a:solidFill>
                <a:latin typeface="Arial" pitchFamily="34" charset="0"/>
                <a:ea typeface="Arial" pitchFamily="34" charset="-122"/>
                <a:cs typeface="Arial" pitchFamily="34" charset="-120"/>
              </a:rPr>
              <a:t>재스캔 검증</a:t>
            </a:r>
            <a:endParaRPr lang="en-US" sz="1875" dirty="0"/>
          </a:p>
        </p:txBody>
      </p:sp>
      <p:sp>
        <p:nvSpPr>
          <p:cNvPr id="14" name="Shape 11"/>
          <p:cNvSpPr/>
          <p:nvPr/>
        </p:nvSpPr>
        <p:spPr>
          <a:xfrm>
            <a:off x="6477000" y="2430699"/>
            <a:ext cx="6438900" cy="1624013"/>
          </a:xfrm>
          <a:prstGeom prst="roundRect">
            <a:avLst>
              <a:gd name="adj" fmla="val 9384"/>
            </a:avLst>
          </a:prstGeom>
          <a:solidFill>
            <a:srgbClr val="F6F8FB"/>
          </a:solidFill>
          <a:ln w="9525">
            <a:solidFill>
              <a:srgbClr val="D2D9E1"/>
            </a:solidFill>
            <a:prstDash val="solid"/>
          </a:ln>
        </p:spPr>
        <p:txBody>
          <a:bodyPr/>
          <a:lstStyle/>
          <a:p>
            <a:endParaRPr lang="ko-KR" altLang="en-US"/>
          </a:p>
        </p:txBody>
      </p:sp>
      <p:sp>
        <p:nvSpPr>
          <p:cNvPr id="15" name="Text 12"/>
          <p:cNvSpPr/>
          <p:nvPr/>
        </p:nvSpPr>
        <p:spPr>
          <a:xfrm>
            <a:off x="6829425" y="2668824"/>
            <a:ext cx="6307455" cy="39528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75" b="1" dirty="0">
                <a:solidFill>
                  <a:srgbClr val="E07F00"/>
                </a:solidFill>
                <a:latin typeface="Arial" pitchFamily="34" charset="0"/>
                <a:ea typeface="Arial" pitchFamily="34" charset="-122"/>
                <a:cs typeface="Arial" pitchFamily="34" charset="-120"/>
              </a:rPr>
              <a:t>LLM은 게이트가 아니라 분류기</a:t>
            </a:r>
            <a:endParaRPr lang="en-US" sz="1875" dirty="0"/>
          </a:p>
        </p:txBody>
      </p:sp>
      <p:sp>
        <p:nvSpPr>
          <p:cNvPr id="16" name="Text 13"/>
          <p:cNvSpPr/>
          <p:nvPr/>
        </p:nvSpPr>
        <p:spPr>
          <a:xfrm>
            <a:off x="6829425" y="3102212"/>
            <a:ext cx="5103495" cy="752475"/>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75" dirty="0">
                <a:solidFill>
                  <a:srgbClr val="51606D"/>
                </a:solidFill>
                <a:latin typeface="Arial" pitchFamily="34" charset="0"/>
                <a:ea typeface="Arial" pitchFamily="34" charset="-122"/>
                <a:cs typeface="Arial" pitchFamily="34" charset="-120"/>
              </a:rPr>
              <a:t>judge가 오탐을 걸러내고, fixer는 진짜 결함만 수정. 최종 판정은 결정적 코드가 합니다.</a:t>
            </a:r>
            <a:endParaRPr lang="en-US" sz="1875" dirty="0"/>
          </a:p>
        </p:txBody>
      </p:sp>
      <p:sp>
        <p:nvSpPr>
          <p:cNvPr id="17" name="Shape 14"/>
          <p:cNvSpPr/>
          <p:nvPr/>
        </p:nvSpPr>
        <p:spPr>
          <a:xfrm>
            <a:off x="6477000" y="4264262"/>
            <a:ext cx="6438900" cy="1624013"/>
          </a:xfrm>
          <a:prstGeom prst="roundRect">
            <a:avLst>
              <a:gd name="adj" fmla="val 9384"/>
            </a:avLst>
          </a:prstGeom>
          <a:solidFill>
            <a:srgbClr val="F6F8FB"/>
          </a:solidFill>
          <a:ln w="9525">
            <a:solidFill>
              <a:srgbClr val="D2D9E1"/>
            </a:solidFill>
            <a:prstDash val="solid"/>
          </a:ln>
        </p:spPr>
        <p:txBody>
          <a:bodyPr/>
          <a:lstStyle/>
          <a:p>
            <a:endParaRPr lang="ko-KR" altLang="en-US"/>
          </a:p>
        </p:txBody>
      </p:sp>
      <p:sp>
        <p:nvSpPr>
          <p:cNvPr id="18" name="Text 15"/>
          <p:cNvSpPr/>
          <p:nvPr/>
        </p:nvSpPr>
        <p:spPr>
          <a:xfrm>
            <a:off x="6829425" y="4502387"/>
            <a:ext cx="6307455" cy="39528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75" b="1" dirty="0">
                <a:solidFill>
                  <a:srgbClr val="1A212B"/>
                </a:solidFill>
                <a:latin typeface="Arial" pitchFamily="34" charset="0"/>
                <a:ea typeface="Arial" pitchFamily="34" charset="-122"/>
                <a:cs typeface="Arial" pitchFamily="34" charset="-120"/>
              </a:rPr>
              <a:t>애매하면 보수적 폴백</a:t>
            </a:r>
            <a:endParaRPr lang="en-US" sz="1875" dirty="0"/>
          </a:p>
        </p:txBody>
      </p:sp>
      <p:sp>
        <p:nvSpPr>
          <p:cNvPr id="19" name="Text 16"/>
          <p:cNvSpPr/>
          <p:nvPr/>
        </p:nvSpPr>
        <p:spPr>
          <a:xfrm>
            <a:off x="6829425" y="4935774"/>
            <a:ext cx="5758815" cy="752475"/>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75" dirty="0">
                <a:solidFill>
                  <a:srgbClr val="51606D"/>
                </a:solidFill>
                <a:latin typeface="Arial" pitchFamily="34" charset="0"/>
                <a:ea typeface="Arial" pitchFamily="34" charset="-122"/>
                <a:cs typeface="Arial" pitchFamily="34" charset="-120"/>
              </a:rPr>
              <a:t>판정 불능 응답 → "실결함" 처리. 놓치는 것보다 헛경보가 안전합니다.</a:t>
            </a:r>
            <a:endParaRPr lang="en-US" sz="1875" dirty="0"/>
          </a:p>
        </p:txBody>
      </p:sp>
      <p:sp>
        <p:nvSpPr>
          <p:cNvPr id="20" name="Shape 17"/>
          <p:cNvSpPr/>
          <p:nvPr/>
        </p:nvSpPr>
        <p:spPr>
          <a:xfrm>
            <a:off x="6477000" y="6097824"/>
            <a:ext cx="6438900" cy="1624013"/>
          </a:xfrm>
          <a:prstGeom prst="roundRect">
            <a:avLst>
              <a:gd name="adj" fmla="val 9384"/>
            </a:avLst>
          </a:prstGeom>
          <a:solidFill>
            <a:srgbClr val="F6F8FB"/>
          </a:solidFill>
          <a:ln w="9525">
            <a:solidFill>
              <a:srgbClr val="D2D9E1"/>
            </a:solidFill>
            <a:prstDash val="solid"/>
          </a:ln>
        </p:spPr>
        <p:txBody>
          <a:bodyPr/>
          <a:lstStyle/>
          <a:p>
            <a:endParaRPr lang="ko-KR" altLang="en-US"/>
          </a:p>
        </p:txBody>
      </p:sp>
      <p:sp>
        <p:nvSpPr>
          <p:cNvPr id="21" name="Text 18"/>
          <p:cNvSpPr/>
          <p:nvPr/>
        </p:nvSpPr>
        <p:spPr>
          <a:xfrm>
            <a:off x="6829425" y="6335949"/>
            <a:ext cx="6307455" cy="39528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75" b="1" dirty="0">
                <a:solidFill>
                  <a:srgbClr val="1A212B"/>
                </a:solidFill>
                <a:latin typeface="Arial" pitchFamily="34" charset="0"/>
                <a:ea typeface="Arial" pitchFamily="34" charset="-122"/>
                <a:cs typeface="Arial" pitchFamily="34" charset="-120"/>
              </a:rPr>
              <a:t>검증은 재스캔으로</a:t>
            </a:r>
            <a:endParaRPr lang="en-US" sz="1875" dirty="0"/>
          </a:p>
        </p:txBody>
      </p:sp>
      <p:sp>
        <p:nvSpPr>
          <p:cNvPr id="22" name="Text 19"/>
          <p:cNvSpPr/>
          <p:nvPr/>
        </p:nvSpPr>
        <p:spPr>
          <a:xfrm>
            <a:off x="6829425" y="6769337"/>
            <a:ext cx="5377815" cy="752475"/>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75" dirty="0">
                <a:solidFill>
                  <a:srgbClr val="51606D"/>
                </a:solidFill>
                <a:latin typeface="Arial" pitchFamily="34" charset="0"/>
                <a:ea typeface="Arial" pitchFamily="34" charset="-122"/>
                <a:cs typeface="Arial" pitchFamily="34" charset="-120"/>
              </a:rPr>
              <a:t>이슈가 서버에서 실제로 닫혔을 때만 수정으로 집계. LLM의 자기 보고는 신뢰하지 않습니다.</a:t>
            </a:r>
            <a:endParaRPr lang="en-US" sz="1875" dirty="0"/>
          </a:p>
        </p:txBody>
      </p:sp>
      <p:sp>
        <p:nvSpPr>
          <p:cNvPr id="23" name="Shape 20"/>
          <p:cNvSpPr/>
          <p:nvPr/>
        </p:nvSpPr>
        <p:spPr>
          <a:xfrm>
            <a:off x="6477000" y="7931387"/>
            <a:ext cx="6438900" cy="1624013"/>
          </a:xfrm>
          <a:prstGeom prst="roundRect">
            <a:avLst>
              <a:gd name="adj" fmla="val 9384"/>
            </a:avLst>
          </a:prstGeom>
          <a:solidFill>
            <a:srgbClr val="F6F8FB"/>
          </a:solidFill>
          <a:ln w="9525">
            <a:solidFill>
              <a:srgbClr val="E07F00">
                <a:alpha val="50000"/>
              </a:srgbClr>
            </a:solidFill>
            <a:prstDash val="dash"/>
          </a:ln>
        </p:spPr>
        <p:txBody>
          <a:bodyPr/>
          <a:lstStyle/>
          <a:p>
            <a:endParaRPr lang="ko-KR" altLang="en-US"/>
          </a:p>
        </p:txBody>
      </p:sp>
      <p:sp>
        <p:nvSpPr>
          <p:cNvPr id="24" name="Text 21"/>
          <p:cNvSpPr/>
          <p:nvPr/>
        </p:nvSpPr>
        <p:spPr>
          <a:xfrm>
            <a:off x="6829425" y="8169512"/>
            <a:ext cx="2459757" cy="39528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75" b="1" dirty="0">
                <a:solidFill>
                  <a:srgbClr val="1A212B"/>
                </a:solidFill>
                <a:latin typeface="Arial" pitchFamily="34" charset="0"/>
                <a:ea typeface="Arial" pitchFamily="34" charset="-122"/>
                <a:cs typeface="Arial" pitchFamily="34" charset="-120"/>
              </a:rPr>
              <a:t>judge 자체도 검증 대상</a:t>
            </a:r>
            <a:endParaRPr lang="en-US" sz="1875" dirty="0"/>
          </a:p>
        </p:txBody>
      </p:sp>
      <p:sp>
        <p:nvSpPr>
          <p:cNvPr id="25" name="Shape 22"/>
          <p:cNvSpPr/>
          <p:nvPr/>
        </p:nvSpPr>
        <p:spPr>
          <a:xfrm>
            <a:off x="9198918" y="8176656"/>
            <a:ext cx="785589" cy="342900"/>
          </a:xfrm>
          <a:prstGeom prst="roundRect">
            <a:avLst>
              <a:gd name="adj" fmla="val 19444"/>
            </a:avLst>
          </a:prstGeom>
          <a:ln w="9525">
            <a:solidFill>
              <a:srgbClr val="E07F00">
                <a:alpha val="50000"/>
              </a:srgbClr>
            </a:solidFill>
            <a:prstDash val="solid"/>
          </a:ln>
        </p:spPr>
        <p:txBody>
          <a:bodyPr/>
          <a:lstStyle/>
          <a:p>
            <a:endParaRPr lang="ko-KR" altLang="en-US"/>
          </a:p>
        </p:txBody>
      </p:sp>
      <p:sp>
        <p:nvSpPr>
          <p:cNvPr id="26" name="Text 23"/>
          <p:cNvSpPr/>
          <p:nvPr/>
        </p:nvSpPr>
        <p:spPr>
          <a:xfrm>
            <a:off x="9322743" y="8205231"/>
            <a:ext cx="614139" cy="323850"/>
          </a:xfrm>
          <a:prstGeom prst="rect">
            <a:avLst/>
          </a:prstGeom>
          <a:noFill/>
          <a:ln/>
        </p:spPr>
        <p:txBody>
          <a:bodyPr wrap="none" lIns="25400" tIns="25400" rIns="25400" bIns="25400" rtlCol="0" anchor="t">
            <a:normAutofit fontScale="92500" lnSpcReduction="10000"/>
          </a:bodyPr>
          <a:lstStyle/>
          <a:p>
            <a:pPr marL="0" indent="0" algn="l">
              <a:lnSpc>
                <a:spcPct val="150000"/>
              </a:lnSpc>
              <a:buNone/>
            </a:pPr>
            <a:r>
              <a:rPr lang="en-US" sz="1500" b="1" dirty="0">
                <a:solidFill>
                  <a:srgbClr val="E07F00"/>
                </a:solidFill>
                <a:latin typeface="Arial" pitchFamily="34" charset="0"/>
                <a:ea typeface="Arial" pitchFamily="34" charset="-122"/>
                <a:cs typeface="Arial" pitchFamily="34" charset="-120"/>
              </a:rPr>
              <a:t>진행 중</a:t>
            </a:r>
            <a:endParaRPr lang="en-US" sz="1500" dirty="0"/>
          </a:p>
        </p:txBody>
      </p:sp>
      <p:sp>
        <p:nvSpPr>
          <p:cNvPr id="27" name="Text 24"/>
          <p:cNvSpPr/>
          <p:nvPr/>
        </p:nvSpPr>
        <p:spPr>
          <a:xfrm>
            <a:off x="6829425" y="8602899"/>
            <a:ext cx="5271136" cy="752475"/>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75" dirty="0">
                <a:solidFill>
                  <a:srgbClr val="51606D"/>
                </a:solidFill>
                <a:latin typeface="Arial" pitchFamily="34" charset="0"/>
                <a:ea typeface="Arial" pitchFamily="34" charset="-122"/>
                <a:cs typeface="Arial" pitchFamily="34" charset="-120"/>
              </a:rPr>
              <a:t>재스캔은 fixer만 검증합니다. judge 판정은 사람 라벨 기준셋과의 일치율로 캘리브레이션.</a:t>
            </a:r>
            <a:endParaRPr lang="en-US" sz="187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00100" y="762000"/>
            <a:ext cx="1990561" cy="381000"/>
          </a:xfrm>
          <a:prstGeom prst="rect">
            <a:avLst/>
          </a:prstGeom>
          <a:noFill/>
          <a:ln/>
        </p:spPr>
        <p:txBody>
          <a:bodyPr wrap="square" lIns="25400" tIns="25400" rIns="25400" bIns="25400" rtlCol="0" anchor="t">
            <a:normAutofit fontScale="85000" lnSpcReduction="10000"/>
          </a:bodyPr>
          <a:lstStyle/>
          <a:p>
            <a:pPr marL="0" indent="0" algn="l">
              <a:lnSpc>
                <a:spcPct val="150000"/>
              </a:lnSpc>
              <a:buNone/>
            </a:pPr>
            <a:r>
              <a:rPr lang="en-US" sz="1800" b="1" kern="0" spc="144" dirty="0">
                <a:solidFill>
                  <a:srgbClr val="E07F00"/>
                </a:solidFill>
                <a:latin typeface="Arial" pitchFamily="34" charset="0"/>
                <a:ea typeface="Arial" pitchFamily="34" charset="-122"/>
                <a:cs typeface="Arial" pitchFamily="34" charset="-120"/>
              </a:rPr>
              <a:t>효과 </a:t>
            </a:r>
            <a:r>
              <a:rPr lang="en-US" sz="1800" b="1" kern="0" spc="144" dirty="0">
                <a:solidFill>
                  <a:srgbClr val="76828F"/>
                </a:solidFill>
                <a:latin typeface="Arial" pitchFamily="34" charset="0"/>
                <a:ea typeface="Arial" pitchFamily="34" charset="-122"/>
                <a:cs typeface="Arial" pitchFamily="34" charset="-120"/>
              </a:rPr>
              <a:t>· 테스트 루프</a:t>
            </a:r>
            <a:endParaRPr lang="en-US" sz="1800" dirty="0"/>
          </a:p>
        </p:txBody>
      </p:sp>
      <p:sp>
        <p:nvSpPr>
          <p:cNvPr id="3" name="Text 1"/>
          <p:cNvSpPr/>
          <p:nvPr/>
        </p:nvSpPr>
        <p:spPr>
          <a:xfrm>
            <a:off x="800100" y="1314450"/>
            <a:ext cx="10488632" cy="688777"/>
          </a:xfrm>
          <a:prstGeom prst="rect">
            <a:avLst/>
          </a:prstGeom>
          <a:noFill/>
          <a:ln/>
        </p:spPr>
        <p:txBody>
          <a:bodyPr wrap="square" lIns="25400" tIns="25400" rIns="25400" bIns="25400" rtlCol="0" anchor="t">
            <a:normAutofit fontScale="92500" lnSpcReduction="10000"/>
          </a:bodyPr>
          <a:lstStyle/>
          <a:p>
            <a:pPr marL="0" indent="0" algn="l">
              <a:lnSpc>
                <a:spcPct val="122000"/>
              </a:lnSpc>
              <a:buNone/>
            </a:pPr>
            <a:r>
              <a:rPr lang="en-US" sz="4200" b="1" kern="0" spc="-63" dirty="0">
                <a:solidFill>
                  <a:srgbClr val="1A212B"/>
                </a:solidFill>
                <a:latin typeface="Arial" pitchFamily="34" charset="0"/>
                <a:ea typeface="Arial" pitchFamily="34" charset="-122"/>
                <a:cs typeface="Arial" pitchFamily="34" charset="-120"/>
              </a:rPr>
              <a:t>PR마다 도는 테스트 루프 — </a:t>
            </a:r>
            <a:r>
              <a:rPr lang="en-US" sz="4200" b="1" kern="0" spc="-63" dirty="0">
                <a:solidFill>
                  <a:srgbClr val="E07F00"/>
                </a:solidFill>
                <a:latin typeface="Arial" pitchFamily="34" charset="0"/>
                <a:ea typeface="Arial" pitchFamily="34" charset="-122"/>
                <a:cs typeface="Arial" pitchFamily="34" charset="-120"/>
              </a:rPr>
              <a:t>LLM in the loop</a:t>
            </a:r>
            <a:endParaRPr lang="en-US" sz="4200" dirty="0"/>
          </a:p>
        </p:txBody>
      </p:sp>
      <p:sp>
        <p:nvSpPr>
          <p:cNvPr id="4" name="Text 2"/>
          <p:cNvSpPr/>
          <p:nvPr/>
        </p:nvSpPr>
        <p:spPr>
          <a:xfrm>
            <a:off x="800100" y="2250877"/>
            <a:ext cx="10307159" cy="531465"/>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775" dirty="0">
                <a:solidFill>
                  <a:srgbClr val="51606D"/>
                </a:solidFill>
                <a:latin typeface="Arial" pitchFamily="34" charset="0"/>
                <a:ea typeface="Arial" pitchFamily="34" charset="-122"/>
                <a:cs typeface="Arial" pitchFamily="34" charset="-120"/>
              </a:rPr>
              <a:t>수천 개 중 뭘 돌릴지, 사람이 감으로 정하던 걸 — 매 PR마다 LLM이.</a:t>
            </a:r>
            <a:endParaRPr lang="en-US" sz="2775" dirty="0"/>
          </a:p>
        </p:txBody>
      </p:sp>
      <p:sp>
        <p:nvSpPr>
          <p:cNvPr id="5" name="Shape 3"/>
          <p:cNvSpPr/>
          <p:nvPr/>
        </p:nvSpPr>
        <p:spPr>
          <a:xfrm>
            <a:off x="800100" y="3239878"/>
            <a:ext cx="1725811" cy="2513558"/>
          </a:xfrm>
          <a:prstGeom prst="roundRect">
            <a:avLst>
              <a:gd name="adj" fmla="val 8831"/>
            </a:avLst>
          </a:prstGeom>
          <a:solidFill>
            <a:srgbClr val="F6F8FB"/>
          </a:solidFill>
          <a:ln w="9525">
            <a:solidFill>
              <a:srgbClr val="D2D9E1"/>
            </a:solidFill>
            <a:prstDash val="solid"/>
          </a:ln>
        </p:spPr>
        <p:txBody>
          <a:bodyPr/>
          <a:lstStyle/>
          <a:p>
            <a:endParaRPr lang="ko-KR" altLang="en-US"/>
          </a:p>
        </p:txBody>
      </p:sp>
      <p:sp>
        <p:nvSpPr>
          <p:cNvPr id="6" name="Text 4"/>
          <p:cNvSpPr/>
          <p:nvPr/>
        </p:nvSpPr>
        <p:spPr>
          <a:xfrm>
            <a:off x="1019175" y="4129944"/>
            <a:ext cx="1416427" cy="39528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75" b="1" dirty="0">
                <a:solidFill>
                  <a:srgbClr val="1A212B"/>
                </a:solidFill>
                <a:latin typeface="Arial" pitchFamily="34" charset="0"/>
                <a:ea typeface="Arial" pitchFamily="34" charset="-122"/>
                <a:cs typeface="Arial" pitchFamily="34" charset="-120"/>
              </a:rPr>
              <a:t>PR 올라옴</a:t>
            </a:r>
            <a:endParaRPr lang="en-US" sz="1875" dirty="0"/>
          </a:p>
        </p:txBody>
      </p:sp>
      <p:sp>
        <p:nvSpPr>
          <p:cNvPr id="7" name="Text 5"/>
          <p:cNvSpPr/>
          <p:nvPr/>
        </p:nvSpPr>
        <p:spPr>
          <a:xfrm>
            <a:off x="1019175" y="4563332"/>
            <a:ext cx="1416427" cy="338138"/>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575" dirty="0">
                <a:solidFill>
                  <a:srgbClr val="51606D"/>
                </a:solidFill>
                <a:latin typeface="Arial" pitchFamily="34" charset="0"/>
                <a:ea typeface="Arial" pitchFamily="34" charset="-122"/>
                <a:cs typeface="Arial" pitchFamily="34" charset="-120"/>
              </a:rPr>
              <a:t>변경 diff</a:t>
            </a:r>
            <a:endParaRPr lang="en-US" sz="1575" dirty="0"/>
          </a:p>
        </p:txBody>
      </p:sp>
      <p:sp>
        <p:nvSpPr>
          <p:cNvPr id="8" name="Text 6"/>
          <p:cNvSpPr/>
          <p:nvPr/>
        </p:nvSpPr>
        <p:spPr>
          <a:xfrm>
            <a:off x="2592586" y="4282344"/>
            <a:ext cx="337170" cy="466725"/>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2250" dirty="0">
                <a:solidFill>
                  <a:srgbClr val="76828F"/>
                </a:solidFill>
                <a:latin typeface="Arial" pitchFamily="34" charset="0"/>
                <a:ea typeface="Arial" pitchFamily="34" charset="-122"/>
                <a:cs typeface="Arial" pitchFamily="34" charset="-120"/>
              </a:rPr>
              <a:t>→</a:t>
            </a:r>
            <a:endParaRPr lang="en-US" sz="2250" dirty="0"/>
          </a:p>
        </p:txBody>
      </p:sp>
      <p:sp>
        <p:nvSpPr>
          <p:cNvPr id="9" name="Shape 7"/>
          <p:cNvSpPr/>
          <p:nvPr/>
        </p:nvSpPr>
        <p:spPr>
          <a:xfrm>
            <a:off x="2920231" y="3239878"/>
            <a:ext cx="2832050" cy="2513558"/>
          </a:xfrm>
          <a:prstGeom prst="roundRect">
            <a:avLst>
              <a:gd name="adj" fmla="val 6063"/>
            </a:avLst>
          </a:prstGeom>
          <a:solidFill>
            <a:srgbClr val="F6F8FB"/>
          </a:solidFill>
          <a:ln w="9525">
            <a:solidFill>
              <a:srgbClr val="D2D9E1"/>
            </a:solidFill>
            <a:prstDash val="solid"/>
          </a:ln>
        </p:spPr>
        <p:txBody>
          <a:bodyPr/>
          <a:lstStyle/>
          <a:p>
            <a:endParaRPr lang="ko-KR" altLang="en-US"/>
          </a:p>
        </p:txBody>
      </p:sp>
      <p:sp>
        <p:nvSpPr>
          <p:cNvPr id="10" name="Text 8"/>
          <p:cNvSpPr/>
          <p:nvPr/>
        </p:nvSpPr>
        <p:spPr>
          <a:xfrm>
            <a:off x="3177406" y="3497053"/>
            <a:ext cx="2393900" cy="752475"/>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75" b="1" dirty="0">
                <a:solidFill>
                  <a:srgbClr val="1A212B"/>
                </a:solidFill>
                <a:latin typeface="Arial" pitchFamily="34" charset="0"/>
                <a:ea typeface="Arial" pitchFamily="34" charset="-122"/>
                <a:cs typeface="Arial" pitchFamily="34" charset="-120"/>
              </a:rPr>
              <a:t>핫스팟 · 테스트 임팩트 분석</a:t>
            </a:r>
            <a:endParaRPr lang="en-US" sz="1875" dirty="0"/>
          </a:p>
        </p:txBody>
      </p:sp>
      <p:sp>
        <p:nvSpPr>
          <p:cNvPr id="11" name="Text 9"/>
          <p:cNvSpPr/>
          <p:nvPr/>
        </p:nvSpPr>
        <p:spPr>
          <a:xfrm>
            <a:off x="3177406" y="4287628"/>
            <a:ext cx="2432000" cy="618083"/>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575" dirty="0">
                <a:solidFill>
                  <a:srgbClr val="51606D"/>
                </a:solidFill>
                <a:latin typeface="Arial" pitchFamily="34" charset="0"/>
                <a:ea typeface="Arial" pitchFamily="34" charset="-122"/>
                <a:cs typeface="Arial" pitchFamily="34" charset="-120"/>
              </a:rPr>
              <a:t>위험한 코드 × </a:t>
            </a:r>
          </a:p>
          <a:p>
            <a:pPr marL="0" indent="0" algn="l">
              <a:lnSpc>
                <a:spcPct val="145000"/>
              </a:lnSpc>
              <a:buNone/>
            </a:pPr>
            <a:r>
              <a:rPr lang="en-US" sz="1575" dirty="0" err="1">
                <a:solidFill>
                  <a:srgbClr val="51606D"/>
                </a:solidFill>
                <a:latin typeface="Arial" pitchFamily="34" charset="0"/>
                <a:ea typeface="Arial" pitchFamily="34" charset="-122"/>
                <a:cs typeface="Arial" pitchFamily="34" charset="-120"/>
              </a:rPr>
              <a:t>그</a:t>
            </a:r>
            <a:r>
              <a:rPr lang="en-US" sz="1575" dirty="0">
                <a:solidFill>
                  <a:srgbClr val="51606D"/>
                </a:solidFill>
                <a:latin typeface="Arial" pitchFamily="34" charset="0"/>
                <a:ea typeface="Arial" pitchFamily="34" charset="-122"/>
                <a:cs typeface="Arial" pitchFamily="34" charset="-120"/>
              </a:rPr>
              <a:t> 코드를 건드리는 테스트</a:t>
            </a:r>
            <a:endParaRPr lang="en-US" sz="1575" dirty="0"/>
          </a:p>
        </p:txBody>
      </p:sp>
      <p:sp>
        <p:nvSpPr>
          <p:cNvPr id="12" name="Text 10"/>
          <p:cNvSpPr/>
          <p:nvPr/>
        </p:nvSpPr>
        <p:spPr>
          <a:xfrm>
            <a:off x="3177406" y="4981911"/>
            <a:ext cx="2641550" cy="55245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350" dirty="0">
                <a:solidFill>
                  <a:srgbClr val="76828F"/>
                </a:solidFill>
                <a:latin typeface="Arial" pitchFamily="34" charset="0"/>
                <a:ea typeface="Arial" pitchFamily="34" charset="-122"/>
                <a:cs typeface="Arial" pitchFamily="34" charset="-120"/>
              </a:rPr>
              <a:t>hotspot-analysis · </a:t>
            </a:r>
          </a:p>
          <a:p>
            <a:pPr marL="0" indent="0" algn="l">
              <a:lnSpc>
                <a:spcPct val="150000"/>
              </a:lnSpc>
              <a:buNone/>
            </a:pPr>
            <a:r>
              <a:rPr lang="en-US" sz="1350" dirty="0">
                <a:solidFill>
                  <a:srgbClr val="76828F"/>
                </a:solidFill>
                <a:latin typeface="Arial" pitchFamily="34" charset="0"/>
                <a:ea typeface="Arial" pitchFamily="34" charset="-122"/>
                <a:cs typeface="Arial" pitchFamily="34" charset="-120"/>
              </a:rPr>
              <a:t>test-impact-analysis</a:t>
            </a:r>
            <a:endParaRPr lang="en-US" sz="1350" dirty="0"/>
          </a:p>
        </p:txBody>
      </p:sp>
      <p:sp>
        <p:nvSpPr>
          <p:cNvPr id="13" name="Text 11"/>
          <p:cNvSpPr/>
          <p:nvPr/>
        </p:nvSpPr>
        <p:spPr>
          <a:xfrm>
            <a:off x="5818956" y="4282344"/>
            <a:ext cx="337170" cy="466725"/>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2250" dirty="0">
                <a:solidFill>
                  <a:srgbClr val="76828F"/>
                </a:solidFill>
                <a:latin typeface="Arial" pitchFamily="34" charset="0"/>
                <a:ea typeface="Arial" pitchFamily="34" charset="-122"/>
                <a:cs typeface="Arial" pitchFamily="34" charset="-120"/>
              </a:rPr>
              <a:t>→</a:t>
            </a:r>
            <a:endParaRPr lang="en-US" sz="2250" dirty="0"/>
          </a:p>
        </p:txBody>
      </p:sp>
      <p:sp>
        <p:nvSpPr>
          <p:cNvPr id="14" name="Shape 12"/>
          <p:cNvSpPr/>
          <p:nvPr/>
        </p:nvSpPr>
        <p:spPr>
          <a:xfrm>
            <a:off x="6146602" y="3239878"/>
            <a:ext cx="2464817" cy="2513558"/>
          </a:xfrm>
          <a:prstGeom prst="roundRect">
            <a:avLst>
              <a:gd name="adj" fmla="val 6956"/>
            </a:avLst>
          </a:prstGeom>
          <a:solidFill>
            <a:srgbClr val="FF9900">
              <a:alpha val="8000"/>
            </a:srgbClr>
          </a:solidFill>
          <a:ln w="19050">
            <a:solidFill>
              <a:srgbClr val="E07F00"/>
            </a:solidFill>
            <a:prstDash val="solid"/>
          </a:ln>
        </p:spPr>
        <p:txBody>
          <a:bodyPr/>
          <a:lstStyle/>
          <a:p>
            <a:endParaRPr lang="ko-KR" altLang="en-US"/>
          </a:p>
        </p:txBody>
      </p:sp>
      <p:sp>
        <p:nvSpPr>
          <p:cNvPr id="15" name="Text 13"/>
          <p:cNvSpPr/>
          <p:nvPr/>
        </p:nvSpPr>
        <p:spPr>
          <a:xfrm>
            <a:off x="6413302" y="3808997"/>
            <a:ext cx="2124559" cy="32385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500" b="1" kern="0" spc="75" dirty="0">
                <a:solidFill>
                  <a:srgbClr val="E07F00"/>
                </a:solidFill>
                <a:latin typeface="Arial" pitchFamily="34" charset="0"/>
                <a:ea typeface="Arial" pitchFamily="34" charset="-122"/>
                <a:cs typeface="Arial" pitchFamily="34" charset="-120"/>
              </a:rPr>
              <a:t>LLM</a:t>
            </a:r>
            <a:endParaRPr lang="en-US" sz="1500" dirty="0"/>
          </a:p>
        </p:txBody>
      </p:sp>
      <p:sp>
        <p:nvSpPr>
          <p:cNvPr id="16" name="Text 14"/>
          <p:cNvSpPr/>
          <p:nvPr/>
        </p:nvSpPr>
        <p:spPr>
          <a:xfrm>
            <a:off x="6413302" y="4170947"/>
            <a:ext cx="2124559" cy="39528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75" b="1" dirty="0">
                <a:solidFill>
                  <a:srgbClr val="1A212B"/>
                </a:solidFill>
                <a:latin typeface="Arial" pitchFamily="34" charset="0"/>
                <a:ea typeface="Arial" pitchFamily="34" charset="-122"/>
                <a:cs typeface="Arial" pitchFamily="34" charset="-120"/>
              </a:rPr>
              <a:t>테스트 범위 생성</a:t>
            </a:r>
            <a:endParaRPr lang="en-US" sz="1875" dirty="0"/>
          </a:p>
        </p:txBody>
      </p:sp>
      <p:sp>
        <p:nvSpPr>
          <p:cNvPr id="17" name="Text 15"/>
          <p:cNvSpPr/>
          <p:nvPr/>
        </p:nvSpPr>
        <p:spPr>
          <a:xfrm>
            <a:off x="6413302" y="4604334"/>
            <a:ext cx="1870473" cy="618083"/>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575" dirty="0">
                <a:solidFill>
                  <a:srgbClr val="51606D"/>
                </a:solidFill>
                <a:latin typeface="Arial" pitchFamily="34" charset="0"/>
                <a:ea typeface="Arial" pitchFamily="34" charset="-122"/>
                <a:cs typeface="Arial" pitchFamily="34" charset="-120"/>
              </a:rPr>
              <a:t>고위험 변경을 덮는 최소 셋</a:t>
            </a:r>
            <a:endParaRPr lang="en-US" sz="1575" dirty="0"/>
          </a:p>
        </p:txBody>
      </p:sp>
      <p:sp>
        <p:nvSpPr>
          <p:cNvPr id="18" name="Text 16"/>
          <p:cNvSpPr/>
          <p:nvPr/>
        </p:nvSpPr>
        <p:spPr>
          <a:xfrm>
            <a:off x="8678094" y="4282344"/>
            <a:ext cx="337170" cy="466725"/>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2250" dirty="0">
                <a:solidFill>
                  <a:srgbClr val="76828F"/>
                </a:solidFill>
                <a:latin typeface="Arial" pitchFamily="34" charset="0"/>
                <a:ea typeface="Arial" pitchFamily="34" charset="-122"/>
                <a:cs typeface="Arial" pitchFamily="34" charset="-120"/>
              </a:rPr>
              <a:t>→</a:t>
            </a:r>
            <a:endParaRPr lang="en-US" sz="2250" dirty="0"/>
          </a:p>
        </p:txBody>
      </p:sp>
      <p:sp>
        <p:nvSpPr>
          <p:cNvPr id="19" name="Shape 17"/>
          <p:cNvSpPr/>
          <p:nvPr/>
        </p:nvSpPr>
        <p:spPr>
          <a:xfrm>
            <a:off x="9005739" y="3239878"/>
            <a:ext cx="1725737" cy="2513558"/>
          </a:xfrm>
          <a:prstGeom prst="roundRect">
            <a:avLst>
              <a:gd name="adj" fmla="val 8831"/>
            </a:avLst>
          </a:prstGeom>
          <a:solidFill>
            <a:srgbClr val="F6F8FB"/>
          </a:solidFill>
          <a:ln w="9525">
            <a:solidFill>
              <a:srgbClr val="D2D9E1"/>
            </a:solidFill>
            <a:prstDash val="solid"/>
          </a:ln>
        </p:spPr>
        <p:txBody>
          <a:bodyPr/>
          <a:lstStyle/>
          <a:p>
            <a:endParaRPr lang="ko-KR" altLang="en-US"/>
          </a:p>
        </p:txBody>
      </p:sp>
      <p:sp>
        <p:nvSpPr>
          <p:cNvPr id="20" name="Text 18"/>
          <p:cNvSpPr/>
          <p:nvPr/>
        </p:nvSpPr>
        <p:spPr>
          <a:xfrm>
            <a:off x="9224814" y="4129944"/>
            <a:ext cx="1416345" cy="39528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75" b="1" dirty="0">
                <a:solidFill>
                  <a:srgbClr val="1A212B"/>
                </a:solidFill>
                <a:latin typeface="Arial" pitchFamily="34" charset="0"/>
                <a:ea typeface="Arial" pitchFamily="34" charset="-122"/>
                <a:cs typeface="Arial" pitchFamily="34" charset="-120"/>
              </a:rPr>
              <a:t>테스트 실행</a:t>
            </a:r>
            <a:endParaRPr lang="en-US" sz="1875" dirty="0"/>
          </a:p>
        </p:txBody>
      </p:sp>
      <p:sp>
        <p:nvSpPr>
          <p:cNvPr id="21" name="Text 19"/>
          <p:cNvSpPr/>
          <p:nvPr/>
        </p:nvSpPr>
        <p:spPr>
          <a:xfrm>
            <a:off x="9224814" y="4563332"/>
            <a:ext cx="1416345" cy="338138"/>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575" dirty="0">
                <a:solidFill>
                  <a:srgbClr val="51606D"/>
                </a:solidFill>
                <a:latin typeface="Arial" pitchFamily="34" charset="0"/>
                <a:ea typeface="Arial" pitchFamily="34" charset="-122"/>
                <a:cs typeface="Arial" pitchFamily="34" charset="-120"/>
              </a:rPr>
              <a:t>그 범위만</a:t>
            </a:r>
            <a:endParaRPr lang="en-US" sz="1575" dirty="0"/>
          </a:p>
        </p:txBody>
      </p:sp>
      <p:sp>
        <p:nvSpPr>
          <p:cNvPr id="22" name="Text 20"/>
          <p:cNvSpPr/>
          <p:nvPr/>
        </p:nvSpPr>
        <p:spPr>
          <a:xfrm>
            <a:off x="10798150" y="4282344"/>
            <a:ext cx="337170" cy="466725"/>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2250" dirty="0">
                <a:solidFill>
                  <a:srgbClr val="76828F"/>
                </a:solidFill>
                <a:latin typeface="Arial" pitchFamily="34" charset="0"/>
                <a:ea typeface="Arial" pitchFamily="34" charset="-122"/>
                <a:cs typeface="Arial" pitchFamily="34" charset="-120"/>
              </a:rPr>
              <a:t>→</a:t>
            </a:r>
            <a:endParaRPr lang="en-US" sz="2250" dirty="0"/>
          </a:p>
        </p:txBody>
      </p:sp>
      <p:sp>
        <p:nvSpPr>
          <p:cNvPr id="23" name="Shape 21"/>
          <p:cNvSpPr/>
          <p:nvPr/>
        </p:nvSpPr>
        <p:spPr>
          <a:xfrm>
            <a:off x="11125795" y="3239878"/>
            <a:ext cx="1790105" cy="2513558"/>
          </a:xfrm>
          <a:prstGeom prst="roundRect">
            <a:avLst>
              <a:gd name="adj" fmla="val 8513"/>
            </a:avLst>
          </a:prstGeom>
          <a:solidFill>
            <a:srgbClr val="F6F8FB"/>
          </a:solidFill>
          <a:ln w="9525">
            <a:solidFill>
              <a:srgbClr val="D2D9E1"/>
            </a:solidFill>
            <a:prstDash val="solid"/>
          </a:ln>
        </p:spPr>
        <p:txBody>
          <a:bodyPr/>
          <a:lstStyle/>
          <a:p>
            <a:endParaRPr lang="ko-KR" altLang="en-US"/>
          </a:p>
        </p:txBody>
      </p:sp>
      <p:sp>
        <p:nvSpPr>
          <p:cNvPr id="24" name="Text 22"/>
          <p:cNvSpPr/>
          <p:nvPr/>
        </p:nvSpPr>
        <p:spPr>
          <a:xfrm>
            <a:off x="11344870" y="4129944"/>
            <a:ext cx="1487150" cy="39528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75" b="1" dirty="0">
                <a:solidFill>
                  <a:srgbClr val="1F9D57"/>
                </a:solidFill>
                <a:latin typeface="Arial" pitchFamily="34" charset="0"/>
                <a:ea typeface="Arial" pitchFamily="34" charset="-122"/>
                <a:cs typeface="Arial" pitchFamily="34" charset="-120"/>
              </a:rPr>
              <a:t>pass </a:t>
            </a:r>
            <a:r>
              <a:rPr lang="en-US" sz="1875" b="1" dirty="0">
                <a:solidFill>
                  <a:srgbClr val="1A212B"/>
                </a:solidFill>
                <a:latin typeface="Arial" pitchFamily="34" charset="0"/>
                <a:ea typeface="Arial" pitchFamily="34" charset="-122"/>
                <a:cs typeface="Arial" pitchFamily="34" charset="-120"/>
              </a:rPr>
              <a:t>/ </a:t>
            </a:r>
            <a:r>
              <a:rPr lang="en-US" sz="1875" b="1" dirty="0">
                <a:solidFill>
                  <a:srgbClr val="D6403D"/>
                </a:solidFill>
                <a:latin typeface="Arial" pitchFamily="34" charset="0"/>
                <a:ea typeface="Arial" pitchFamily="34" charset="-122"/>
                <a:cs typeface="Arial" pitchFamily="34" charset="-120"/>
              </a:rPr>
              <a:t>fail</a:t>
            </a:r>
            <a:endParaRPr lang="en-US" sz="1875" dirty="0"/>
          </a:p>
        </p:txBody>
      </p:sp>
      <p:sp>
        <p:nvSpPr>
          <p:cNvPr id="25" name="Text 23"/>
          <p:cNvSpPr/>
          <p:nvPr/>
        </p:nvSpPr>
        <p:spPr>
          <a:xfrm>
            <a:off x="11344870" y="4563332"/>
            <a:ext cx="1487150" cy="338138"/>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575" dirty="0">
                <a:solidFill>
                  <a:srgbClr val="51606D"/>
                </a:solidFill>
                <a:latin typeface="Arial" pitchFamily="34" charset="0"/>
                <a:ea typeface="Arial" pitchFamily="34" charset="-122"/>
                <a:cs typeface="Arial" pitchFamily="34" charset="-120"/>
              </a:rPr>
              <a:t>결정적 판정</a:t>
            </a:r>
            <a:endParaRPr lang="en-US" sz="1575" dirty="0"/>
          </a:p>
        </p:txBody>
      </p:sp>
      <p:sp>
        <p:nvSpPr>
          <p:cNvPr id="26" name="Shape 24"/>
          <p:cNvSpPr/>
          <p:nvPr/>
        </p:nvSpPr>
        <p:spPr>
          <a:xfrm>
            <a:off x="800100" y="6043357"/>
            <a:ext cx="12115800" cy="895350"/>
          </a:xfrm>
          <a:prstGeom prst="roundRect">
            <a:avLst>
              <a:gd name="adj" fmla="val 14894"/>
            </a:avLst>
          </a:prstGeom>
          <a:solidFill>
            <a:srgbClr val="F6F8FB">
              <a:alpha val="98000"/>
            </a:srgbClr>
          </a:solidFill>
          <a:ln w="9525">
            <a:solidFill>
              <a:srgbClr val="D2D9E1">
                <a:alpha val="98000"/>
              </a:srgbClr>
            </a:solidFill>
            <a:prstDash val="solid"/>
          </a:ln>
        </p:spPr>
        <p:txBody>
          <a:bodyPr/>
          <a:lstStyle/>
          <a:p>
            <a:endParaRPr lang="ko-KR" altLang="en-US"/>
          </a:p>
        </p:txBody>
      </p:sp>
      <p:sp>
        <p:nvSpPr>
          <p:cNvPr id="27" name="Text 25"/>
          <p:cNvSpPr/>
          <p:nvPr/>
        </p:nvSpPr>
        <p:spPr>
          <a:xfrm>
            <a:off x="1152525" y="6262432"/>
            <a:ext cx="354509" cy="49530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2400" dirty="0">
                <a:solidFill>
                  <a:srgbClr val="E07F00"/>
                </a:solidFill>
                <a:latin typeface="Arial" pitchFamily="34" charset="0"/>
                <a:ea typeface="Arial" pitchFamily="34" charset="-122"/>
                <a:cs typeface="Arial" pitchFamily="34" charset="-120"/>
              </a:rPr>
              <a:t>↺</a:t>
            </a:r>
            <a:endParaRPr lang="en-US" sz="2400" dirty="0"/>
          </a:p>
        </p:txBody>
      </p:sp>
      <p:sp>
        <p:nvSpPr>
          <p:cNvPr id="28" name="Text 26"/>
          <p:cNvSpPr/>
          <p:nvPr/>
        </p:nvSpPr>
        <p:spPr>
          <a:xfrm>
            <a:off x="1659434" y="6312438"/>
            <a:ext cx="10887432" cy="39528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75" b="1" dirty="0">
                <a:solidFill>
                  <a:srgbClr val="D6403D"/>
                </a:solidFill>
                <a:latin typeface="Arial" pitchFamily="34" charset="0"/>
                <a:ea typeface="Arial" pitchFamily="34" charset="-122"/>
                <a:cs typeface="Arial" pitchFamily="34" charset="-120"/>
              </a:rPr>
              <a:t>fail</a:t>
            </a:r>
            <a:r>
              <a:rPr lang="en-US" sz="1875" dirty="0">
                <a:solidFill>
                  <a:srgbClr val="51606D"/>
                </a:solidFill>
                <a:latin typeface="Arial" pitchFamily="34" charset="0"/>
                <a:ea typeface="Arial" pitchFamily="34" charset="-122"/>
                <a:cs typeface="Arial" pitchFamily="34" charset="-120"/>
              </a:rPr>
              <a:t>이면 범위를 좁혀 다시, </a:t>
            </a:r>
            <a:r>
              <a:rPr lang="en-US" sz="1875" b="1" dirty="0">
                <a:solidFill>
                  <a:srgbClr val="1F9D57"/>
                </a:solidFill>
                <a:latin typeface="Arial" pitchFamily="34" charset="0"/>
                <a:ea typeface="Arial" pitchFamily="34" charset="-122"/>
                <a:cs typeface="Arial" pitchFamily="34" charset="-120"/>
              </a:rPr>
              <a:t>pass</a:t>
            </a:r>
            <a:r>
              <a:rPr lang="en-US" sz="1875" dirty="0">
                <a:solidFill>
                  <a:srgbClr val="51606D"/>
                </a:solidFill>
                <a:latin typeface="Arial" pitchFamily="34" charset="0"/>
                <a:ea typeface="Arial" pitchFamily="34" charset="-122"/>
                <a:cs typeface="Arial" pitchFamily="34" charset="-120"/>
              </a:rPr>
              <a:t>면 머지 — </a:t>
            </a:r>
            <a:r>
              <a:rPr lang="en-US" sz="1875" b="1" dirty="0">
                <a:solidFill>
                  <a:srgbClr val="1A212B"/>
                </a:solidFill>
                <a:latin typeface="Arial" pitchFamily="34" charset="0"/>
                <a:ea typeface="Arial" pitchFamily="34" charset="-122"/>
                <a:cs typeface="Arial" pitchFamily="34" charset="-120"/>
              </a:rPr>
              <a:t>매 PR마다 도는 루프</a:t>
            </a:r>
            <a:r>
              <a:rPr lang="en-US" sz="1875" dirty="0">
                <a:solidFill>
                  <a:srgbClr val="51606D"/>
                </a:solidFill>
                <a:latin typeface="Arial" pitchFamily="34" charset="0"/>
                <a:ea typeface="Arial" pitchFamily="34" charset="-122"/>
                <a:cs typeface="Arial" pitchFamily="34" charset="-120"/>
              </a:rPr>
              <a:t>. 범위 판단은 LLM, pass/fail 판정은 코드.</a:t>
            </a:r>
            <a:endParaRPr lang="en-US" sz="1875" dirty="0"/>
          </a:p>
        </p:txBody>
      </p:sp>
      <p:sp>
        <p:nvSpPr>
          <p:cNvPr id="29" name="Text 27"/>
          <p:cNvSpPr/>
          <p:nvPr/>
        </p:nvSpPr>
        <p:spPr>
          <a:xfrm>
            <a:off x="800100" y="9505950"/>
            <a:ext cx="3694547" cy="32385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500" kern="0" spc="60" dirty="0">
                <a:solidFill>
                  <a:srgbClr val="76828F"/>
                </a:solidFill>
                <a:latin typeface="Arial" pitchFamily="34" charset="0"/>
                <a:ea typeface="Arial" pitchFamily="34" charset="-122"/>
                <a:cs typeface="Arial" pitchFamily="34" charset="-120"/>
              </a:rPr>
              <a:t>AWSKRUG 마곡 · LLM in the test loop</a:t>
            </a:r>
            <a:endParaRPr lang="en-US" sz="1500" dirty="0"/>
          </a:p>
        </p:txBody>
      </p:sp>
      <p:sp>
        <p:nvSpPr>
          <p:cNvPr id="30" name="Text 28"/>
          <p:cNvSpPr/>
          <p:nvPr/>
        </p:nvSpPr>
        <p:spPr>
          <a:xfrm>
            <a:off x="6729189" y="9505950"/>
            <a:ext cx="6805382" cy="32385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500" kern="0" spc="60" dirty="0">
                <a:solidFill>
                  <a:srgbClr val="76828F"/>
                </a:solidFill>
                <a:latin typeface="Arial" pitchFamily="34" charset="0"/>
                <a:ea typeface="Arial" pitchFamily="34" charset="-122"/>
                <a:cs typeface="Arial" pitchFamily="34" charset="-120"/>
              </a:rPr>
              <a:t>github.com/baekchangjoon/hotspot-analysis · test-impact-analysis</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00100" y="762000"/>
            <a:ext cx="3100112" cy="381000"/>
          </a:xfrm>
          <a:prstGeom prst="rect">
            <a:avLst/>
          </a:prstGeom>
          <a:noFill/>
          <a:ln/>
        </p:spPr>
        <p:txBody>
          <a:bodyPr wrap="square" lIns="25400" tIns="25400" rIns="25400" bIns="25400" rtlCol="0" anchor="t">
            <a:normAutofit fontScale="85000" lnSpcReduction="10000"/>
          </a:bodyPr>
          <a:lstStyle/>
          <a:p>
            <a:pPr marL="0" indent="0" algn="l">
              <a:lnSpc>
                <a:spcPct val="150000"/>
              </a:lnSpc>
              <a:buNone/>
            </a:pPr>
            <a:r>
              <a:rPr lang="en-US" sz="1800" b="1" kern="0" spc="144" dirty="0">
                <a:solidFill>
                  <a:srgbClr val="E07F00"/>
                </a:solidFill>
                <a:latin typeface="Arial" pitchFamily="34" charset="0"/>
                <a:ea typeface="Arial" pitchFamily="34" charset="-122"/>
                <a:cs typeface="Arial" pitchFamily="34" charset="-120"/>
              </a:rPr>
              <a:t>효과 </a:t>
            </a:r>
            <a:r>
              <a:rPr lang="en-US" sz="1800" b="1" kern="0" spc="144" dirty="0">
                <a:solidFill>
                  <a:srgbClr val="76828F"/>
                </a:solidFill>
                <a:latin typeface="Arial" pitchFamily="34" charset="0"/>
                <a:ea typeface="Arial" pitchFamily="34" charset="-122"/>
                <a:cs typeface="Arial" pitchFamily="34" charset="-120"/>
              </a:rPr>
              <a:t>· 같은 원칙의 다음 적용</a:t>
            </a:r>
            <a:endParaRPr lang="en-US" sz="1800" dirty="0"/>
          </a:p>
        </p:txBody>
      </p:sp>
      <p:sp>
        <p:nvSpPr>
          <p:cNvPr id="3" name="Text 1"/>
          <p:cNvSpPr/>
          <p:nvPr/>
        </p:nvSpPr>
        <p:spPr>
          <a:xfrm>
            <a:off x="800100" y="1314450"/>
            <a:ext cx="12529780" cy="688777"/>
          </a:xfrm>
          <a:prstGeom prst="rect">
            <a:avLst/>
          </a:prstGeom>
          <a:noFill/>
          <a:ln/>
        </p:spPr>
        <p:txBody>
          <a:bodyPr wrap="square" lIns="25400" tIns="25400" rIns="25400" bIns="25400" rtlCol="0" anchor="t">
            <a:normAutofit fontScale="92500" lnSpcReduction="10000"/>
          </a:bodyPr>
          <a:lstStyle/>
          <a:p>
            <a:pPr marL="0" indent="0" algn="l">
              <a:lnSpc>
                <a:spcPct val="122000"/>
              </a:lnSpc>
              <a:buNone/>
            </a:pPr>
            <a:r>
              <a:rPr lang="en-US" sz="4200" b="1" kern="0" spc="-63" dirty="0">
                <a:solidFill>
                  <a:srgbClr val="1A212B"/>
                </a:solidFill>
                <a:latin typeface="Arial" pitchFamily="34" charset="0"/>
                <a:ea typeface="Arial" pitchFamily="34" charset="-122"/>
                <a:cs typeface="Arial" pitchFamily="34" charset="-120"/>
              </a:rPr>
              <a:t>테스트 케이스와 데이터 생성 — LLM이 대신 </a:t>
            </a:r>
            <a:r>
              <a:rPr lang="en-US" sz="4200" b="1" kern="0" spc="-63" dirty="0">
                <a:solidFill>
                  <a:srgbClr val="E07F00"/>
                </a:solidFill>
                <a:latin typeface="Arial" pitchFamily="34" charset="0"/>
                <a:ea typeface="Arial" pitchFamily="34" charset="-122"/>
                <a:cs typeface="Arial" pitchFamily="34" charset="-120"/>
              </a:rPr>
              <a:t>조합</a:t>
            </a:r>
            <a:r>
              <a:rPr lang="en-US" sz="4200" b="1" kern="0" spc="-63" dirty="0">
                <a:solidFill>
                  <a:srgbClr val="1A212B"/>
                </a:solidFill>
                <a:latin typeface="Arial" pitchFamily="34" charset="0"/>
                <a:ea typeface="Arial" pitchFamily="34" charset="-122"/>
                <a:cs typeface="Arial" pitchFamily="34" charset="-120"/>
              </a:rPr>
              <a:t>합니다</a:t>
            </a:r>
            <a:endParaRPr lang="en-US" sz="4200" dirty="0"/>
          </a:p>
        </p:txBody>
      </p:sp>
      <p:sp>
        <p:nvSpPr>
          <p:cNvPr id="4" name="Text 2"/>
          <p:cNvSpPr/>
          <p:nvPr/>
        </p:nvSpPr>
        <p:spPr>
          <a:xfrm>
            <a:off x="800100" y="2250877"/>
            <a:ext cx="10642602" cy="531465"/>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775" dirty="0">
                <a:solidFill>
                  <a:srgbClr val="51606D"/>
                </a:solidFill>
                <a:latin typeface="Arial" pitchFamily="34" charset="0"/>
                <a:ea typeface="Arial" pitchFamily="34" charset="-122"/>
                <a:cs typeface="Arial" pitchFamily="34" charset="-120"/>
              </a:rPr>
              <a:t>API 스펙·소스·DB 스키마는 코드에 있고, 템플릿 합성도 코드가 합니다.</a:t>
            </a:r>
            <a:endParaRPr lang="en-US" sz="2775" dirty="0"/>
          </a:p>
        </p:txBody>
      </p:sp>
      <p:sp>
        <p:nvSpPr>
          <p:cNvPr id="5" name="Shape 3"/>
          <p:cNvSpPr/>
          <p:nvPr/>
        </p:nvSpPr>
        <p:spPr>
          <a:xfrm>
            <a:off x="800100" y="3163342"/>
            <a:ext cx="2642964" cy="2424113"/>
          </a:xfrm>
          <a:prstGeom prst="roundRect">
            <a:avLst>
              <a:gd name="adj" fmla="val 6287"/>
            </a:avLst>
          </a:prstGeom>
          <a:solidFill>
            <a:srgbClr val="F6F8FB"/>
          </a:solidFill>
          <a:ln w="9525">
            <a:solidFill>
              <a:srgbClr val="D2D9E1"/>
            </a:solidFill>
            <a:prstDash val="solid"/>
          </a:ln>
        </p:spPr>
        <p:txBody>
          <a:bodyPr/>
          <a:lstStyle/>
          <a:p>
            <a:endParaRPr lang="ko-KR" altLang="en-US"/>
          </a:p>
        </p:txBody>
      </p:sp>
      <p:sp>
        <p:nvSpPr>
          <p:cNvPr id="6" name="Text 4"/>
          <p:cNvSpPr/>
          <p:nvPr/>
        </p:nvSpPr>
        <p:spPr>
          <a:xfrm>
            <a:off x="1095375" y="3458617"/>
            <a:ext cx="2257656" cy="338138"/>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575" b="1" kern="0" spc="126" dirty="0">
                <a:solidFill>
                  <a:srgbClr val="2272C3"/>
                </a:solidFill>
                <a:latin typeface="Arial" pitchFamily="34" charset="0"/>
                <a:ea typeface="Arial" pitchFamily="34" charset="-122"/>
                <a:cs typeface="Arial" pitchFamily="34" charset="-120"/>
              </a:rPr>
              <a:t>코드 · LLM 없음</a:t>
            </a:r>
            <a:endParaRPr lang="en-US" sz="1575" dirty="0"/>
          </a:p>
        </p:txBody>
      </p:sp>
      <p:sp>
        <p:nvSpPr>
          <p:cNvPr id="7" name="Text 5"/>
          <p:cNvSpPr/>
          <p:nvPr/>
        </p:nvSpPr>
        <p:spPr>
          <a:xfrm>
            <a:off x="1095375" y="3853904"/>
            <a:ext cx="2257656" cy="39528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75" b="1" dirty="0">
                <a:solidFill>
                  <a:srgbClr val="1A212B"/>
                </a:solidFill>
                <a:latin typeface="Arial" pitchFamily="34" charset="0"/>
                <a:ea typeface="Arial" pitchFamily="34" charset="-122"/>
                <a:cs typeface="Arial" pitchFamily="34" charset="-120"/>
              </a:rPr>
              <a:t>그래프 사실</a:t>
            </a:r>
            <a:endParaRPr lang="en-US" sz="1875" dirty="0"/>
          </a:p>
        </p:txBody>
      </p:sp>
      <p:sp>
        <p:nvSpPr>
          <p:cNvPr id="8" name="Text 6"/>
          <p:cNvSpPr/>
          <p:nvPr/>
        </p:nvSpPr>
        <p:spPr>
          <a:xfrm>
            <a:off x="1095375" y="4306342"/>
            <a:ext cx="2128614" cy="1023938"/>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725" dirty="0">
                <a:solidFill>
                  <a:srgbClr val="51606D"/>
                </a:solidFill>
                <a:latin typeface="Arial" pitchFamily="34" charset="0"/>
                <a:ea typeface="Arial" pitchFamily="34" charset="-122"/>
                <a:cs typeface="Arial" pitchFamily="34" charset="-120"/>
              </a:rPr>
              <a:t>API spec · 소스 경로 · DB 스키마 · 캐처된 SQL/HTTP</a:t>
            </a:r>
            <a:endParaRPr lang="en-US" sz="1725" dirty="0"/>
          </a:p>
        </p:txBody>
      </p:sp>
      <p:sp>
        <p:nvSpPr>
          <p:cNvPr id="9" name="Text 7"/>
          <p:cNvSpPr/>
          <p:nvPr/>
        </p:nvSpPr>
        <p:spPr>
          <a:xfrm>
            <a:off x="3509739" y="4161086"/>
            <a:ext cx="337170" cy="466725"/>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2250" dirty="0">
                <a:solidFill>
                  <a:srgbClr val="76828F"/>
                </a:solidFill>
                <a:latin typeface="Arial" pitchFamily="34" charset="0"/>
                <a:ea typeface="Arial" pitchFamily="34" charset="-122"/>
                <a:cs typeface="Arial" pitchFamily="34" charset="-120"/>
              </a:rPr>
              <a:t>→</a:t>
            </a:r>
            <a:endParaRPr lang="en-US" sz="2250" dirty="0"/>
          </a:p>
        </p:txBody>
      </p:sp>
      <p:sp>
        <p:nvSpPr>
          <p:cNvPr id="10" name="Shape 8"/>
          <p:cNvSpPr/>
          <p:nvPr/>
        </p:nvSpPr>
        <p:spPr>
          <a:xfrm>
            <a:off x="3837384" y="3163668"/>
            <a:ext cx="3004021" cy="2424112"/>
          </a:xfrm>
          <a:prstGeom prst="roundRect">
            <a:avLst>
              <a:gd name="adj" fmla="val 7073"/>
            </a:avLst>
          </a:prstGeom>
          <a:solidFill>
            <a:srgbClr val="FF9900">
              <a:alpha val="8000"/>
            </a:srgbClr>
          </a:solidFill>
          <a:ln w="19050">
            <a:solidFill>
              <a:srgbClr val="E07F00"/>
            </a:solidFill>
            <a:prstDash val="solid"/>
          </a:ln>
        </p:spPr>
        <p:txBody>
          <a:bodyPr/>
          <a:lstStyle/>
          <a:p>
            <a:endParaRPr lang="ko-KR" altLang="en-US"/>
          </a:p>
        </p:txBody>
      </p:sp>
      <p:sp>
        <p:nvSpPr>
          <p:cNvPr id="11" name="Text 9"/>
          <p:cNvSpPr/>
          <p:nvPr/>
        </p:nvSpPr>
        <p:spPr>
          <a:xfrm>
            <a:off x="4142184" y="3468468"/>
            <a:ext cx="2633863" cy="338138"/>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575" b="1" kern="0" spc="126" dirty="0">
                <a:solidFill>
                  <a:srgbClr val="E07F00"/>
                </a:solidFill>
                <a:latin typeface="Arial" pitchFamily="34" charset="0"/>
                <a:ea typeface="Arial" pitchFamily="34" charset="-122"/>
                <a:cs typeface="Arial" pitchFamily="34" charset="-120"/>
              </a:rPr>
              <a:t>LLM (사람이 하던 일)</a:t>
            </a:r>
            <a:endParaRPr lang="en-US" sz="1575" dirty="0"/>
          </a:p>
        </p:txBody>
      </p:sp>
      <p:sp>
        <p:nvSpPr>
          <p:cNvPr id="12" name="Text 10"/>
          <p:cNvSpPr/>
          <p:nvPr/>
        </p:nvSpPr>
        <p:spPr>
          <a:xfrm>
            <a:off x="4142184" y="3863755"/>
            <a:ext cx="2633863" cy="39528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75" b="1" dirty="0">
                <a:solidFill>
                  <a:srgbClr val="E07F00"/>
                </a:solidFill>
                <a:latin typeface="Arial" pitchFamily="34" charset="0"/>
                <a:ea typeface="Arial" pitchFamily="34" charset="-122"/>
                <a:cs typeface="Arial" pitchFamily="34" charset="-120"/>
              </a:rPr>
              <a:t>조합 · 평가</a:t>
            </a:r>
            <a:endParaRPr lang="en-US" sz="1875" dirty="0"/>
          </a:p>
        </p:txBody>
      </p:sp>
      <p:sp>
        <p:nvSpPr>
          <p:cNvPr id="13" name="Text 11"/>
          <p:cNvSpPr/>
          <p:nvPr/>
        </p:nvSpPr>
        <p:spPr>
          <a:xfrm>
            <a:off x="4142184" y="4316193"/>
            <a:ext cx="2470621" cy="695325"/>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725" dirty="0">
                <a:solidFill>
                  <a:srgbClr val="51606D"/>
                </a:solidFill>
                <a:latin typeface="Arial" pitchFamily="34" charset="0"/>
                <a:ea typeface="Arial" pitchFamily="34" charset="-122"/>
                <a:cs typeface="Arial" pitchFamily="34" charset="-120"/>
              </a:rPr>
              <a:t>사실 조회 → 생성 요청 구성 → 결과 평가</a:t>
            </a:r>
            <a:endParaRPr lang="en-US" sz="1725" dirty="0"/>
          </a:p>
        </p:txBody>
      </p:sp>
      <p:sp>
        <p:nvSpPr>
          <p:cNvPr id="14" name="Text 12"/>
          <p:cNvSpPr/>
          <p:nvPr/>
        </p:nvSpPr>
        <p:spPr>
          <a:xfrm>
            <a:off x="6908081" y="4161086"/>
            <a:ext cx="337170" cy="466725"/>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2250" dirty="0">
                <a:solidFill>
                  <a:srgbClr val="76828F"/>
                </a:solidFill>
                <a:latin typeface="Arial" pitchFamily="34" charset="0"/>
                <a:ea typeface="Arial" pitchFamily="34" charset="-122"/>
                <a:cs typeface="Arial" pitchFamily="34" charset="-120"/>
              </a:rPr>
              <a:t>→</a:t>
            </a:r>
            <a:endParaRPr lang="en-US" sz="2250" dirty="0"/>
          </a:p>
        </p:txBody>
      </p:sp>
      <p:sp>
        <p:nvSpPr>
          <p:cNvPr id="15" name="Shape 13"/>
          <p:cNvSpPr/>
          <p:nvPr/>
        </p:nvSpPr>
        <p:spPr>
          <a:xfrm>
            <a:off x="7235726" y="3163668"/>
            <a:ext cx="2642890" cy="2424112"/>
          </a:xfrm>
          <a:prstGeom prst="roundRect">
            <a:avLst>
              <a:gd name="adj" fmla="val 6287"/>
            </a:avLst>
          </a:prstGeom>
          <a:solidFill>
            <a:srgbClr val="F6F8FB"/>
          </a:solidFill>
          <a:ln w="9525">
            <a:solidFill>
              <a:srgbClr val="D2D9E1"/>
            </a:solidFill>
            <a:prstDash val="solid"/>
          </a:ln>
        </p:spPr>
        <p:txBody>
          <a:bodyPr/>
          <a:lstStyle/>
          <a:p>
            <a:endParaRPr lang="ko-KR" altLang="en-US"/>
          </a:p>
        </p:txBody>
      </p:sp>
      <p:sp>
        <p:nvSpPr>
          <p:cNvPr id="16" name="Text 14"/>
          <p:cNvSpPr/>
          <p:nvPr/>
        </p:nvSpPr>
        <p:spPr>
          <a:xfrm>
            <a:off x="7531001" y="3458943"/>
            <a:ext cx="2257574" cy="338138"/>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575" b="1" kern="0" spc="126" dirty="0">
                <a:solidFill>
                  <a:srgbClr val="2272C3"/>
                </a:solidFill>
                <a:latin typeface="Arial" pitchFamily="34" charset="0"/>
                <a:ea typeface="Arial" pitchFamily="34" charset="-122"/>
                <a:cs typeface="Arial" pitchFamily="34" charset="-120"/>
              </a:rPr>
              <a:t>코드 · LLM 없음</a:t>
            </a:r>
            <a:endParaRPr lang="en-US" sz="1575" dirty="0"/>
          </a:p>
        </p:txBody>
      </p:sp>
      <p:sp>
        <p:nvSpPr>
          <p:cNvPr id="17" name="Text 15"/>
          <p:cNvSpPr/>
          <p:nvPr/>
        </p:nvSpPr>
        <p:spPr>
          <a:xfrm>
            <a:off x="7531001" y="3854230"/>
            <a:ext cx="2257574" cy="39528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75" b="1" dirty="0">
                <a:solidFill>
                  <a:srgbClr val="1A212B"/>
                </a:solidFill>
                <a:latin typeface="Arial" pitchFamily="34" charset="0"/>
                <a:ea typeface="Arial" pitchFamily="34" charset="-122"/>
                <a:cs typeface="Arial" pitchFamily="34" charset="-120"/>
              </a:rPr>
              <a:t>결정적 합성</a:t>
            </a:r>
            <a:endParaRPr lang="en-US" sz="1875" dirty="0"/>
          </a:p>
        </p:txBody>
      </p:sp>
      <p:sp>
        <p:nvSpPr>
          <p:cNvPr id="18" name="Text 16"/>
          <p:cNvSpPr/>
          <p:nvPr/>
        </p:nvSpPr>
        <p:spPr>
          <a:xfrm>
            <a:off x="7531001" y="4306668"/>
            <a:ext cx="2128540" cy="1023937"/>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725" dirty="0">
                <a:solidFill>
                  <a:srgbClr val="51606D"/>
                </a:solidFill>
                <a:latin typeface="Arial" pitchFamily="34" charset="0"/>
                <a:ea typeface="Arial" pitchFamily="34" charset="-122"/>
                <a:cs typeface="Arial" pitchFamily="34" charset="-120"/>
              </a:rPr>
              <a:t>템플릿+프로그램 → 테스트 · DB 픽스처 · mock</a:t>
            </a:r>
            <a:endParaRPr lang="en-US" sz="1725" dirty="0"/>
          </a:p>
        </p:txBody>
      </p:sp>
      <p:sp>
        <p:nvSpPr>
          <p:cNvPr id="19" name="Text 17"/>
          <p:cNvSpPr/>
          <p:nvPr/>
        </p:nvSpPr>
        <p:spPr>
          <a:xfrm>
            <a:off x="9945291" y="4161086"/>
            <a:ext cx="337170" cy="466725"/>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2250" dirty="0">
                <a:solidFill>
                  <a:srgbClr val="76828F"/>
                </a:solidFill>
                <a:latin typeface="Arial" pitchFamily="34" charset="0"/>
                <a:ea typeface="Arial" pitchFamily="34" charset="-122"/>
                <a:cs typeface="Arial" pitchFamily="34" charset="-120"/>
              </a:rPr>
              <a:t>→</a:t>
            </a:r>
            <a:endParaRPr lang="en-US" sz="2250" dirty="0"/>
          </a:p>
        </p:txBody>
      </p:sp>
      <p:sp>
        <p:nvSpPr>
          <p:cNvPr id="20" name="Shape 18"/>
          <p:cNvSpPr/>
          <p:nvPr/>
        </p:nvSpPr>
        <p:spPr>
          <a:xfrm>
            <a:off x="10272936" y="3167799"/>
            <a:ext cx="2642964" cy="2424113"/>
          </a:xfrm>
          <a:prstGeom prst="roundRect">
            <a:avLst>
              <a:gd name="adj" fmla="val 6287"/>
            </a:avLst>
          </a:prstGeom>
          <a:solidFill>
            <a:srgbClr val="F6F8FB">
              <a:alpha val="98000"/>
            </a:srgbClr>
          </a:solidFill>
          <a:ln w="9525">
            <a:solidFill>
              <a:srgbClr val="D2D9E1">
                <a:alpha val="98000"/>
              </a:srgbClr>
            </a:solidFill>
            <a:prstDash val="solid"/>
          </a:ln>
        </p:spPr>
        <p:txBody>
          <a:bodyPr/>
          <a:lstStyle/>
          <a:p>
            <a:endParaRPr lang="ko-KR" altLang="en-US"/>
          </a:p>
        </p:txBody>
      </p:sp>
      <p:sp>
        <p:nvSpPr>
          <p:cNvPr id="21" name="Text 19"/>
          <p:cNvSpPr/>
          <p:nvPr/>
        </p:nvSpPr>
        <p:spPr>
          <a:xfrm>
            <a:off x="10568211" y="3463074"/>
            <a:ext cx="2257656" cy="338138"/>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575" b="1" kern="0" spc="126" dirty="0">
                <a:solidFill>
                  <a:srgbClr val="2272C3"/>
                </a:solidFill>
                <a:latin typeface="Arial" pitchFamily="34" charset="0"/>
                <a:ea typeface="Arial" pitchFamily="34" charset="-122"/>
                <a:cs typeface="Arial" pitchFamily="34" charset="-120"/>
              </a:rPr>
              <a:t>코드 · 결정적</a:t>
            </a:r>
            <a:endParaRPr lang="en-US" sz="1575" dirty="0"/>
          </a:p>
        </p:txBody>
      </p:sp>
      <p:sp>
        <p:nvSpPr>
          <p:cNvPr id="22" name="Text 20"/>
          <p:cNvSpPr/>
          <p:nvPr/>
        </p:nvSpPr>
        <p:spPr>
          <a:xfrm>
            <a:off x="10568211" y="3858362"/>
            <a:ext cx="2257656" cy="39528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75" b="1" dirty="0">
                <a:solidFill>
                  <a:srgbClr val="1A212B"/>
                </a:solidFill>
                <a:latin typeface="Arial" pitchFamily="34" charset="0"/>
                <a:ea typeface="Arial" pitchFamily="34" charset="-122"/>
                <a:cs typeface="Arial" pitchFamily="34" charset="-120"/>
              </a:rPr>
              <a:t>판정</a:t>
            </a:r>
            <a:endParaRPr lang="en-US" sz="1875" dirty="0"/>
          </a:p>
        </p:txBody>
      </p:sp>
      <p:sp>
        <p:nvSpPr>
          <p:cNvPr id="23" name="Text 21"/>
          <p:cNvSpPr/>
          <p:nvPr/>
        </p:nvSpPr>
        <p:spPr>
          <a:xfrm>
            <a:off x="10568211" y="4310799"/>
            <a:ext cx="2128614" cy="695325"/>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725" dirty="0">
                <a:solidFill>
                  <a:srgbClr val="51606D"/>
                </a:solidFill>
                <a:latin typeface="Arial" pitchFamily="34" charset="0"/>
                <a:ea typeface="Arial" pitchFamily="34" charset="-122"/>
                <a:cs typeface="Arial" pitchFamily="34" charset="-120"/>
              </a:rPr>
              <a:t>컴파일 · 실행 · JaCoCo 커버리지 측정</a:t>
            </a:r>
            <a:endParaRPr lang="en-US" sz="1725" dirty="0"/>
          </a:p>
        </p:txBody>
      </p:sp>
      <p:sp>
        <p:nvSpPr>
          <p:cNvPr id="24" name="Shape 22"/>
          <p:cNvSpPr/>
          <p:nvPr/>
        </p:nvSpPr>
        <p:spPr>
          <a:xfrm>
            <a:off x="800100" y="5972912"/>
            <a:ext cx="12115800" cy="904875"/>
          </a:xfrm>
          <a:prstGeom prst="roundRect">
            <a:avLst>
              <a:gd name="adj" fmla="val 14737"/>
            </a:avLst>
          </a:prstGeom>
          <a:solidFill>
            <a:srgbClr val="F6F8FB">
              <a:alpha val="98000"/>
            </a:srgbClr>
          </a:solidFill>
          <a:ln w="9525">
            <a:solidFill>
              <a:srgbClr val="D2D9E1">
                <a:alpha val="98000"/>
              </a:srgbClr>
            </a:solidFill>
            <a:prstDash val="solid"/>
          </a:ln>
        </p:spPr>
        <p:txBody>
          <a:bodyPr/>
          <a:lstStyle/>
          <a:p>
            <a:endParaRPr lang="ko-KR" altLang="en-US"/>
          </a:p>
        </p:txBody>
      </p:sp>
      <p:sp>
        <p:nvSpPr>
          <p:cNvPr id="25" name="Text 23"/>
          <p:cNvSpPr/>
          <p:nvPr/>
        </p:nvSpPr>
        <p:spPr>
          <a:xfrm>
            <a:off x="1190625" y="6211037"/>
            <a:ext cx="337170" cy="466725"/>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2250" dirty="0">
                <a:solidFill>
                  <a:srgbClr val="E07F00"/>
                </a:solidFill>
                <a:latin typeface="Arial" pitchFamily="34" charset="0"/>
                <a:ea typeface="Arial" pitchFamily="34" charset="-122"/>
                <a:cs typeface="Arial" pitchFamily="34" charset="-120"/>
              </a:rPr>
              <a:t>↺</a:t>
            </a:r>
            <a:endParaRPr lang="en-US" sz="2250" dirty="0"/>
          </a:p>
        </p:txBody>
      </p:sp>
      <p:sp>
        <p:nvSpPr>
          <p:cNvPr id="26" name="Text 24"/>
          <p:cNvSpPr/>
          <p:nvPr/>
        </p:nvSpPr>
        <p:spPr>
          <a:xfrm>
            <a:off x="1699245" y="6246755"/>
            <a:ext cx="7634987" cy="39528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75" dirty="0">
                <a:solidFill>
                  <a:srgbClr val="51606D"/>
                </a:solidFill>
                <a:latin typeface="Arial" pitchFamily="34" charset="0"/>
                <a:ea typeface="Arial" pitchFamily="34" charset="-122"/>
                <a:cs typeface="Arial" pitchFamily="34" charset="-120"/>
              </a:rPr>
              <a:t>커버리지가 부족하면 LLM이 </a:t>
            </a:r>
            <a:r>
              <a:rPr lang="en-US" sz="1875" b="1" dirty="0">
                <a:solidFill>
                  <a:srgbClr val="1A212B"/>
                </a:solidFill>
                <a:latin typeface="Arial" pitchFamily="34" charset="0"/>
                <a:ea typeface="Arial" pitchFamily="34" charset="-122"/>
                <a:cs typeface="Arial" pitchFamily="34" charset="-120"/>
              </a:rPr>
              <a:t>다시 조합 </a:t>
            </a:r>
            <a:r>
              <a:rPr lang="en-US" sz="1875" dirty="0">
                <a:solidFill>
                  <a:srgbClr val="51606D"/>
                </a:solidFill>
                <a:latin typeface="Arial" pitchFamily="34" charset="0"/>
                <a:ea typeface="Arial" pitchFamily="34" charset="-122"/>
                <a:cs typeface="Arial" pitchFamily="34" charset="-120"/>
              </a:rPr>
              <a:t>— 조합은 LLM, 판정은 결정적 코드</a:t>
            </a:r>
            <a:endParaRPr lang="en-US" sz="1875" dirty="0"/>
          </a:p>
        </p:txBody>
      </p:sp>
      <p:sp>
        <p:nvSpPr>
          <p:cNvPr id="27" name="Text 25"/>
          <p:cNvSpPr/>
          <p:nvPr/>
        </p:nvSpPr>
        <p:spPr>
          <a:xfrm>
            <a:off x="800100" y="9505950"/>
            <a:ext cx="3694547" cy="32385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500" kern="0" spc="60" dirty="0">
                <a:solidFill>
                  <a:srgbClr val="76828F"/>
                </a:solidFill>
                <a:latin typeface="Arial" pitchFamily="34" charset="0"/>
                <a:ea typeface="Arial" pitchFamily="34" charset="-122"/>
                <a:cs typeface="Arial" pitchFamily="34" charset="-120"/>
              </a:rPr>
              <a:t>AWSKRUG 마곡 · LLM in the test loop</a:t>
            </a:r>
            <a:endParaRPr lang="en-US" sz="1500" dirty="0"/>
          </a:p>
        </p:txBody>
      </p:sp>
      <p:sp>
        <p:nvSpPr>
          <p:cNvPr id="28" name="Text 26"/>
          <p:cNvSpPr/>
          <p:nvPr/>
        </p:nvSpPr>
        <p:spPr>
          <a:xfrm>
            <a:off x="6117282" y="9505950"/>
            <a:ext cx="7478479" cy="32385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500" kern="0" spc="60" dirty="0">
                <a:solidFill>
                  <a:srgbClr val="76828F"/>
                </a:solidFill>
                <a:latin typeface="Arial" pitchFamily="34" charset="0"/>
                <a:ea typeface="Arial" pitchFamily="34" charset="-122"/>
                <a:cs typeface="Arial" pitchFamily="34" charset="-120"/>
              </a:rPr>
              <a:t>github.com/baekchangjoon/graph-rag-test-generator · Phase 0 E2E PASS</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00100" y="762000"/>
            <a:ext cx="507950" cy="381000"/>
          </a:xfrm>
          <a:prstGeom prst="rect">
            <a:avLst/>
          </a:prstGeom>
          <a:noFill/>
          <a:ln/>
        </p:spPr>
        <p:txBody>
          <a:bodyPr wrap="square" lIns="25400" tIns="25400" rIns="25400" bIns="25400" rtlCol="0" anchor="t">
            <a:normAutofit fontScale="85000" lnSpcReduction="10000"/>
          </a:bodyPr>
          <a:lstStyle/>
          <a:p>
            <a:pPr marL="0" indent="0" algn="l">
              <a:lnSpc>
                <a:spcPct val="150000"/>
              </a:lnSpc>
              <a:buNone/>
            </a:pPr>
            <a:r>
              <a:rPr lang="en-US" sz="1800" b="1" kern="0" spc="144" dirty="0">
                <a:solidFill>
                  <a:srgbClr val="E07F00"/>
                </a:solidFill>
                <a:latin typeface="Arial" pitchFamily="34" charset="0"/>
                <a:ea typeface="Arial" pitchFamily="34" charset="-122"/>
                <a:cs typeface="Arial" pitchFamily="34" charset="-120"/>
              </a:rPr>
              <a:t>비용</a:t>
            </a:r>
            <a:endParaRPr lang="en-US" sz="1800" dirty="0"/>
          </a:p>
        </p:txBody>
      </p:sp>
      <p:sp>
        <p:nvSpPr>
          <p:cNvPr id="3" name="Text 1"/>
          <p:cNvSpPr/>
          <p:nvPr/>
        </p:nvSpPr>
        <p:spPr>
          <a:xfrm>
            <a:off x="800100" y="1314450"/>
            <a:ext cx="4232337" cy="688777"/>
          </a:xfrm>
          <a:prstGeom prst="rect">
            <a:avLst/>
          </a:prstGeom>
          <a:noFill/>
          <a:ln/>
        </p:spPr>
        <p:txBody>
          <a:bodyPr wrap="square" lIns="25400" tIns="25400" rIns="25400" bIns="25400" rtlCol="0" anchor="t">
            <a:normAutofit fontScale="92500" lnSpcReduction="10000"/>
          </a:bodyPr>
          <a:lstStyle/>
          <a:p>
            <a:pPr marL="0" indent="0" algn="l">
              <a:lnSpc>
                <a:spcPct val="122000"/>
              </a:lnSpc>
              <a:buNone/>
            </a:pPr>
            <a:r>
              <a:rPr lang="en-US" sz="4200" b="1" kern="0" spc="-63" dirty="0">
                <a:solidFill>
                  <a:srgbClr val="1A212B"/>
                </a:solidFill>
                <a:latin typeface="Arial" pitchFamily="34" charset="0"/>
                <a:ea typeface="Arial" pitchFamily="34" charset="-122"/>
                <a:cs typeface="Arial" pitchFamily="34" charset="-120"/>
              </a:rPr>
              <a:t>비용도 설계의 일부</a:t>
            </a:r>
            <a:endParaRPr lang="en-US" sz="4200" dirty="0"/>
          </a:p>
        </p:txBody>
      </p:sp>
      <p:sp>
        <p:nvSpPr>
          <p:cNvPr id="4" name="Shape 2"/>
          <p:cNvSpPr/>
          <p:nvPr/>
        </p:nvSpPr>
        <p:spPr>
          <a:xfrm>
            <a:off x="800100" y="2384227"/>
            <a:ext cx="12115800" cy="3209925"/>
          </a:xfrm>
          <a:prstGeom prst="roundRect">
            <a:avLst>
              <a:gd name="adj" fmla="val 5341"/>
            </a:avLst>
          </a:prstGeom>
          <a:solidFill>
            <a:srgbClr val="F6F8FB"/>
          </a:solidFill>
          <a:ln w="9525">
            <a:solidFill>
              <a:srgbClr val="D2D9E1"/>
            </a:solidFill>
            <a:prstDash val="solid"/>
          </a:ln>
        </p:spPr>
        <p:txBody>
          <a:bodyPr/>
          <a:lstStyle/>
          <a:p>
            <a:endParaRPr lang="ko-KR" altLang="en-US"/>
          </a:p>
        </p:txBody>
      </p:sp>
      <p:sp>
        <p:nvSpPr>
          <p:cNvPr id="5" name="Shape 3"/>
          <p:cNvSpPr/>
          <p:nvPr/>
        </p:nvSpPr>
        <p:spPr>
          <a:xfrm>
            <a:off x="1076325" y="3060502"/>
            <a:ext cx="3964335" cy="19050"/>
          </a:xfrm>
          <a:prstGeom prst="rect">
            <a:avLst/>
          </a:prstGeom>
          <a:solidFill>
            <a:srgbClr val="D2D9E1"/>
          </a:solidFill>
          <a:ln/>
        </p:spPr>
        <p:txBody>
          <a:bodyPr/>
          <a:lstStyle/>
          <a:p>
            <a:endParaRPr lang="ko-KR" altLang="en-US"/>
          </a:p>
        </p:txBody>
      </p:sp>
      <p:sp>
        <p:nvSpPr>
          <p:cNvPr id="6" name="Text 4"/>
          <p:cNvSpPr/>
          <p:nvPr/>
        </p:nvSpPr>
        <p:spPr>
          <a:xfrm>
            <a:off x="1285875" y="2641402"/>
            <a:ext cx="3664165" cy="342900"/>
          </a:xfrm>
          <a:prstGeom prst="rect">
            <a:avLst/>
          </a:prstGeom>
          <a:noFill/>
          <a:ln/>
        </p:spPr>
        <p:txBody>
          <a:bodyPr wrap="square" lIns="25400" tIns="25400" rIns="25400" bIns="25400" rtlCol="0" anchor="ctr">
            <a:normAutofit fontScale="92500" lnSpcReduction="10000"/>
          </a:bodyPr>
          <a:lstStyle/>
          <a:p>
            <a:pPr marL="0" indent="0" algn="l">
              <a:lnSpc>
                <a:spcPct val="150000"/>
              </a:lnSpc>
              <a:buNone/>
            </a:pPr>
            <a:r>
              <a:rPr lang="en-US" sz="1650" b="1" kern="0" spc="50" dirty="0">
                <a:solidFill>
                  <a:srgbClr val="51606D"/>
                </a:solidFill>
                <a:latin typeface="Arial" pitchFamily="34" charset="0"/>
                <a:ea typeface="Arial" pitchFamily="34" charset="-122"/>
                <a:cs typeface="Arial" pitchFamily="34" charset="-120"/>
              </a:rPr>
              <a:t>모델 세트 </a:t>
            </a:r>
            <a:r>
              <a:rPr lang="en-US" sz="1650" kern="0" spc="50" dirty="0">
                <a:solidFill>
                  <a:srgbClr val="51606D"/>
                </a:solidFill>
                <a:latin typeface="Arial" pitchFamily="34" charset="0"/>
                <a:ea typeface="Arial" pitchFamily="34" charset="-122"/>
                <a:cs typeface="Arial" pitchFamily="34" charset="-120"/>
              </a:rPr>
              <a:t>(수정 / 판정)</a:t>
            </a:r>
            <a:endParaRPr lang="en-US" sz="1650" dirty="0"/>
          </a:p>
        </p:txBody>
      </p:sp>
      <p:sp>
        <p:nvSpPr>
          <p:cNvPr id="7" name="Shape 5"/>
          <p:cNvSpPr/>
          <p:nvPr/>
        </p:nvSpPr>
        <p:spPr>
          <a:xfrm>
            <a:off x="5040660" y="3060502"/>
            <a:ext cx="3584972" cy="19050"/>
          </a:xfrm>
          <a:prstGeom prst="rect">
            <a:avLst/>
          </a:prstGeom>
          <a:solidFill>
            <a:srgbClr val="D2D9E1"/>
          </a:solidFill>
          <a:ln/>
        </p:spPr>
        <p:txBody>
          <a:bodyPr/>
          <a:lstStyle/>
          <a:p>
            <a:endParaRPr lang="ko-KR" altLang="en-US"/>
          </a:p>
        </p:txBody>
      </p:sp>
      <p:sp>
        <p:nvSpPr>
          <p:cNvPr id="8" name="Text 6"/>
          <p:cNvSpPr/>
          <p:nvPr/>
        </p:nvSpPr>
        <p:spPr>
          <a:xfrm>
            <a:off x="5196435" y="2641402"/>
            <a:ext cx="3273421" cy="342900"/>
          </a:xfrm>
          <a:prstGeom prst="rect">
            <a:avLst/>
          </a:prstGeom>
          <a:noFill/>
          <a:ln/>
        </p:spPr>
        <p:txBody>
          <a:bodyPr wrap="square" lIns="25400" tIns="25400" rIns="25400" bIns="25400" rtlCol="0" anchor="ctr">
            <a:normAutofit fontScale="92500" lnSpcReduction="10000"/>
          </a:bodyPr>
          <a:lstStyle/>
          <a:p>
            <a:pPr marL="0" indent="0" algn="ctr">
              <a:lnSpc>
                <a:spcPct val="150000"/>
              </a:lnSpc>
              <a:buNone/>
            </a:pPr>
            <a:r>
              <a:rPr lang="en-US" sz="1650" b="1" kern="0" spc="50" dirty="0">
                <a:solidFill>
                  <a:srgbClr val="51606D"/>
                </a:solidFill>
                <a:latin typeface="Arial" pitchFamily="34" charset="0"/>
                <a:ea typeface="Arial" pitchFamily="34" charset="-122"/>
                <a:cs typeface="Arial" pitchFamily="34" charset="-120"/>
              </a:rPr>
              <a:t>오탐 검출 (32개 중)</a:t>
            </a:r>
            <a:endParaRPr lang="en-US" sz="1650" dirty="0"/>
          </a:p>
        </p:txBody>
      </p:sp>
      <p:sp>
        <p:nvSpPr>
          <p:cNvPr id="9" name="Shape 7"/>
          <p:cNvSpPr/>
          <p:nvPr/>
        </p:nvSpPr>
        <p:spPr>
          <a:xfrm>
            <a:off x="8625632" y="3060502"/>
            <a:ext cx="1764060" cy="19050"/>
          </a:xfrm>
          <a:prstGeom prst="rect">
            <a:avLst/>
          </a:prstGeom>
          <a:solidFill>
            <a:srgbClr val="D2D9E1"/>
          </a:solidFill>
          <a:ln/>
        </p:spPr>
        <p:txBody>
          <a:bodyPr/>
          <a:lstStyle/>
          <a:p>
            <a:endParaRPr lang="ko-KR" altLang="en-US"/>
          </a:p>
        </p:txBody>
      </p:sp>
      <p:sp>
        <p:nvSpPr>
          <p:cNvPr id="10" name="Text 8"/>
          <p:cNvSpPr/>
          <p:nvPr/>
        </p:nvSpPr>
        <p:spPr>
          <a:xfrm>
            <a:off x="8797082" y="2641402"/>
            <a:ext cx="1421160" cy="342900"/>
          </a:xfrm>
          <a:prstGeom prst="rect">
            <a:avLst/>
          </a:prstGeom>
          <a:noFill/>
          <a:ln/>
        </p:spPr>
        <p:txBody>
          <a:bodyPr wrap="square" lIns="25400" tIns="25400" rIns="25400" bIns="25400" rtlCol="0" anchor="ctr">
            <a:normAutofit fontScale="92500" lnSpcReduction="10000"/>
          </a:bodyPr>
          <a:lstStyle/>
          <a:p>
            <a:pPr marL="0" indent="0" algn="ctr">
              <a:lnSpc>
                <a:spcPct val="150000"/>
              </a:lnSpc>
              <a:buNone/>
            </a:pPr>
            <a:r>
              <a:rPr lang="en-US" sz="1650" b="1" kern="0" spc="50" dirty="0">
                <a:solidFill>
                  <a:srgbClr val="51606D"/>
                </a:solidFill>
                <a:latin typeface="Arial" pitchFamily="34" charset="0"/>
                <a:ea typeface="Arial" pitchFamily="34" charset="-122"/>
                <a:cs typeface="Arial" pitchFamily="34" charset="-120"/>
              </a:rPr>
              <a:t>재현율</a:t>
            </a:r>
            <a:endParaRPr lang="en-US" sz="1650" dirty="0"/>
          </a:p>
        </p:txBody>
      </p:sp>
      <p:sp>
        <p:nvSpPr>
          <p:cNvPr id="11" name="Shape 9"/>
          <p:cNvSpPr/>
          <p:nvPr/>
        </p:nvSpPr>
        <p:spPr>
          <a:xfrm>
            <a:off x="10389691" y="3060502"/>
            <a:ext cx="2249984" cy="19050"/>
          </a:xfrm>
          <a:prstGeom prst="rect">
            <a:avLst/>
          </a:prstGeom>
          <a:solidFill>
            <a:srgbClr val="D2D9E1"/>
          </a:solidFill>
          <a:ln/>
        </p:spPr>
        <p:txBody>
          <a:bodyPr/>
          <a:lstStyle/>
          <a:p>
            <a:endParaRPr lang="ko-KR" altLang="en-US"/>
          </a:p>
        </p:txBody>
      </p:sp>
      <p:sp>
        <p:nvSpPr>
          <p:cNvPr id="12" name="Text 10"/>
          <p:cNvSpPr/>
          <p:nvPr/>
        </p:nvSpPr>
        <p:spPr>
          <a:xfrm>
            <a:off x="10523041" y="2641402"/>
            <a:ext cx="1907084" cy="342900"/>
          </a:xfrm>
          <a:prstGeom prst="rect">
            <a:avLst/>
          </a:prstGeom>
          <a:noFill/>
          <a:ln/>
        </p:spPr>
        <p:txBody>
          <a:bodyPr wrap="square" lIns="25400" tIns="25400" rIns="25400" bIns="25400" rtlCol="0" anchor="ctr">
            <a:normAutofit fontScale="92500" lnSpcReduction="10000"/>
          </a:bodyPr>
          <a:lstStyle/>
          <a:p>
            <a:pPr marL="0" indent="0" algn="r">
              <a:lnSpc>
                <a:spcPct val="150000"/>
              </a:lnSpc>
              <a:buNone/>
            </a:pPr>
            <a:r>
              <a:rPr lang="en-US" sz="1650" b="1" kern="0" spc="50" dirty="0">
                <a:solidFill>
                  <a:srgbClr val="51606D"/>
                </a:solidFill>
                <a:latin typeface="Arial" pitchFamily="34" charset="0"/>
                <a:ea typeface="Arial" pitchFamily="34" charset="-122"/>
                <a:cs typeface="Arial" pitchFamily="34" charset="-120"/>
              </a:rPr>
              <a:t>1 run 비용</a:t>
            </a:r>
            <a:endParaRPr lang="en-US" sz="1650" dirty="0"/>
          </a:p>
        </p:txBody>
      </p:sp>
      <p:sp>
        <p:nvSpPr>
          <p:cNvPr id="13" name="Shape 11"/>
          <p:cNvSpPr/>
          <p:nvPr/>
        </p:nvSpPr>
        <p:spPr>
          <a:xfrm>
            <a:off x="1076325" y="3865364"/>
            <a:ext cx="3964335" cy="9525"/>
          </a:xfrm>
          <a:prstGeom prst="rect">
            <a:avLst/>
          </a:prstGeom>
          <a:solidFill>
            <a:srgbClr val="D2D9E1"/>
          </a:solidFill>
          <a:ln/>
        </p:spPr>
        <p:txBody>
          <a:bodyPr/>
          <a:lstStyle/>
          <a:p>
            <a:endParaRPr lang="ko-KR" altLang="en-US"/>
          </a:p>
        </p:txBody>
      </p:sp>
      <p:sp>
        <p:nvSpPr>
          <p:cNvPr id="14" name="Text 12"/>
          <p:cNvSpPr/>
          <p:nvPr/>
        </p:nvSpPr>
        <p:spPr>
          <a:xfrm>
            <a:off x="1285875" y="3241477"/>
            <a:ext cx="3664165" cy="500062"/>
          </a:xfrm>
          <a:prstGeom prst="rect">
            <a:avLst/>
          </a:prstGeom>
          <a:noFill/>
          <a:ln/>
        </p:spPr>
        <p:txBody>
          <a:bodyPr wrap="square" lIns="25400" tIns="25400" rIns="25400" bIns="25400" rtlCol="0" anchor="ctr">
            <a:normAutofit fontScale="92500"/>
          </a:bodyPr>
          <a:lstStyle/>
          <a:p>
            <a:pPr marL="0" indent="0" algn="l">
              <a:lnSpc>
                <a:spcPct val="150000"/>
              </a:lnSpc>
              <a:buNone/>
            </a:pPr>
            <a:r>
              <a:rPr lang="en-US" sz="2400" dirty="0">
                <a:solidFill>
                  <a:srgbClr val="1A212B"/>
                </a:solidFill>
                <a:latin typeface="Arial" pitchFamily="34" charset="0"/>
                <a:ea typeface="Arial" pitchFamily="34" charset="-122"/>
                <a:cs typeface="Arial" pitchFamily="34" charset="-120"/>
              </a:rPr>
              <a:t>opus · opus</a:t>
            </a:r>
            <a:endParaRPr lang="en-US" sz="2400" dirty="0"/>
          </a:p>
        </p:txBody>
      </p:sp>
      <p:sp>
        <p:nvSpPr>
          <p:cNvPr id="15" name="Shape 13"/>
          <p:cNvSpPr/>
          <p:nvPr/>
        </p:nvSpPr>
        <p:spPr>
          <a:xfrm>
            <a:off x="5040660" y="3865364"/>
            <a:ext cx="3584972" cy="9525"/>
          </a:xfrm>
          <a:prstGeom prst="rect">
            <a:avLst/>
          </a:prstGeom>
          <a:solidFill>
            <a:srgbClr val="D2D9E1"/>
          </a:solidFill>
          <a:ln/>
        </p:spPr>
        <p:txBody>
          <a:bodyPr/>
          <a:lstStyle/>
          <a:p>
            <a:endParaRPr lang="ko-KR" altLang="en-US"/>
          </a:p>
        </p:txBody>
      </p:sp>
      <p:sp>
        <p:nvSpPr>
          <p:cNvPr id="16" name="Text 14"/>
          <p:cNvSpPr/>
          <p:nvPr/>
        </p:nvSpPr>
        <p:spPr>
          <a:xfrm>
            <a:off x="5196435" y="3241477"/>
            <a:ext cx="3273421" cy="500062"/>
          </a:xfrm>
          <a:prstGeom prst="rect">
            <a:avLst/>
          </a:prstGeom>
          <a:noFill/>
          <a:ln/>
        </p:spPr>
        <p:txBody>
          <a:bodyPr wrap="square" lIns="25400" tIns="25400" rIns="25400" bIns="25400" rtlCol="0" anchor="ctr">
            <a:normAutofit fontScale="92500"/>
          </a:bodyPr>
          <a:lstStyle/>
          <a:p>
            <a:pPr marL="0" indent="0" algn="ctr">
              <a:lnSpc>
                <a:spcPct val="150000"/>
              </a:lnSpc>
              <a:buNone/>
            </a:pPr>
            <a:r>
              <a:rPr lang="en-US" sz="2400" b="1" dirty="0">
                <a:solidFill>
                  <a:srgbClr val="1F9D57"/>
                </a:solidFill>
                <a:latin typeface="Arial" pitchFamily="34" charset="0"/>
                <a:ea typeface="Arial" pitchFamily="34" charset="-122"/>
                <a:cs typeface="Arial" pitchFamily="34" charset="-120"/>
              </a:rPr>
              <a:t>30</a:t>
            </a:r>
            <a:endParaRPr lang="en-US" sz="2400" dirty="0"/>
          </a:p>
        </p:txBody>
      </p:sp>
      <p:sp>
        <p:nvSpPr>
          <p:cNvPr id="17" name="Shape 15"/>
          <p:cNvSpPr/>
          <p:nvPr/>
        </p:nvSpPr>
        <p:spPr>
          <a:xfrm>
            <a:off x="8625632" y="3865364"/>
            <a:ext cx="1764060" cy="9525"/>
          </a:xfrm>
          <a:prstGeom prst="rect">
            <a:avLst/>
          </a:prstGeom>
          <a:solidFill>
            <a:srgbClr val="D2D9E1"/>
          </a:solidFill>
          <a:ln/>
        </p:spPr>
        <p:txBody>
          <a:bodyPr/>
          <a:lstStyle/>
          <a:p>
            <a:endParaRPr lang="ko-KR" altLang="en-US"/>
          </a:p>
        </p:txBody>
      </p:sp>
      <p:sp>
        <p:nvSpPr>
          <p:cNvPr id="18" name="Text 16"/>
          <p:cNvSpPr/>
          <p:nvPr/>
        </p:nvSpPr>
        <p:spPr>
          <a:xfrm>
            <a:off x="8797082" y="3241477"/>
            <a:ext cx="1421160" cy="500062"/>
          </a:xfrm>
          <a:prstGeom prst="rect">
            <a:avLst/>
          </a:prstGeom>
          <a:noFill/>
          <a:ln/>
        </p:spPr>
        <p:txBody>
          <a:bodyPr wrap="square" lIns="25400" tIns="25400" rIns="25400" bIns="25400" rtlCol="0" anchor="ctr">
            <a:normAutofit fontScale="92500"/>
          </a:bodyPr>
          <a:lstStyle/>
          <a:p>
            <a:pPr marL="0" indent="0" algn="ctr">
              <a:lnSpc>
                <a:spcPct val="150000"/>
              </a:lnSpc>
              <a:buNone/>
            </a:pPr>
            <a:r>
              <a:rPr lang="en-US" sz="2400" dirty="0">
                <a:solidFill>
                  <a:srgbClr val="1A212B"/>
                </a:solidFill>
                <a:latin typeface="Arial" pitchFamily="34" charset="0"/>
                <a:ea typeface="Arial" pitchFamily="34" charset="-122"/>
                <a:cs typeface="Arial" pitchFamily="34" charset="-120"/>
              </a:rPr>
              <a:t>94%</a:t>
            </a:r>
            <a:endParaRPr lang="en-US" sz="2400" dirty="0"/>
          </a:p>
        </p:txBody>
      </p:sp>
      <p:sp>
        <p:nvSpPr>
          <p:cNvPr id="19" name="Shape 17"/>
          <p:cNvSpPr/>
          <p:nvPr/>
        </p:nvSpPr>
        <p:spPr>
          <a:xfrm>
            <a:off x="10389691" y="3865364"/>
            <a:ext cx="2249984" cy="9525"/>
          </a:xfrm>
          <a:prstGeom prst="rect">
            <a:avLst/>
          </a:prstGeom>
          <a:solidFill>
            <a:srgbClr val="D2D9E1"/>
          </a:solidFill>
          <a:ln/>
        </p:spPr>
        <p:txBody>
          <a:bodyPr/>
          <a:lstStyle/>
          <a:p>
            <a:endParaRPr lang="ko-KR" altLang="en-US"/>
          </a:p>
        </p:txBody>
      </p:sp>
      <p:sp>
        <p:nvSpPr>
          <p:cNvPr id="20" name="Text 18"/>
          <p:cNvSpPr/>
          <p:nvPr/>
        </p:nvSpPr>
        <p:spPr>
          <a:xfrm>
            <a:off x="10523041" y="3241477"/>
            <a:ext cx="1907084" cy="500062"/>
          </a:xfrm>
          <a:prstGeom prst="rect">
            <a:avLst/>
          </a:prstGeom>
          <a:noFill/>
          <a:ln/>
        </p:spPr>
        <p:txBody>
          <a:bodyPr wrap="square" lIns="25400" tIns="25400" rIns="25400" bIns="25400" rtlCol="0" anchor="ctr">
            <a:normAutofit fontScale="92500"/>
          </a:bodyPr>
          <a:lstStyle/>
          <a:p>
            <a:pPr marL="0" indent="0" algn="r">
              <a:lnSpc>
                <a:spcPct val="150000"/>
              </a:lnSpc>
              <a:buNone/>
            </a:pPr>
            <a:r>
              <a:rPr lang="en-US" sz="2400" dirty="0">
                <a:solidFill>
                  <a:srgbClr val="1A212B"/>
                </a:solidFill>
                <a:latin typeface="Arial" pitchFamily="34" charset="0"/>
                <a:ea typeface="Arial" pitchFamily="34" charset="-122"/>
                <a:cs typeface="Arial" pitchFamily="34" charset="-120"/>
              </a:rPr>
              <a:t>$0.57</a:t>
            </a:r>
            <a:endParaRPr lang="en-US" sz="2400" dirty="0"/>
          </a:p>
        </p:txBody>
      </p:sp>
      <p:sp>
        <p:nvSpPr>
          <p:cNvPr id="21" name="Shape 19"/>
          <p:cNvSpPr/>
          <p:nvPr/>
        </p:nvSpPr>
        <p:spPr>
          <a:xfrm>
            <a:off x="1076325" y="4655939"/>
            <a:ext cx="3964335" cy="9525"/>
          </a:xfrm>
          <a:prstGeom prst="rect">
            <a:avLst/>
          </a:prstGeom>
          <a:solidFill>
            <a:srgbClr val="D2D9E1"/>
          </a:solidFill>
          <a:ln/>
        </p:spPr>
        <p:txBody>
          <a:bodyPr/>
          <a:lstStyle/>
          <a:p>
            <a:endParaRPr lang="ko-KR" altLang="en-US"/>
          </a:p>
        </p:txBody>
      </p:sp>
      <p:sp>
        <p:nvSpPr>
          <p:cNvPr id="22" name="Text 20"/>
          <p:cNvSpPr/>
          <p:nvPr/>
        </p:nvSpPr>
        <p:spPr>
          <a:xfrm>
            <a:off x="1285875" y="4036814"/>
            <a:ext cx="3664165" cy="495300"/>
          </a:xfrm>
          <a:prstGeom prst="rect">
            <a:avLst/>
          </a:prstGeom>
          <a:noFill/>
          <a:ln/>
        </p:spPr>
        <p:txBody>
          <a:bodyPr wrap="square" lIns="25400" tIns="25400" rIns="25400" bIns="25400" rtlCol="0" anchor="ctr">
            <a:normAutofit fontScale="92500" lnSpcReduction="10000"/>
          </a:bodyPr>
          <a:lstStyle/>
          <a:p>
            <a:pPr marL="0" indent="0" algn="l">
              <a:lnSpc>
                <a:spcPct val="150000"/>
              </a:lnSpc>
              <a:buNone/>
            </a:pPr>
            <a:r>
              <a:rPr lang="en-US" sz="2400" dirty="0">
                <a:solidFill>
                  <a:srgbClr val="1A212B"/>
                </a:solidFill>
                <a:latin typeface="Arial" pitchFamily="34" charset="0"/>
                <a:ea typeface="Arial" pitchFamily="34" charset="-122"/>
                <a:cs typeface="Arial" pitchFamily="34" charset="-120"/>
              </a:rPr>
              <a:t>sonnet · opus</a:t>
            </a:r>
            <a:endParaRPr lang="en-US" sz="2400" dirty="0"/>
          </a:p>
        </p:txBody>
      </p:sp>
      <p:sp>
        <p:nvSpPr>
          <p:cNvPr id="23" name="Shape 21"/>
          <p:cNvSpPr/>
          <p:nvPr/>
        </p:nvSpPr>
        <p:spPr>
          <a:xfrm>
            <a:off x="5040660" y="4655939"/>
            <a:ext cx="3584972" cy="9525"/>
          </a:xfrm>
          <a:prstGeom prst="rect">
            <a:avLst/>
          </a:prstGeom>
          <a:solidFill>
            <a:srgbClr val="D2D9E1"/>
          </a:solidFill>
          <a:ln/>
        </p:spPr>
        <p:txBody>
          <a:bodyPr/>
          <a:lstStyle/>
          <a:p>
            <a:endParaRPr lang="ko-KR" altLang="en-US"/>
          </a:p>
        </p:txBody>
      </p:sp>
      <p:sp>
        <p:nvSpPr>
          <p:cNvPr id="24" name="Text 22"/>
          <p:cNvSpPr/>
          <p:nvPr/>
        </p:nvSpPr>
        <p:spPr>
          <a:xfrm>
            <a:off x="5196435" y="4036814"/>
            <a:ext cx="3273421" cy="495300"/>
          </a:xfrm>
          <a:prstGeom prst="rect">
            <a:avLst/>
          </a:prstGeom>
          <a:noFill/>
          <a:ln/>
        </p:spPr>
        <p:txBody>
          <a:bodyPr wrap="square" lIns="25400" tIns="25400" rIns="25400" bIns="25400" rtlCol="0" anchor="ctr">
            <a:normAutofit fontScale="92500" lnSpcReduction="10000"/>
          </a:bodyPr>
          <a:lstStyle/>
          <a:p>
            <a:pPr marL="0" indent="0" algn="ctr">
              <a:lnSpc>
                <a:spcPct val="150000"/>
              </a:lnSpc>
              <a:buNone/>
            </a:pPr>
            <a:r>
              <a:rPr lang="en-US" sz="2400" dirty="0">
                <a:solidFill>
                  <a:srgbClr val="1A212B"/>
                </a:solidFill>
                <a:latin typeface="Arial" pitchFamily="34" charset="0"/>
                <a:ea typeface="Arial" pitchFamily="34" charset="-122"/>
                <a:cs typeface="Arial" pitchFamily="34" charset="-120"/>
              </a:rPr>
              <a:t>28</a:t>
            </a:r>
            <a:endParaRPr lang="en-US" sz="2400" dirty="0"/>
          </a:p>
        </p:txBody>
      </p:sp>
      <p:sp>
        <p:nvSpPr>
          <p:cNvPr id="25" name="Shape 23"/>
          <p:cNvSpPr/>
          <p:nvPr/>
        </p:nvSpPr>
        <p:spPr>
          <a:xfrm>
            <a:off x="8625632" y="4655939"/>
            <a:ext cx="1764060" cy="9525"/>
          </a:xfrm>
          <a:prstGeom prst="rect">
            <a:avLst/>
          </a:prstGeom>
          <a:solidFill>
            <a:srgbClr val="D2D9E1"/>
          </a:solidFill>
          <a:ln/>
        </p:spPr>
        <p:txBody>
          <a:bodyPr/>
          <a:lstStyle/>
          <a:p>
            <a:endParaRPr lang="ko-KR" altLang="en-US"/>
          </a:p>
        </p:txBody>
      </p:sp>
      <p:sp>
        <p:nvSpPr>
          <p:cNvPr id="26" name="Text 24"/>
          <p:cNvSpPr/>
          <p:nvPr/>
        </p:nvSpPr>
        <p:spPr>
          <a:xfrm>
            <a:off x="8797082" y="4036814"/>
            <a:ext cx="1421160" cy="495300"/>
          </a:xfrm>
          <a:prstGeom prst="rect">
            <a:avLst/>
          </a:prstGeom>
          <a:noFill/>
          <a:ln/>
        </p:spPr>
        <p:txBody>
          <a:bodyPr wrap="square" lIns="25400" tIns="25400" rIns="25400" bIns="25400" rtlCol="0" anchor="ctr">
            <a:normAutofit fontScale="92500" lnSpcReduction="10000"/>
          </a:bodyPr>
          <a:lstStyle/>
          <a:p>
            <a:pPr marL="0" indent="0" algn="ctr">
              <a:lnSpc>
                <a:spcPct val="150000"/>
              </a:lnSpc>
              <a:buNone/>
            </a:pPr>
            <a:r>
              <a:rPr lang="en-US" sz="2400" dirty="0">
                <a:solidFill>
                  <a:srgbClr val="1A212B"/>
                </a:solidFill>
                <a:latin typeface="Arial" pitchFamily="34" charset="0"/>
                <a:ea typeface="Arial" pitchFamily="34" charset="-122"/>
                <a:cs typeface="Arial" pitchFamily="34" charset="-120"/>
              </a:rPr>
              <a:t>88%</a:t>
            </a:r>
            <a:endParaRPr lang="en-US" sz="2400" dirty="0"/>
          </a:p>
        </p:txBody>
      </p:sp>
      <p:sp>
        <p:nvSpPr>
          <p:cNvPr id="27" name="Shape 25"/>
          <p:cNvSpPr/>
          <p:nvPr/>
        </p:nvSpPr>
        <p:spPr>
          <a:xfrm>
            <a:off x="10389691" y="4655939"/>
            <a:ext cx="2249984" cy="9525"/>
          </a:xfrm>
          <a:prstGeom prst="rect">
            <a:avLst/>
          </a:prstGeom>
          <a:solidFill>
            <a:srgbClr val="D2D9E1"/>
          </a:solidFill>
          <a:ln/>
        </p:spPr>
        <p:txBody>
          <a:bodyPr/>
          <a:lstStyle/>
          <a:p>
            <a:endParaRPr lang="ko-KR" altLang="en-US"/>
          </a:p>
        </p:txBody>
      </p:sp>
      <p:sp>
        <p:nvSpPr>
          <p:cNvPr id="28" name="Text 26"/>
          <p:cNvSpPr/>
          <p:nvPr/>
        </p:nvSpPr>
        <p:spPr>
          <a:xfrm>
            <a:off x="10523041" y="4036814"/>
            <a:ext cx="1907084" cy="495300"/>
          </a:xfrm>
          <a:prstGeom prst="rect">
            <a:avLst/>
          </a:prstGeom>
          <a:noFill/>
          <a:ln/>
        </p:spPr>
        <p:txBody>
          <a:bodyPr wrap="square" lIns="25400" tIns="25400" rIns="25400" bIns="25400" rtlCol="0" anchor="ctr">
            <a:normAutofit fontScale="92500" lnSpcReduction="10000"/>
          </a:bodyPr>
          <a:lstStyle/>
          <a:p>
            <a:pPr marL="0" indent="0" algn="r">
              <a:lnSpc>
                <a:spcPct val="150000"/>
              </a:lnSpc>
              <a:buNone/>
            </a:pPr>
            <a:r>
              <a:rPr lang="en-US" sz="2400" dirty="0">
                <a:solidFill>
                  <a:srgbClr val="1A212B"/>
                </a:solidFill>
                <a:latin typeface="Arial" pitchFamily="34" charset="0"/>
                <a:ea typeface="Arial" pitchFamily="34" charset="-122"/>
                <a:cs typeface="Arial" pitchFamily="34" charset="-120"/>
              </a:rPr>
              <a:t>$0.60</a:t>
            </a:r>
            <a:endParaRPr lang="en-US" sz="2400" dirty="0"/>
          </a:p>
        </p:txBody>
      </p:sp>
      <p:sp>
        <p:nvSpPr>
          <p:cNvPr id="29" name="Text 27"/>
          <p:cNvSpPr/>
          <p:nvPr/>
        </p:nvSpPr>
        <p:spPr>
          <a:xfrm>
            <a:off x="1285875" y="4827389"/>
            <a:ext cx="3664165" cy="500062"/>
          </a:xfrm>
          <a:prstGeom prst="rect">
            <a:avLst/>
          </a:prstGeom>
          <a:noFill/>
          <a:ln/>
        </p:spPr>
        <p:txBody>
          <a:bodyPr wrap="square" lIns="25400" tIns="25400" rIns="25400" bIns="25400" rtlCol="0" anchor="ctr">
            <a:normAutofit fontScale="92500"/>
          </a:bodyPr>
          <a:lstStyle/>
          <a:p>
            <a:pPr marL="0" indent="0" algn="l">
              <a:lnSpc>
                <a:spcPct val="150000"/>
              </a:lnSpc>
              <a:buNone/>
            </a:pPr>
            <a:r>
              <a:rPr lang="en-US" sz="2400" dirty="0">
                <a:solidFill>
                  <a:srgbClr val="1A212B"/>
                </a:solidFill>
                <a:latin typeface="Arial" pitchFamily="34" charset="0"/>
                <a:ea typeface="Arial" pitchFamily="34" charset="-122"/>
                <a:cs typeface="Arial" pitchFamily="34" charset="-120"/>
              </a:rPr>
              <a:t>haiku · sonnet</a:t>
            </a:r>
            <a:endParaRPr lang="en-US" sz="2400" dirty="0"/>
          </a:p>
        </p:txBody>
      </p:sp>
      <p:sp>
        <p:nvSpPr>
          <p:cNvPr id="30" name="Text 28"/>
          <p:cNvSpPr/>
          <p:nvPr/>
        </p:nvSpPr>
        <p:spPr>
          <a:xfrm>
            <a:off x="5196435" y="4827389"/>
            <a:ext cx="3273421" cy="500062"/>
          </a:xfrm>
          <a:prstGeom prst="rect">
            <a:avLst/>
          </a:prstGeom>
          <a:noFill/>
          <a:ln/>
        </p:spPr>
        <p:txBody>
          <a:bodyPr wrap="square" lIns="25400" tIns="25400" rIns="25400" bIns="25400" rtlCol="0" anchor="ctr">
            <a:normAutofit fontScale="92500"/>
          </a:bodyPr>
          <a:lstStyle/>
          <a:p>
            <a:pPr marL="0" indent="0" algn="ctr">
              <a:lnSpc>
                <a:spcPct val="150000"/>
              </a:lnSpc>
              <a:buNone/>
            </a:pPr>
            <a:r>
              <a:rPr lang="en-US" sz="2400" b="1" dirty="0">
                <a:solidFill>
                  <a:srgbClr val="D6403D"/>
                </a:solidFill>
                <a:latin typeface="Arial" pitchFamily="34" charset="0"/>
                <a:ea typeface="Arial" pitchFamily="34" charset="-122"/>
                <a:cs typeface="Arial" pitchFamily="34" charset="-120"/>
              </a:rPr>
              <a:t>24</a:t>
            </a:r>
            <a:endParaRPr lang="en-US" sz="2400" dirty="0"/>
          </a:p>
        </p:txBody>
      </p:sp>
      <p:sp>
        <p:nvSpPr>
          <p:cNvPr id="31" name="Text 29"/>
          <p:cNvSpPr/>
          <p:nvPr/>
        </p:nvSpPr>
        <p:spPr>
          <a:xfrm>
            <a:off x="8797082" y="4827389"/>
            <a:ext cx="1421160" cy="500062"/>
          </a:xfrm>
          <a:prstGeom prst="rect">
            <a:avLst/>
          </a:prstGeom>
          <a:noFill/>
          <a:ln/>
        </p:spPr>
        <p:txBody>
          <a:bodyPr wrap="square" lIns="25400" tIns="25400" rIns="25400" bIns="25400" rtlCol="0" anchor="ctr">
            <a:normAutofit fontScale="92500"/>
          </a:bodyPr>
          <a:lstStyle/>
          <a:p>
            <a:pPr marL="0" indent="0" algn="ctr">
              <a:lnSpc>
                <a:spcPct val="150000"/>
              </a:lnSpc>
              <a:buNone/>
            </a:pPr>
            <a:r>
              <a:rPr lang="en-US" sz="2400" dirty="0">
                <a:solidFill>
                  <a:srgbClr val="1A212B"/>
                </a:solidFill>
                <a:latin typeface="Arial" pitchFamily="34" charset="0"/>
                <a:ea typeface="Arial" pitchFamily="34" charset="-122"/>
                <a:cs typeface="Arial" pitchFamily="34" charset="-120"/>
              </a:rPr>
              <a:t>75%</a:t>
            </a:r>
            <a:endParaRPr lang="en-US" sz="2400" dirty="0"/>
          </a:p>
        </p:txBody>
      </p:sp>
      <p:sp>
        <p:nvSpPr>
          <p:cNvPr id="32" name="Text 30"/>
          <p:cNvSpPr/>
          <p:nvPr/>
        </p:nvSpPr>
        <p:spPr>
          <a:xfrm>
            <a:off x="10523041" y="4827389"/>
            <a:ext cx="1907084" cy="500062"/>
          </a:xfrm>
          <a:prstGeom prst="rect">
            <a:avLst/>
          </a:prstGeom>
          <a:noFill/>
          <a:ln/>
        </p:spPr>
        <p:txBody>
          <a:bodyPr wrap="square" lIns="25400" tIns="25400" rIns="25400" bIns="25400" rtlCol="0" anchor="ctr">
            <a:normAutofit fontScale="92500"/>
          </a:bodyPr>
          <a:lstStyle/>
          <a:p>
            <a:pPr marL="0" indent="0" algn="r">
              <a:lnSpc>
                <a:spcPct val="150000"/>
              </a:lnSpc>
              <a:buNone/>
            </a:pPr>
            <a:r>
              <a:rPr lang="en-US" sz="2400" dirty="0">
                <a:solidFill>
                  <a:srgbClr val="B97C0A"/>
                </a:solidFill>
                <a:latin typeface="Arial" pitchFamily="34" charset="0"/>
                <a:ea typeface="Arial" pitchFamily="34" charset="-122"/>
                <a:cs typeface="Arial" pitchFamily="34" charset="-120"/>
              </a:rPr>
              <a:t>$0.40</a:t>
            </a:r>
            <a:endParaRPr lang="en-US" sz="2400" dirty="0"/>
          </a:p>
        </p:txBody>
      </p:sp>
      <p:sp>
        <p:nvSpPr>
          <p:cNvPr id="33" name="Text 31"/>
          <p:cNvSpPr/>
          <p:nvPr/>
        </p:nvSpPr>
        <p:spPr>
          <a:xfrm>
            <a:off x="800100" y="5918338"/>
            <a:ext cx="13112755" cy="56673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2775" b="1" dirty="0">
                <a:solidFill>
                  <a:srgbClr val="1A212B"/>
                </a:solidFill>
                <a:latin typeface="Arial" pitchFamily="34" charset="0"/>
                <a:ea typeface="Arial" pitchFamily="34" charset="-122"/>
                <a:cs typeface="Arial" pitchFamily="34" charset="-120"/>
              </a:rPr>
              <a:t>가장 싼 세트가 최선이 아닙니다 — 더 똑똑한 judge가 전체 비용을 낮춥니다</a:t>
            </a:r>
            <a:endParaRPr lang="en-US" sz="2775" dirty="0"/>
          </a:p>
        </p:txBody>
      </p:sp>
      <p:sp>
        <p:nvSpPr>
          <p:cNvPr id="34" name="Text 32"/>
          <p:cNvSpPr/>
          <p:nvPr/>
        </p:nvSpPr>
        <p:spPr>
          <a:xfrm>
            <a:off x="800100" y="6599376"/>
            <a:ext cx="13112755" cy="39528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75" dirty="0">
                <a:solidFill>
                  <a:srgbClr val="51606D"/>
                </a:solidFill>
                <a:latin typeface="Arial" pitchFamily="34" charset="0"/>
                <a:ea typeface="Arial" pitchFamily="34" charset="-122"/>
                <a:cs typeface="Arial" pitchFamily="34" charset="-120"/>
              </a:rPr>
              <a:t>놓친 오탐 1건의 진짜 비용 = 멀쩡한 코드 변경 + 그걸 걸러내는 사람의 리뷰 시간</a:t>
            </a:r>
            <a:endParaRPr lang="en-US" sz="1875" dirty="0"/>
          </a:p>
        </p:txBody>
      </p:sp>
      <p:sp>
        <p:nvSpPr>
          <p:cNvPr id="35" name="Text 33"/>
          <p:cNvSpPr/>
          <p:nvPr/>
        </p:nvSpPr>
        <p:spPr>
          <a:xfrm>
            <a:off x="800100" y="7108963"/>
            <a:ext cx="13112755" cy="39528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75" dirty="0">
                <a:solidFill>
                  <a:srgbClr val="51606D"/>
                </a:solidFill>
                <a:latin typeface="Arial" pitchFamily="34" charset="0"/>
                <a:ea typeface="Arial" pitchFamily="34" charset="-122"/>
                <a:cs typeface="Arial" pitchFamily="34" charset="-120"/>
              </a:rPr>
              <a:t>전략도 같은 결론 — </a:t>
            </a:r>
            <a:r>
              <a:rPr lang="en-US" sz="1875" dirty="0">
                <a:solidFill>
                  <a:srgbClr val="1A212B"/>
                </a:solidFill>
                <a:latin typeface="Arial" pitchFamily="34" charset="0"/>
                <a:ea typeface="Arial" pitchFamily="34" charset="-122"/>
                <a:cs typeface="Arial" pitchFamily="34" charset="-120"/>
              </a:rPr>
              <a:t>triage_review </a:t>
            </a:r>
            <a:r>
              <a:rPr lang="en-US" sz="1875" dirty="0">
                <a:solidFill>
                  <a:srgbClr val="51606D"/>
                </a:solidFill>
                <a:latin typeface="Arial" pitchFamily="34" charset="0"/>
                <a:ea typeface="Arial" pitchFamily="34" charset="-122"/>
                <a:cs typeface="Arial" pitchFamily="34" charset="-120"/>
              </a:rPr>
              <a:t>(judge 판정 → fixer 수정 → judge 리뷰, 3패스)가 재현율·정밀도 모두 최고 — 운영 기본값</a:t>
            </a:r>
            <a:endParaRPr lang="en-US" sz="1875" dirty="0"/>
          </a:p>
        </p:txBody>
      </p:sp>
      <p:sp>
        <p:nvSpPr>
          <p:cNvPr id="36" name="Shape 34"/>
          <p:cNvSpPr/>
          <p:nvPr/>
        </p:nvSpPr>
        <p:spPr>
          <a:xfrm>
            <a:off x="800100" y="7660824"/>
            <a:ext cx="12115800" cy="1000125"/>
          </a:xfrm>
          <a:prstGeom prst="roundRect">
            <a:avLst>
              <a:gd name="adj" fmla="val 13333"/>
            </a:avLst>
          </a:prstGeom>
          <a:solidFill>
            <a:srgbClr val="E07F00">
              <a:alpha val="6000"/>
            </a:srgbClr>
          </a:solidFill>
          <a:ln w="9525">
            <a:solidFill>
              <a:srgbClr val="E07F00">
                <a:alpha val="49000"/>
              </a:srgbClr>
            </a:solidFill>
            <a:prstDash val="dash"/>
          </a:ln>
        </p:spPr>
        <p:txBody>
          <a:bodyPr/>
          <a:lstStyle/>
          <a:p>
            <a:endParaRPr lang="ko-KR" altLang="en-US"/>
          </a:p>
        </p:txBody>
      </p:sp>
      <p:sp>
        <p:nvSpPr>
          <p:cNvPr id="37" name="Shape 35"/>
          <p:cNvSpPr/>
          <p:nvPr/>
        </p:nvSpPr>
        <p:spPr>
          <a:xfrm>
            <a:off x="1114425" y="7963242"/>
            <a:ext cx="898624" cy="395288"/>
          </a:xfrm>
          <a:prstGeom prst="roundRect">
            <a:avLst>
              <a:gd name="adj" fmla="val 19277"/>
            </a:avLst>
          </a:prstGeom>
          <a:ln w="9525">
            <a:solidFill>
              <a:srgbClr val="E07F00">
                <a:alpha val="50000"/>
              </a:srgbClr>
            </a:solidFill>
            <a:prstDash val="solid"/>
          </a:ln>
        </p:spPr>
        <p:txBody>
          <a:bodyPr/>
          <a:lstStyle/>
          <a:p>
            <a:endParaRPr lang="ko-KR" altLang="en-US"/>
          </a:p>
        </p:txBody>
      </p:sp>
      <p:sp>
        <p:nvSpPr>
          <p:cNvPr id="38" name="Text 36"/>
          <p:cNvSpPr/>
          <p:nvPr/>
        </p:nvSpPr>
        <p:spPr>
          <a:xfrm>
            <a:off x="1257300" y="8010867"/>
            <a:ext cx="689074" cy="338138"/>
          </a:xfrm>
          <a:prstGeom prst="rect">
            <a:avLst/>
          </a:prstGeom>
          <a:noFill/>
          <a:ln/>
        </p:spPr>
        <p:txBody>
          <a:bodyPr wrap="square" lIns="25400" tIns="25400" rIns="25400" bIns="25400" rtlCol="0" anchor="t">
            <a:normAutofit fontScale="85000" lnSpcReduction="10000"/>
          </a:bodyPr>
          <a:lstStyle/>
          <a:p>
            <a:pPr marL="0" indent="0" algn="l">
              <a:lnSpc>
                <a:spcPct val="150000"/>
              </a:lnSpc>
              <a:buNone/>
            </a:pPr>
            <a:r>
              <a:rPr lang="en-US" sz="1575" b="1" kern="0" spc="95" dirty="0">
                <a:solidFill>
                  <a:srgbClr val="E07F00"/>
                </a:solidFill>
                <a:latin typeface="Arial" pitchFamily="34" charset="0"/>
                <a:ea typeface="Arial" pitchFamily="34" charset="-122"/>
                <a:cs typeface="Arial" pitchFamily="34" charset="-120"/>
              </a:rPr>
              <a:t>진행 중</a:t>
            </a:r>
            <a:endParaRPr lang="en-US" sz="1575" dirty="0"/>
          </a:p>
        </p:txBody>
      </p:sp>
      <p:sp>
        <p:nvSpPr>
          <p:cNvPr id="39" name="Text 37"/>
          <p:cNvSpPr/>
          <p:nvPr/>
        </p:nvSpPr>
        <p:spPr>
          <a:xfrm>
            <a:off x="2222599" y="7803699"/>
            <a:ext cx="10690345" cy="752475"/>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75" dirty="0">
                <a:solidFill>
                  <a:srgbClr val="51606D"/>
                </a:solidFill>
                <a:latin typeface="Arial" pitchFamily="34" charset="0"/>
                <a:ea typeface="Arial" pitchFamily="34" charset="-122"/>
                <a:cs typeface="Arial" pitchFamily="34" charset="-120"/>
              </a:rPr>
              <a:t>측정 한계 — 이 코퍼스는 </a:t>
            </a:r>
            <a:r>
              <a:rPr lang="en-US" sz="1875" b="1" dirty="0">
                <a:solidFill>
                  <a:srgbClr val="1A212B"/>
                </a:solidFill>
                <a:latin typeface="Arial" pitchFamily="34" charset="0"/>
                <a:ea typeface="Arial" pitchFamily="34" charset="-122"/>
                <a:cs typeface="Arial" pitchFamily="34" charset="-120"/>
              </a:rPr>
              <a:t>전부 오탐</a:t>
            </a:r>
            <a:r>
              <a:rPr lang="en-US" sz="1875" dirty="0">
                <a:solidFill>
                  <a:srgbClr val="51606D"/>
                </a:solidFill>
                <a:latin typeface="Arial" pitchFamily="34" charset="0"/>
                <a:ea typeface="Arial" pitchFamily="34" charset="-122"/>
                <a:cs typeface="Arial" pitchFamily="34" charset="-120"/>
              </a:rPr>
              <a:t>이라 재현율만 측정됨. 실결함을 오탐으로 놓치는 비율은 </a:t>
            </a:r>
            <a:r>
              <a:rPr lang="en-US" sz="1875" b="1" dirty="0">
                <a:solidFill>
                  <a:srgbClr val="1A212B"/>
                </a:solidFill>
                <a:latin typeface="Arial" pitchFamily="34" charset="0"/>
                <a:ea typeface="Arial" pitchFamily="34" charset="-122"/>
                <a:cs typeface="Arial" pitchFamily="34" charset="-120"/>
              </a:rPr>
              <a:t>실결함 혼합 코퍼스 </a:t>
            </a:r>
            <a:r>
              <a:rPr lang="en-US" sz="1875" dirty="0">
                <a:solidFill>
                  <a:srgbClr val="51606D"/>
                </a:solidFill>
                <a:latin typeface="Arial" pitchFamily="34" charset="0"/>
                <a:ea typeface="Arial" pitchFamily="34" charset="-122"/>
                <a:cs typeface="Arial" pitchFamily="34" charset="-120"/>
              </a:rPr>
              <a:t>벤치마크로 측정 중</a:t>
            </a:r>
            <a:endParaRPr lang="en-US" sz="1875" dirty="0"/>
          </a:p>
        </p:txBody>
      </p:sp>
      <p:sp>
        <p:nvSpPr>
          <p:cNvPr id="40" name="Text 38"/>
          <p:cNvSpPr/>
          <p:nvPr/>
        </p:nvSpPr>
        <p:spPr>
          <a:xfrm>
            <a:off x="800100" y="8827889"/>
            <a:ext cx="7690731" cy="338138"/>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575" dirty="0">
                <a:solidFill>
                  <a:srgbClr val="E07F00"/>
                </a:solidFill>
                <a:latin typeface="Arial" pitchFamily="34" charset="0"/>
                <a:ea typeface="Arial" pitchFamily="34" charset="-122"/>
                <a:cs typeface="Arial" pitchFamily="34" charset="-120"/>
              </a:rPr>
              <a:t>* 재현율 </a:t>
            </a:r>
            <a:r>
              <a:rPr lang="en-US" sz="1575" dirty="0">
                <a:solidFill>
                  <a:srgbClr val="76828F"/>
                </a:solidFill>
                <a:latin typeface="Arial" pitchFamily="34" charset="0"/>
                <a:ea typeface="Arial" pitchFamily="34" charset="-122"/>
                <a:cs typeface="Arial" pitchFamily="34" charset="-120"/>
              </a:rPr>
              <a:t>= 실제 오탐 중 모델이 오탐으로 걸러낸 비율 — 높을수록 놓치는 오탐이 적습니다</a:t>
            </a:r>
            <a:endParaRPr lang="en-US" sz="1575" dirty="0"/>
          </a:p>
        </p:txBody>
      </p:sp>
      <p:sp>
        <p:nvSpPr>
          <p:cNvPr id="41" name="Text 39"/>
          <p:cNvSpPr/>
          <p:nvPr/>
        </p:nvSpPr>
        <p:spPr>
          <a:xfrm>
            <a:off x="800100" y="9505950"/>
            <a:ext cx="3694547" cy="32385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500" kern="0" spc="60" dirty="0">
                <a:solidFill>
                  <a:srgbClr val="76828F"/>
                </a:solidFill>
                <a:latin typeface="Arial" pitchFamily="34" charset="0"/>
                <a:ea typeface="Arial" pitchFamily="34" charset="-122"/>
                <a:cs typeface="Arial" pitchFamily="34" charset="-120"/>
              </a:rPr>
              <a:t>AWSKRUG 마곡 · LLM in the test loop</a:t>
            </a:r>
            <a:endParaRPr lang="en-US" sz="1500" dirty="0"/>
          </a:p>
        </p:txBody>
      </p:sp>
      <p:sp>
        <p:nvSpPr>
          <p:cNvPr id="42" name="Text 40"/>
          <p:cNvSpPr/>
          <p:nvPr/>
        </p:nvSpPr>
        <p:spPr>
          <a:xfrm>
            <a:off x="6944469" y="9505950"/>
            <a:ext cx="6568574" cy="32385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500" kern="0" spc="60" dirty="0">
                <a:solidFill>
                  <a:srgbClr val="76828F"/>
                </a:solidFill>
                <a:latin typeface="Arial" pitchFamily="34" charset="0"/>
                <a:ea typeface="Arial" pitchFamily="34" charset="-122"/>
                <a:cs typeface="Arial" pitchFamily="34" charset="-120"/>
              </a:rPr>
              <a:t>fp-corpus 32건(전부 오탐) · strategy=triage 기준 측정 · 2026-06-07</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00100" y="1900758"/>
            <a:ext cx="1905000" cy="762000"/>
          </a:xfrm>
          <a:prstGeom prst="roundRect">
            <a:avLst>
              <a:gd name="adj" fmla="val 10000"/>
            </a:avLst>
          </a:prstGeom>
          <a:solidFill>
            <a:srgbClr val="E7EBF1"/>
          </a:solidFill>
          <a:ln w="9525">
            <a:solidFill>
              <a:srgbClr val="C2CCD6"/>
            </a:solidFill>
            <a:prstDash val="solid"/>
          </a:ln>
        </p:spPr>
        <p:txBody>
          <a:bodyPr/>
          <a:lstStyle/>
          <a:p>
            <a:endParaRPr lang="ko-KR" altLang="en-US"/>
          </a:p>
        </p:txBody>
      </p:sp>
      <p:sp>
        <p:nvSpPr>
          <p:cNvPr id="3" name="Text 1"/>
          <p:cNvSpPr/>
          <p:nvPr/>
        </p:nvSpPr>
        <p:spPr>
          <a:xfrm>
            <a:off x="1571476" y="2796108"/>
            <a:ext cx="438448" cy="352425"/>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650" dirty="0">
                <a:solidFill>
                  <a:srgbClr val="2272C3"/>
                </a:solidFill>
                <a:latin typeface="Arial" pitchFamily="34" charset="0"/>
                <a:ea typeface="Arial" pitchFamily="34" charset="-122"/>
                <a:cs typeface="Arial" pitchFamily="34" charset="-120"/>
              </a:rPr>
              <a:t>코드</a:t>
            </a:r>
            <a:endParaRPr lang="en-US" sz="1650" dirty="0"/>
          </a:p>
        </p:txBody>
      </p:sp>
      <p:sp>
        <p:nvSpPr>
          <p:cNvPr id="4" name="Shape 2"/>
          <p:cNvSpPr/>
          <p:nvPr/>
        </p:nvSpPr>
        <p:spPr>
          <a:xfrm>
            <a:off x="3048000" y="1557858"/>
            <a:ext cx="1905000" cy="1104900"/>
          </a:xfrm>
          <a:prstGeom prst="roundRect">
            <a:avLst>
              <a:gd name="adj" fmla="val 6897"/>
            </a:avLst>
          </a:prstGeom>
          <a:solidFill>
            <a:srgbClr val="E7EBF1"/>
          </a:solidFill>
          <a:ln w="9525">
            <a:solidFill>
              <a:srgbClr val="C2CCD6"/>
            </a:solidFill>
            <a:prstDash val="solid"/>
          </a:ln>
        </p:spPr>
        <p:txBody>
          <a:bodyPr/>
          <a:lstStyle/>
          <a:p>
            <a:endParaRPr lang="ko-KR" altLang="en-US"/>
          </a:p>
        </p:txBody>
      </p:sp>
      <p:sp>
        <p:nvSpPr>
          <p:cNvPr id="5" name="Text 3"/>
          <p:cNvSpPr/>
          <p:nvPr/>
        </p:nvSpPr>
        <p:spPr>
          <a:xfrm>
            <a:off x="3799433" y="2796108"/>
            <a:ext cx="478334" cy="352425"/>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650" dirty="0">
                <a:solidFill>
                  <a:srgbClr val="E07F00"/>
                </a:solidFill>
                <a:latin typeface="Arial" pitchFamily="34" charset="0"/>
                <a:ea typeface="Arial" pitchFamily="34" charset="-122"/>
                <a:cs typeface="Arial" pitchFamily="34" charset="-120"/>
              </a:rPr>
              <a:t>LLM</a:t>
            </a:r>
            <a:endParaRPr lang="en-US" sz="1650" dirty="0"/>
          </a:p>
        </p:txBody>
      </p:sp>
      <p:sp>
        <p:nvSpPr>
          <p:cNvPr id="6" name="Shape 4"/>
          <p:cNvSpPr/>
          <p:nvPr/>
        </p:nvSpPr>
        <p:spPr>
          <a:xfrm>
            <a:off x="5295900" y="1214958"/>
            <a:ext cx="1905000" cy="1447800"/>
          </a:xfrm>
          <a:prstGeom prst="roundRect">
            <a:avLst>
              <a:gd name="adj" fmla="val 5263"/>
            </a:avLst>
          </a:prstGeom>
          <a:solidFill>
            <a:srgbClr val="E7EBF1"/>
          </a:solidFill>
          <a:ln w="9525">
            <a:solidFill>
              <a:srgbClr val="C2CCD6"/>
            </a:solidFill>
            <a:prstDash val="solid"/>
          </a:ln>
        </p:spPr>
        <p:txBody>
          <a:bodyPr/>
          <a:lstStyle/>
          <a:p>
            <a:endParaRPr lang="ko-KR" altLang="en-US"/>
          </a:p>
        </p:txBody>
      </p:sp>
      <p:sp>
        <p:nvSpPr>
          <p:cNvPr id="7" name="Text 5"/>
          <p:cNvSpPr/>
          <p:nvPr/>
        </p:nvSpPr>
        <p:spPr>
          <a:xfrm>
            <a:off x="5886152" y="2796108"/>
            <a:ext cx="800621" cy="352425"/>
          </a:xfrm>
          <a:prstGeom prst="rect">
            <a:avLst/>
          </a:prstGeom>
          <a:noFill/>
          <a:ln/>
        </p:spPr>
        <p:txBody>
          <a:bodyPr wrap="square" lIns="25400" tIns="25400" rIns="25400" bIns="25400" rtlCol="0" anchor="t">
            <a:normAutofit fontScale="85000" lnSpcReduction="10000"/>
          </a:bodyPr>
          <a:lstStyle/>
          <a:p>
            <a:pPr marL="0" indent="0" algn="l">
              <a:lnSpc>
                <a:spcPct val="150000"/>
              </a:lnSpc>
              <a:buNone/>
            </a:pPr>
            <a:r>
              <a:rPr lang="en-US" sz="1650" dirty="0">
                <a:solidFill>
                  <a:srgbClr val="76828F"/>
                </a:solidFill>
                <a:latin typeface="Arial" pitchFamily="34" charset="0"/>
                <a:ea typeface="Arial" pitchFamily="34" charset="-122"/>
                <a:cs typeface="Arial" pitchFamily="34" charset="-120"/>
              </a:rPr>
              <a:t>남습니다</a:t>
            </a:r>
            <a:endParaRPr lang="en-US" sz="1650" dirty="0"/>
          </a:p>
        </p:txBody>
      </p:sp>
      <p:sp>
        <p:nvSpPr>
          <p:cNvPr id="8" name="Text 6"/>
          <p:cNvSpPr/>
          <p:nvPr/>
        </p:nvSpPr>
        <p:spPr>
          <a:xfrm>
            <a:off x="800100" y="3720033"/>
            <a:ext cx="11576685" cy="1622971"/>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4800" b="1" kern="0" spc="-72" dirty="0">
                <a:solidFill>
                  <a:srgbClr val="1A212B"/>
                </a:solidFill>
                <a:latin typeface="Arial" pitchFamily="34" charset="0"/>
                <a:ea typeface="Arial" pitchFamily="34" charset="-122"/>
                <a:cs typeface="Arial" pitchFamily="34" charset="-120"/>
              </a:rPr>
              <a:t>구현의 벽은 </a:t>
            </a:r>
            <a:r>
              <a:rPr lang="en-US" sz="4800" b="1" kern="0" spc="-72" dirty="0">
                <a:solidFill>
                  <a:srgbClr val="2272C3"/>
                </a:solidFill>
                <a:latin typeface="Arial" pitchFamily="34" charset="0"/>
                <a:ea typeface="Arial" pitchFamily="34" charset="-122"/>
                <a:cs typeface="Arial" pitchFamily="34" charset="-120"/>
              </a:rPr>
              <a:t>엔지니어링</a:t>
            </a:r>
            <a:r>
              <a:rPr lang="en-US" sz="4800" b="1" kern="0" spc="-72" dirty="0">
                <a:solidFill>
                  <a:srgbClr val="1A212B"/>
                </a:solidFill>
                <a:latin typeface="Arial" pitchFamily="34" charset="0"/>
                <a:ea typeface="Arial" pitchFamily="34" charset="-122"/>
                <a:cs typeface="Arial" pitchFamily="34" charset="-120"/>
              </a:rPr>
              <a:t>으로,</a:t>
            </a:r>
            <a:br>
              <a:rPr lang="en-US" sz="4800" b="1" kern="0" spc="-72" dirty="0">
                <a:solidFill>
                  <a:srgbClr val="1A212B"/>
                </a:solidFill>
                <a:latin typeface="Arial" pitchFamily="34" charset="0"/>
                <a:ea typeface="Arial" pitchFamily="34" charset="-122"/>
                <a:cs typeface="Arial" pitchFamily="34" charset="-120"/>
              </a:rPr>
            </a:br>
            <a:r>
              <a:rPr lang="en-US" sz="4800" b="1" kern="0" spc="-72" dirty="0">
                <a:solidFill>
                  <a:srgbClr val="1A212B"/>
                </a:solidFill>
                <a:latin typeface="Arial" pitchFamily="34" charset="0"/>
                <a:ea typeface="Arial" pitchFamily="34" charset="-122"/>
                <a:cs typeface="Arial" pitchFamily="34" charset="-120"/>
              </a:rPr>
              <a:t>판단의 벽은 </a:t>
            </a:r>
            <a:r>
              <a:rPr lang="en-US" sz="4800" b="1" kern="0" spc="-72" dirty="0">
                <a:solidFill>
                  <a:srgbClr val="E07F00"/>
                </a:solidFill>
                <a:latin typeface="Arial" pitchFamily="34" charset="0"/>
                <a:ea typeface="Arial" pitchFamily="34" charset="-122"/>
                <a:cs typeface="Arial" pitchFamily="34" charset="-120"/>
              </a:rPr>
              <a:t>LLM</a:t>
            </a:r>
            <a:r>
              <a:rPr lang="en-US" sz="4800" b="1" kern="0" spc="-72" dirty="0">
                <a:solidFill>
                  <a:srgbClr val="1A212B"/>
                </a:solidFill>
                <a:latin typeface="Arial" pitchFamily="34" charset="0"/>
                <a:ea typeface="Arial" pitchFamily="34" charset="-122"/>
                <a:cs typeface="Arial" pitchFamily="34" charset="-120"/>
              </a:rPr>
              <a:t>으로.</a:t>
            </a:r>
            <a:endParaRPr lang="en-US" sz="4800" dirty="0"/>
          </a:p>
        </p:txBody>
      </p:sp>
      <p:sp>
        <p:nvSpPr>
          <p:cNvPr id="9" name="Text 7"/>
          <p:cNvSpPr/>
          <p:nvPr/>
        </p:nvSpPr>
        <p:spPr>
          <a:xfrm>
            <a:off x="800100" y="5514779"/>
            <a:ext cx="13327380" cy="56673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2775" dirty="0">
                <a:solidFill>
                  <a:srgbClr val="51606D"/>
                </a:solidFill>
                <a:latin typeface="Arial" pitchFamily="34" charset="0"/>
                <a:ea typeface="Arial" pitchFamily="34" charset="-122"/>
                <a:cs typeface="Arial" pitchFamily="34" charset="-120"/>
              </a:rPr>
              <a:t>사람조차 못 뚫는 벽은 — 남습니다. </a:t>
            </a:r>
            <a:r>
              <a:rPr lang="en-US" sz="2400" dirty="0">
                <a:solidFill>
                  <a:srgbClr val="76828F"/>
                </a:solidFill>
                <a:latin typeface="Arial" pitchFamily="34" charset="0"/>
                <a:ea typeface="Arial" pitchFamily="34" charset="-122"/>
                <a:cs typeface="Arial" pitchFamily="34" charset="-120"/>
              </a:rPr>
              <a:t>("알아서 잘 동작하게"의 통과 기준처럼)</a:t>
            </a:r>
            <a:endParaRPr lang="en-US" sz="2775" dirty="0"/>
          </a:p>
        </p:txBody>
      </p:sp>
      <p:sp>
        <p:nvSpPr>
          <p:cNvPr id="10" name="Shape 8"/>
          <p:cNvSpPr/>
          <p:nvPr/>
        </p:nvSpPr>
        <p:spPr>
          <a:xfrm>
            <a:off x="800100" y="6542841"/>
            <a:ext cx="38100" cy="571500"/>
          </a:xfrm>
          <a:prstGeom prst="rect">
            <a:avLst/>
          </a:prstGeom>
          <a:solidFill>
            <a:srgbClr val="E07F00">
              <a:alpha val="98000"/>
            </a:srgbClr>
          </a:solidFill>
          <a:ln/>
        </p:spPr>
        <p:txBody>
          <a:bodyPr/>
          <a:lstStyle/>
          <a:p>
            <a:endParaRPr lang="ko-KR" altLang="en-US"/>
          </a:p>
        </p:txBody>
      </p:sp>
      <p:sp>
        <p:nvSpPr>
          <p:cNvPr id="11" name="Text 9"/>
          <p:cNvSpPr/>
          <p:nvPr/>
        </p:nvSpPr>
        <p:spPr>
          <a:xfrm>
            <a:off x="1219200" y="6599991"/>
            <a:ext cx="12866370" cy="49530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2400" dirty="0">
                <a:solidFill>
                  <a:srgbClr val="1A212B"/>
                </a:solidFill>
                <a:latin typeface="Arial" pitchFamily="34" charset="0"/>
                <a:ea typeface="Arial" pitchFamily="34" charset="-122"/>
                <a:cs typeface="Arial" pitchFamily="34" charset="-120"/>
              </a:rPr>
              <a:t>여러분 파이프라인의 어디가 </a:t>
            </a:r>
            <a:r>
              <a:rPr lang="en-US" sz="2400" b="1" dirty="0">
                <a:solidFill>
                  <a:srgbClr val="2272C3"/>
                </a:solidFill>
                <a:latin typeface="Arial" pitchFamily="34" charset="0"/>
                <a:ea typeface="Arial" pitchFamily="34" charset="-122"/>
                <a:cs typeface="Arial" pitchFamily="34" charset="-120"/>
              </a:rPr>
              <a:t>판정</a:t>
            </a:r>
            <a:r>
              <a:rPr lang="en-US" sz="2400" dirty="0">
                <a:solidFill>
                  <a:srgbClr val="1A212B"/>
                </a:solidFill>
                <a:latin typeface="Arial" pitchFamily="34" charset="0"/>
                <a:ea typeface="Arial" pitchFamily="34" charset="-122"/>
                <a:cs typeface="Arial" pitchFamily="34" charset="-120"/>
              </a:rPr>
              <a:t>이고 어디가 </a:t>
            </a:r>
            <a:r>
              <a:rPr lang="en-US" sz="2400" b="1" dirty="0">
                <a:solidFill>
                  <a:srgbClr val="E07F00"/>
                </a:solidFill>
                <a:latin typeface="Arial" pitchFamily="34" charset="0"/>
                <a:ea typeface="Arial" pitchFamily="34" charset="-122"/>
                <a:cs typeface="Arial" pitchFamily="34" charset="-120"/>
              </a:rPr>
              <a:t>판단</a:t>
            </a:r>
            <a:r>
              <a:rPr lang="en-US" sz="2400" dirty="0">
                <a:solidFill>
                  <a:srgbClr val="1A212B"/>
                </a:solidFill>
                <a:latin typeface="Arial" pitchFamily="34" charset="0"/>
                <a:ea typeface="Arial" pitchFamily="34" charset="-122"/>
                <a:cs typeface="Arial" pitchFamily="34" charset="-120"/>
              </a:rPr>
              <a:t>인지 그려보세요. 판단에만, 시험적으로 LLM을.</a:t>
            </a:r>
            <a:endParaRPr lang="en-US" sz="2400" dirty="0"/>
          </a:p>
        </p:txBody>
      </p:sp>
      <p:sp>
        <p:nvSpPr>
          <p:cNvPr id="12" name="Shape 10"/>
          <p:cNvSpPr/>
          <p:nvPr/>
        </p:nvSpPr>
        <p:spPr>
          <a:xfrm>
            <a:off x="800100" y="7647741"/>
            <a:ext cx="5519068" cy="547688"/>
          </a:xfrm>
          <a:prstGeom prst="roundRect">
            <a:avLst>
              <a:gd name="adj" fmla="val 17391"/>
            </a:avLst>
          </a:prstGeom>
          <a:solidFill>
            <a:srgbClr val="F6F8FB"/>
          </a:solidFill>
          <a:ln w="9525">
            <a:solidFill>
              <a:srgbClr val="D2D9E1"/>
            </a:solidFill>
            <a:prstDash val="solid"/>
          </a:ln>
        </p:spPr>
        <p:txBody>
          <a:bodyPr/>
          <a:lstStyle/>
          <a:p>
            <a:endParaRPr lang="ko-KR" altLang="en-US"/>
          </a:p>
        </p:txBody>
      </p:sp>
      <p:sp>
        <p:nvSpPr>
          <p:cNvPr id="13" name="Text 11"/>
          <p:cNvSpPr/>
          <p:nvPr/>
        </p:nvSpPr>
        <p:spPr>
          <a:xfrm>
            <a:off x="1000125" y="7742991"/>
            <a:ext cx="5284590" cy="395288"/>
          </a:xfrm>
          <a:prstGeom prst="rect">
            <a:avLst/>
          </a:prstGeom>
          <a:noFill/>
          <a:ln/>
        </p:spPr>
        <p:txBody>
          <a:bodyPr wrap="square" lIns="25400" tIns="25400" rIns="25400" bIns="25400" rtlCol="0" anchor="ctr">
            <a:normAutofit fontScale="92500" lnSpcReduction="10000"/>
          </a:bodyPr>
          <a:lstStyle/>
          <a:p>
            <a:pPr marL="0" indent="0" algn="l">
              <a:lnSpc>
                <a:spcPct val="150000"/>
              </a:lnSpc>
              <a:buNone/>
            </a:pPr>
            <a:r>
              <a:rPr lang="en-US" sz="1875" dirty="0">
                <a:solidFill>
                  <a:srgbClr val="51606D"/>
                </a:solidFill>
                <a:latin typeface="Arial" pitchFamily="34" charset="0"/>
                <a:ea typeface="Arial" pitchFamily="34" charset="-122"/>
                <a:cs typeface="Arial" pitchFamily="34" charset="-120"/>
              </a:rPr>
              <a:t>github.com/baekchangjoon/sonarqube-ai-agent</a:t>
            </a:r>
            <a:endParaRPr lang="en-US" sz="1875" dirty="0"/>
          </a:p>
        </p:txBody>
      </p:sp>
      <p:sp>
        <p:nvSpPr>
          <p:cNvPr id="14" name="Shape 12"/>
          <p:cNvSpPr/>
          <p:nvPr/>
        </p:nvSpPr>
        <p:spPr>
          <a:xfrm>
            <a:off x="6452518" y="7647741"/>
            <a:ext cx="5160615" cy="547688"/>
          </a:xfrm>
          <a:prstGeom prst="roundRect">
            <a:avLst>
              <a:gd name="adj" fmla="val 17391"/>
            </a:avLst>
          </a:prstGeom>
          <a:solidFill>
            <a:srgbClr val="F6F8FB"/>
          </a:solidFill>
          <a:ln w="9525">
            <a:solidFill>
              <a:srgbClr val="D2D9E1"/>
            </a:solidFill>
            <a:prstDash val="solid"/>
          </a:ln>
        </p:spPr>
        <p:txBody>
          <a:bodyPr/>
          <a:lstStyle/>
          <a:p>
            <a:endParaRPr lang="ko-KR" altLang="en-US"/>
          </a:p>
        </p:txBody>
      </p:sp>
      <p:sp>
        <p:nvSpPr>
          <p:cNvPr id="15" name="Text 13"/>
          <p:cNvSpPr/>
          <p:nvPr/>
        </p:nvSpPr>
        <p:spPr>
          <a:xfrm>
            <a:off x="6652543" y="7742991"/>
            <a:ext cx="4915384" cy="395288"/>
          </a:xfrm>
          <a:prstGeom prst="rect">
            <a:avLst/>
          </a:prstGeom>
          <a:noFill/>
          <a:ln/>
        </p:spPr>
        <p:txBody>
          <a:bodyPr wrap="square" lIns="25400" tIns="25400" rIns="25400" bIns="25400" rtlCol="0" anchor="ctr">
            <a:normAutofit fontScale="92500" lnSpcReduction="10000"/>
          </a:bodyPr>
          <a:lstStyle/>
          <a:p>
            <a:pPr marL="0" indent="0" algn="l">
              <a:lnSpc>
                <a:spcPct val="150000"/>
              </a:lnSpc>
              <a:buNone/>
            </a:pPr>
            <a:r>
              <a:rPr lang="en-US" sz="1875" dirty="0">
                <a:solidFill>
                  <a:srgbClr val="51606D"/>
                </a:solidFill>
                <a:latin typeface="Arial" pitchFamily="34" charset="0"/>
                <a:ea typeface="Arial" pitchFamily="34" charset="-122"/>
                <a:cs typeface="Arial" pitchFamily="34" charset="-120"/>
              </a:rPr>
              <a:t>github.com/baekchangjoon/hotspot-analysis</a:t>
            </a:r>
            <a:endParaRPr lang="en-US" sz="1875" dirty="0"/>
          </a:p>
        </p:txBody>
      </p:sp>
      <p:sp>
        <p:nvSpPr>
          <p:cNvPr id="16" name="Shape 14"/>
          <p:cNvSpPr/>
          <p:nvPr/>
        </p:nvSpPr>
        <p:spPr>
          <a:xfrm>
            <a:off x="800100" y="8328778"/>
            <a:ext cx="3454524" cy="547688"/>
          </a:xfrm>
          <a:prstGeom prst="roundRect">
            <a:avLst>
              <a:gd name="adj" fmla="val 17391"/>
            </a:avLst>
          </a:prstGeom>
          <a:solidFill>
            <a:srgbClr val="F6F8FB"/>
          </a:solidFill>
          <a:ln w="9525">
            <a:solidFill>
              <a:srgbClr val="D2D9E1"/>
            </a:solidFill>
            <a:prstDash val="solid"/>
          </a:ln>
        </p:spPr>
        <p:txBody>
          <a:bodyPr/>
          <a:lstStyle/>
          <a:p>
            <a:endParaRPr lang="ko-KR" altLang="en-US"/>
          </a:p>
        </p:txBody>
      </p:sp>
      <p:sp>
        <p:nvSpPr>
          <p:cNvPr id="17" name="Text 15"/>
          <p:cNvSpPr/>
          <p:nvPr/>
        </p:nvSpPr>
        <p:spPr>
          <a:xfrm>
            <a:off x="1000125" y="8424028"/>
            <a:ext cx="3158110" cy="395288"/>
          </a:xfrm>
          <a:prstGeom prst="rect">
            <a:avLst/>
          </a:prstGeom>
          <a:noFill/>
          <a:ln/>
        </p:spPr>
        <p:txBody>
          <a:bodyPr wrap="square" lIns="25400" tIns="25400" rIns="25400" bIns="25400" rtlCol="0" anchor="ctr">
            <a:normAutofit fontScale="85000" lnSpcReduction="10000"/>
          </a:bodyPr>
          <a:lstStyle/>
          <a:p>
            <a:pPr marL="0" indent="0" algn="l">
              <a:lnSpc>
                <a:spcPct val="150000"/>
              </a:lnSpc>
              <a:buNone/>
            </a:pPr>
            <a:r>
              <a:rPr lang="en-US" sz="1875" dirty="0">
                <a:solidFill>
                  <a:srgbClr val="51606D"/>
                </a:solidFill>
                <a:latin typeface="Arial" pitchFamily="34" charset="0"/>
                <a:ea typeface="Arial" pitchFamily="34" charset="-122"/>
                <a:cs typeface="Arial" pitchFamily="34" charset="-120"/>
              </a:rPr>
              <a:t>코드 · 기법은 레포/블로그에 공개</a:t>
            </a:r>
            <a:endParaRPr lang="en-US" sz="1875" dirty="0"/>
          </a:p>
        </p:txBody>
      </p:sp>
    </p:spTree>
    <p:extLst>
      <p:ext uri="{BB962C8B-B14F-4D97-AF65-F5344CB8AC3E}">
        <p14:creationId xmlns:p14="http://schemas.microsoft.com/office/powerpoint/2010/main" val="26505026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5A79DCA-7C4C-B74E-9D0B-5B119900FF41}">
  <we:reference id="wa200010001" version="1.0.0.1" store="en-US" storeType="OMEX"/>
  <we:alternateReferences>
    <we:reference id="WA200010001" version="1.0.0.1" store="" storeType="OMEX"/>
  </we:alternateReferences>
  <we:properties>
    <we:property name="claude.fileId" value="&quot;99b0325d-6596-4014-aba1-c9d29f573385&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55</TotalTime>
  <Words>3163</Words>
  <Application>Microsoft Macintosh PowerPoint</Application>
  <PresentationFormat>사용자 지정</PresentationFormat>
  <Paragraphs>320</Paragraphs>
  <Slides>16</Slides>
  <Notes>16</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16</vt:i4>
      </vt:variant>
    </vt:vector>
  </HeadingPairs>
  <TitlesOfParts>
    <vt:vector size="19" baseType="lpstr">
      <vt:lpstr>Arial</vt:lpstr>
      <vt:lpstr>Georgia</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창준 백</cp:lastModifiedBy>
  <cp:revision>2</cp:revision>
  <dcterms:created xsi:type="dcterms:W3CDTF">2026-06-21T14:22:04Z</dcterms:created>
  <dcterms:modified xsi:type="dcterms:W3CDTF">2026-06-21T15:27:12Z</dcterms:modified>
</cp:coreProperties>
</file>